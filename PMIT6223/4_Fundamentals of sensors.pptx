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97" r:id="rId2"/>
    <p:sldId id="302" r:id="rId3"/>
    <p:sldId id="296" r:id="rId4"/>
    <p:sldId id="304" r:id="rId5"/>
    <p:sldId id="300" r:id="rId6"/>
    <p:sldId id="301" r:id="rId7"/>
    <p:sldId id="313" r:id="rId8"/>
    <p:sldId id="314" r:id="rId9"/>
    <p:sldId id="309" r:id="rId10"/>
    <p:sldId id="315" r:id="rId11"/>
    <p:sldId id="306" r:id="rId12"/>
    <p:sldId id="298" r:id="rId13"/>
    <p:sldId id="299" r:id="rId14"/>
    <p:sldId id="310" r:id="rId15"/>
    <p:sldId id="311" r:id="rId16"/>
    <p:sldId id="312" r:id="rId17"/>
    <p:sldId id="316" r:id="rId18"/>
    <p:sldId id="317" r:id="rId19"/>
    <p:sldId id="303" r:id="rId20"/>
    <p:sldId id="308" r:id="rId21"/>
    <p:sldId id="305" r:id="rId22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99"/>
    <a:srgbClr val="666699"/>
    <a:srgbClr val="FF0000"/>
    <a:srgbClr val="FFFF99"/>
    <a:srgbClr val="CC66FF"/>
    <a:srgbClr val="008000"/>
    <a:srgbClr val="33CC33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 autoAdjust="0"/>
    <p:restoredTop sz="94660"/>
  </p:normalViewPr>
  <p:slideViewPr>
    <p:cSldViewPr>
      <p:cViewPr varScale="1">
        <p:scale>
          <a:sx n="69" d="100"/>
          <a:sy n="69" d="100"/>
        </p:scale>
        <p:origin x="1794" y="60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F8D8CDE-37AD-CF70-9931-DFECDA09C53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A88C045-3E1F-31AC-03E8-D6AA723CEEA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6E00583B-F09C-09C1-0735-BC5D1F5AD09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D625675C-097E-C317-E394-1FFE254E419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AD03C324-E0E2-472F-B81C-81A3206D2E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2T15:12:07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6889,'0'0'0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2T15:12:12.2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150 138 10970,'0'0'2710,"-12"-10"-2450,-39-29 236,49 38-424,1 0-1,-1-1 1,0 1-1,1 0 1,0-1-1,-1 1 1,1-1-1,0 0 1,0 1-1,0-1 1,0 0-1,-1-2 1,2 3-59,0 0 0,-1 1-1,1-1 1,0 0 0,0 0 0,0 0 0,0 1 0,0-1-1,0 0 1,1 0 0,-1 0 0,0 1 0,0-1 0,0 0-1,1 0 1,-1 1 0,1-1 0,-1 0 0,0 1 0,2-2-1,0-1-25,1 1 0,0 0 0,0 0 0,0 0 0,0 0-1,0 0 1,0 0 0,6-1 0,-3 0 75,7-2-75,1 0 0,1 1 0,-1 0 0,1 1 0,-1 1 0,1 0 0,0 1 0,23 1 0,-35 0 5,1 0 0,-1 0 1,0 1-1,0-1 0,0 1 0,0 0 1,0 0-1,0 0 0,0 0 1,0 0-1,0 1 0,0-1 0,0 1 1,-1 0-1,1 0 0,-1 0 0,1 0 1,2 3-1,-2 0-3,1 0 1,-1 0-1,0 0 1,0 0-1,-1 0 1,1 1-1,-1-1 0,-1 1 1,3 7-1,-1 6-4,-1 0-1,-1 0 1,0 1-1,-1-1 1,-4 22 0,1-22 13,-1 0 1,-1-1-1,0 0 1,-2 0 0,0 0-1,-1-1 1,-18 30-1,-88 109 24,75-106 2,-6 7 44,-41 57 28,86-114-96,0 0 0,0 1 0,-1-1 1,1 0-1,0 0 0,0 1 0,-1-1 0,1 0 0,0 0 0,0 1 0,-1-1 0,1 0 0,0 1 0,0-1 0,0 0 0,0 1 0,0-1 0,0 0 1,-1 1-1,1-1 0,0 0 0,0 1 0,0-1 0,0 0 0,0 1 0,0-1 0,0 0 0,0 1 0,1-1 0,-1 0 0,0 1 0,0-1 0,0 0 1,0 1-1,0-1 0,1 0 0,-1 1 0,0-1 0,0 0 0,0 0 0,1 1 0,-1-1 0,0 0 0,0 0 0,1 1 0,-1-1 0,0 0 1,1 0-1,-1 0 0,0 1 0,1-1 0,21 0 1,-13-1 12,18 0 68,0-2 1,-1 0 0,1-2 0,38-12 0,104-43 45,-120 40-145,66-27-155,-44 11-3433,-50 23-2121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2T15:12:12.8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86 10002,'0'0'3686,"0"-14"-3379,-3-43-174,4 57-132,-1-1-1,0 1 0,0-1 0,0 1 1,0-1-1,0 1 0,0-1 1,0 1-1,0-1 0,0 1 0,0-1 1,0 1-1,0-1 0,0 1 1,0-1-1,0 1 0,0 0 0,-1-1 1,1 1-1,0-1 0,0 1 0,0-1 1,-1 1-1,1-1 0,0 1 1,-1 0-1,1-1 0,0 1 0,-1 0 1,1-1-1,-1 1 0,1 0 1,-1-1-1,-5 8-86,6-7 78,-4 10-11,0 0-1,0 0 0,1 1 1,0-1-1,1 1 1,-2 18-1,-1 69 13,5-94 7,0 0-1,0 0 0,1 0 1,-1 0-1,1 0 1,0 0-1,0 0 0,0 0 1,1 0-1,-1-1 0,1 1 1,0 0-1,0-1 1,0 0-1,0 1 0,5 4 1,0-2-24,0-1 1,0 0 0,0 0-1,0-1 1,1 0 0,0 0-1,8 3 1,79 24-459,-66-22 45,1 1 0,47 23 0,-69-29 379,1 2-1,-1-1 1,0 1 0,0 0 0,-1 0 0,0 1 0,0 0 0,0 0 0,-1 1 0,0 0 0,-1 0-1,9 16 1,-12-20 61,0 0 0,-1 0 0,1 1-1,-1-1 1,0 1 0,0-1 0,-1 1-1,1-1 1,-1 1 0,0 0 0,0-1-1,-1 1 1,1-1 0,-1 1 0,0-1-1,0 1 1,-2 5 0,0-4 4,0 0-1,-1 0 1,1 0 0,-1-1 0,0 1-1,0-1 1,-1 0 0,1 0 0,-1-1 0,0 1-1,-7 3 1,-19 13 21,0-3 1,-2 0-1,0-2 0,-1-1 0,-36 10 0,59-22-422,-1-1-1,0 0 0,-16 1 0,6-3-3263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2T15:12:13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1 340 10562,'0'0'2697,"192"-128"-2697,-114 97 0,4 0 0,-1-1-48,-12 1-112,-13 5-304,-18 4 40,-20 5 112,-12 5-209,-6 5-535,-22 4-984,-7 3-3777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2T15:12:13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85 549 9946,'0'0'2602,"-17"3"-2151,-50 10-175,95-15 602,-7 1-766,41-7-1,100-32 15,172-44-41,1043-258-56,-1252 310-164,-59 13-1280,121-17 1,-168 36-2644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2T15:12:15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297 1295 9898,'0'0'3102,"13"-3"-2843,95-28-180,130-56 1,-152 54-51,-65 25-22,654-246 154,25 25-110,1791-345 33,-2295 542-817,341-12 1,-531 44 703,1 0 0,-1 0 0,0 1-1,1 0 1,-1 0 0,0 0 0,0 1 0,12 4-1,-17-5 26,1-1 0,-1 1 0,0 0 0,0 0 0,0 0 0,1 0 0,-1 0 0,0 1 0,0-1 0,-1 0 0,1 0 0,0 1 0,0-1 0,-1 0 0,1 1 0,0 2 0,0-1 3,-1 0 0,1 0 1,-1 0-1,0 0 0,-1 0 0,1 0 1,0 0-1,-1 0 0,1 0 1,-1-1-1,-2 6 0,-1 0 1,0-1-1,0 1 0,-1-1 0,0 0 1,0 0-1,0-1 0,-1 1 1,0-1-1,-11 8 0,-69 48 2,73-53-1,-467 275 100,331-200-64,-509 271 5,469-265-7,-316 102 0,318-136 197,-2-7 0,-2-9 0,-269 22 0,-457-49 955,844-14-1093,-309-17 285,-229 5 187,407 42-1148,117-12-1465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2T15:12:16.3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77 9282,'0'0'3569,"0"-14"-2877,0-48-139,0 74-705,0 31 316,10 81 0,-9-113-389,1-1 0,1 1 1,0-1-1,0 1 0,1-1 1,0 0-1,1 0 0,0 0 1,0-1-1,1 0 0,0 0 1,1 0-1,9 8 0,-5-8-3387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2T15:12:16.7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47 8706,'0'0'3859,"-4"-9"-3349,-14-28-101,16 37-222,1 6-179,1 12-75,7 16 58,1 0 0,22 54 0,-17-50 47,13 53 1,-16-36-746,-6-10-2894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2T15:12:24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282 181 8194,'0'0'3066,"-15"-10"-2458,-65-44 663,78 53-1251,0 0 0,0 0-1,1 0 1,-1 0 0,0 1 0,0-1 0,0 1 0,0-1 0,0 1 0,0 0-1,0 0 1,0 0 0,0 0 0,-1 0 0,1 0 0,0 1 0,0-1 0,0 1-1,1-1 1,-1 1 0,0 0 0,0 0 0,0-1 0,-3 3 0,-3 3 82,-1 0-1,1 0 1,-12 13 0,7-7-54,-7 3-48,14-10 0,-1-1 0,1 1 0,0 1 1,0-1-1,1 1 0,0 0 0,-8 11 0,13-16 1,-1-1 0,1 0 0,0 0 0,0 1 0,0-1 1,0 0-1,-1 1 0,1-1 0,0 0 0,0 1 0,0-1 0,0 0 0,0 1 0,0-1 0,0 0 0,0 1 0,0-1 0,0 0 0,0 1 0,0-1 0,0 0 0,0 1 0,0-1 0,0 0 0,1 1 0,-1-1 0,0 0 0,0 0 0,0 1 0,0-1 0,1 0 0,-1 1 0,0-1 0,0 0 0,1 0 0,-1 0 0,0 1 0,0-1 1,1 0-1,-1 0 0,0 0 0,1 1 0,-1-1 0,0 0 0,1 0 0,-1 0 0,0 0 0,1 0 0,-1 0 0,22 0 74,-13 0-43,17-1 41,0-2 1,-1 0-1,1-1 0,40-13 0,99-44 334,-109 39-364,50-19-239,178-41-1,-214 68-1258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2T15:12:25.6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65 230 8994,'0'0'4864,"-11"0"-4350,-42 0 63,61-18-363,12-1-217,0 1-1,2 1 1,0 2 0,1 0-1,32-16 1,-38 22 1,-5 2-8,93-47 28,-93 49-48,1 0 0,-1 1 0,1 1 0,0 0 0,0 1 0,0 0 0,14 0 0,-26 2 26,0 1 1,0-1 0,1 1 0,-1-1-1,0 1 1,0 0 0,0-1 0,1 1 0,-1 0-1,0 0 1,0 0 0,0 0 0,0 0-1,-1 0 1,1 0 0,0 0 0,0 0 0,-1 0-1,1 0 1,0 1 0,-1-1 0,1 0-1,-1 0 1,0 1 0,1-1 0,-1 0 0,0 1-1,0-1 1,0 3 0,3 48-13,-3-46 8,-1 10 7,0 1-1,-1-1 0,-1 0 1,-1 0-1,0-1 0,-1 1 0,-8 16 1,-57 103-2,40-82 9,14-23-5,-20 36-4,-35 89-1,69-153 19,0-1 0,0 0 0,-1 0-1,1 0 1,0 0 0,-1 0 0,1 0-1,0-1 1,-1 1 0,1-1 0,-1 0-1,1 1 1,-1-1 0,1 0 0,-1-1-1,1 1 1,-1 0 0,1-1-1,-4 0 1,2-1-18,0 0 1,0 1-1,1 0 0,-1 0 0,0 0 0,0 0 1,-1 1-1,-6-1 0,29 0-35,1 0 1,0-2-1,28-7 0,84-37 94,11-5-336,-47 25-3807,-79 24-2292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2T15:12:27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56 7034,'0'0'5713,"0"-8"-5235,0-39 1033,-7 49-1493,-11 16-26,1 1 0,0 1 0,1 0 1,-22 39-1,31-49 7,6-7-5,-2 1-5,0-1 0,1 1 0,0 0 0,-1 0 1,2 0-1,-1 1 0,0-1 0,1 0 0,0 1 0,0-1 1,-1 9-1,5-12 7,1-1 1,0 1-1,-1 0 1,1-1-1,0 0 1,-1 0-1,1 0 1,3-1-1,-2 1-6,12-1-33,-1-1 0,1 0-1,0-2 1,29-9 0,-30 7 3,0 1 1,1 1 0,0 1-1,32-2 1,-46 4 27,0 1 0,0 0 0,1 0 0,-1 0 0,0 1 0,0-1 0,0 1 0,0 0 0,0 0 0,0 0 0,4 1 0,-6 0 10,0-1-1,0 1 0,0-1 0,0 1 0,0-1 0,0 1 1,0 0-1,0 0 0,-1-1 0,1 1 0,-1 0 1,1 0-1,-1 0 0,0 0 0,0-1 0,0 1 0,0 0 1,0 0-1,0 3 0,-1 2 4,0 0 0,0 1 0,0-1 1,-1 0-1,0 0 0,-1 0 0,1 0 0,-1 0 1,-1-1-1,1 1 0,-1-1 0,0 0 0,-6 7 0,-10 10 39,-43 38-1,38-38-17,22-19-240,-1 0 0,1-1 0,-1 0-1,0 0 1,0 0 0,0-1-1,0 1 1,0-1 0,-1 0 0,1 0-1,-7 2 1,0-4-5026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2T15:12:27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58 9554,'0'0'2385,"144"-41"-2313,-91 31-56,-2 5 0,5 3-16,-16 2-361,-13 0-1815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2T15:12:28.5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23 6145,'0'0'5599,"-9"-4"-5128,0 0-347,6 2-82,0 1 1,0-1 0,0 1-1,0 0 1,0 0 0,-1 0-1,1 0 1,0 0 0,-1 1-1,-4-1 1,8 1 256,3 0-289,1 0 1,0 0-1,0 0 1,-1 0-1,1 1 0,0 0 1,0-1-1,3 3 1,17 2 48,47-2 61,123-10-1,-19-1-112,-174 8-8,-1 0 1,1 0-1,-1 1 1,1-1 0,-1 0-1,1 0 1,-1 1-1,1-1 1,-1 0 0,1 1-1,-1-1 1,1 1-1,-1-1 1,0 0 0,1 1-1,-1-1 1,0 1-1,1-1 1,-1 1-1,0-1 1,0 1 0,0-1-1,1 1 1,-1 0-1,0-1 1,0 1 0,0-1-1,0 1 1,0-1-1,0 1 1,0 0 0,0 0-1,-1 26-6,1-19 5,-4 18 1,0-1-1,-2 0 1,-1-1 0,0 0 0,-18 36-1,1 4 5,11-28-1,-39 122 219,45-131-80,2 1 0,0-1 1,-2 55-1,8-81-133,-1 0 0,0 0 1,1-1-1,-1 1 0,1 0 0,-1-1 1,1 1-1,-1-1 0,1 1 1,-1-1-1,1 1 0,-1-1 1,1 1-1,0-1 0,-1 1 0,1-1 1,0 1-1,-1-1 0,1 0 1,0 0-1,0 1 0,-1-1 0,1 0 1,0 0-1,0 0 0,0 0 1,-1 0-1,1 0 0,0 0 0,0 0 1,0 0-1,28-4-123,-14-8-578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2T15:12:57.9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40 226 3649,'0'0'12709,"-6"-3"-11990,2 0-521,2 2-127,0-1 0,1 1 0,-1 0 0,0 0 0,0 0 0,0 0 0,0 0 0,0 0 0,0 0 0,0 1 0,0-1 0,-4 0 1,5-19 1415,2 16-1480,0 0 0,0 0 0,0 0 0,0 1 0,0-1 0,1 0 0,0 1 0,0-1 0,0 1 0,0-1 0,0 1 0,1 0 0,2-3 0,42-40-32,-41 41 18,6-6-4,1 0-1,1 1 1,-1 1-1,19-9 1,-24 14-8,0 0 1,1 1 0,-1 0-1,1 1 1,-1-1-1,1 2 1,0-1 0,0 1-1,13 1 1,-19 0 14,-1 0-1,1 1 1,0 0 0,-1-1-1,1 1 1,-1 0 0,1 0 0,-1 1-1,0-1 1,1 0 0,-1 1 0,0-1-1,0 1 1,0 0 0,0 0 0,0 0-1,0 0 1,0 0 0,-1 0-1,1 0 1,-1 1 0,0-1 0,0 0-1,1 1 1,-2-1 0,1 1 0,0 0-1,0-1 1,-1 1 0,1 3 0,2 12-6,-1 0 1,-1 0 0,-1 27 0,-1-31 14,0 14 2,-2-1 0,0 1 0,-14 44 0,-32 80 13,31-106-25,3 1-1,2 0 1,-13 81-1,25-125-1,1 1 0,-1 0 0,1 0 0,0-1 0,0 1 0,0 0 0,1 0 0,-1-1 0,1 1-1,0 0 1,1 4 0,0-7 6,-1 1 0,1-1 0,-1 0 1,1 0-1,0 1 0,-1-1 0,1-1 0,0 1 0,0 0 0,-1 0 0,1 0 0,0-1 0,0 1 0,0-1 1,0 0-1,0 0 0,0 1 0,0-1 0,0 0 0,0-1 0,3 1 0,6-1 11,-1-1-1,1 0 0,-1 0 1,1-1-1,-1 0 1,0-1-1,0 0 1,-1-1-1,1 0 0,-1 0 1,0-1-1,0 0 1,10-10-1,9-9-14,-1-1 0,35-44 0,-44 48-661,-1 0 0,-1-2 0,-1 1 0,17-39 0,-14 19-3442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2T15:12:58.4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6 343 11987,'0'0'3443,"-2"-25"-3238,-1-79-95,3 100-105,1-1 0,-1 0 0,1 0 0,0 1 0,0-1 0,1 1 0,0-1 0,-1 1 0,2-1 0,-1 1 1,0 0-1,1 0 0,0 0 0,0 0 0,0 1 0,0-1 0,4-2 0,3-5 2,7-8 10,0 1 0,2 1 0,24-19 0,-38 32-21,0 0-1,1 1 1,-1-1-1,1 1 1,0 1-1,0-1 1,0 1-1,0 0 1,0 0-1,0 0 1,0 1-1,1 0 1,-1 1-1,0-1 1,1 1-1,-1 0 1,1 1 0,6 1-1,-11-2 1,-1 1 1,1 0-1,-1-1 0,1 1 0,-1 0 1,0 0-1,0 0 0,1 0 0,-1 1 1,0-1-1,0 0 0,0 0 1,0 1-1,0-1 0,-1 1 0,1-1 1,0 1-1,-1-1 0,1 1 0,-1-1 1,1 1-1,0 2 0,3 39-31,-4-38 37,0 94 55,1 28-34,-1-125-23,1-1 0,-1 0 0,0 1 0,1-1 0,-1 0 0,1 0 0,0 0 0,-1 1-1,1-1 1,0 0 0,0 0 0,0 0 0,0 0 0,0 0 0,0 0 0,0-1 0,0 1-1,0 0 1,0 0 0,0-1 0,1 1 0,-1-1 0,0 1 0,0-1 0,1 1 0,-1-1 0,0 0-1,1 0 1,0 1 0,47 1-10,-41-2 9,42-1-1,-21 0-2,53 4-1,-81-2 5,0-1 0,0 1 0,1-1 0,-1 1 1,0 0-1,0-1 0,0 1 0,0 0 0,0 0 0,0 0 0,0 0 0,0 0 0,0 0 0,-1 0 1,1 0-1,0 0 0,-1 0 0,1 0 0,-1 0 0,1 1 0,-1-1 0,1 0 0,-1 0 0,0 1 1,0-1-1,1 0 0,-1 0 0,0 3 0,-1 44 279,0-40-152,-2 6-18,0-1-1,-1 1 1,0-1-1,-2 0 1,1 0-1,-1 0 1,-1-1-1,0 0 1,-15 18-1,-9 18-32,-59 128-2177,62-117-1656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2T15:12:58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105 934 10082,'0'0'3913,"-16"21"-3129,-4 7-443,2-2 626,-33 36-1,68-84 2175,9-11-2939,468-448 172,-420 414-349,449-400-486,-560 486-1677,-15 19-1884,-8 3-7151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01594603-8CE2-8A5A-B4A0-83A45F08323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56DC888E-3995-13A7-B83F-10D4EA6D664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37025" y="0"/>
            <a:ext cx="316388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A9FA8119-08A8-CE25-225D-41DC3147B357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9749" name="Rectangle 5">
            <a:extLst>
              <a:ext uri="{FF2B5EF4-FFF2-40B4-BE49-F238E27FC236}">
                <a16:creationId xmlns:a16="http://schemas.microsoft.com/office/drawing/2014/main" id="{5E8803C1-ED9B-3D6A-E7FC-11104161366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159750" name="Rectangle 6">
            <a:extLst>
              <a:ext uri="{FF2B5EF4-FFF2-40B4-BE49-F238E27FC236}">
                <a16:creationId xmlns:a16="http://schemas.microsoft.com/office/drawing/2014/main" id="{1691EBDF-E46A-9CE3-1E35-53C59FF8662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7488"/>
            <a:ext cx="316388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9751" name="Rectangle 7">
            <a:extLst>
              <a:ext uri="{FF2B5EF4-FFF2-40B4-BE49-F238E27FC236}">
                <a16:creationId xmlns:a16="http://schemas.microsoft.com/office/drawing/2014/main" id="{6791F210-9AAE-1AC4-CCBA-D9F94F0638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7025" y="9107488"/>
            <a:ext cx="316388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58AD6BD-4B24-45E9-B94B-1A6670FCF9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B347DC31-FCF4-1BAD-1E69-A4D0CD7D86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DB802EE-ED8C-41E2-80CB-3D70BE457F16}" type="slidenum">
              <a:rPr lang="en-US" altLang="en-US" sz="1200" smtClean="0"/>
              <a:pPr/>
              <a:t>7</a:t>
            </a:fld>
            <a:endParaRPr lang="en-US" altLang="en-US" sz="12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1211D249-CCF0-794B-DCD1-DB6D947D53E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3CAE8247-2262-3749-430A-52C53015EE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9C3FD5B8-9FBE-3005-CBD0-25A1FABA88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A73EECA-9ACE-42B1-A192-5CDEEF23E47E}" type="slidenum">
              <a:rPr lang="en-US" altLang="en-US" sz="1200" smtClean="0"/>
              <a:pPr/>
              <a:t>8</a:t>
            </a:fld>
            <a:endParaRPr lang="en-US" altLang="en-US" sz="12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80E2B810-E8E5-BE90-BD0C-8E41D356C34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D0A7C243-AAD3-9F6C-0340-48F58F83AB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2145F08D-A21B-3897-AB8E-A588BD97B4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690153C-B19F-401A-9523-A9EEFACDE601}" type="slidenum">
              <a:rPr lang="en-US" altLang="en-US" sz="1200" smtClean="0"/>
              <a:pPr/>
              <a:t>10</a:t>
            </a:fld>
            <a:endParaRPr lang="en-US" altLang="en-US" sz="12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657B143-D30F-7D63-361F-E50CBC8A80A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E547C650-8EA5-E556-8AB9-266464C094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9E394CD-7DC3-A514-18B2-E6EF7F90BB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AD1A6F-DA22-F868-E49B-514B86CFD8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7498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4AC89D4-CE7D-8DD9-8AC8-D116D98169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B40D733-4649-D072-70EC-FEF5D37D80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5661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0C29AC6-BC00-C9F6-E74A-D2C1DAEF97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0E53407-7E84-8A74-F31E-0C5BCD0FD8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3878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914400"/>
            <a:ext cx="42291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914400"/>
            <a:ext cx="42291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45654E-3965-6102-C758-71D61C1603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4F06B1-5505-F54E-899E-DDCAC750DA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5987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EF53ED8-44E6-440D-0BF4-65AA980D41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D26E5FD-1CE3-3C0C-E01D-E29A67ADF1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3633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F1D1DF4-9518-41BB-D589-FA32C1F5BE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EE2FD3C-5EB6-F756-555C-7A3EE29245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4173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26AB263-8648-5E1A-1FC2-CF11D2BB1D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1308BEA-C5D6-2E82-121B-013ADA084B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3749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ED008F-1516-A830-1254-56E40F361B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7465D7-DD80-02EB-3146-024D39F99F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140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AEEE97-FA70-D546-CBF5-4B8F15D5C9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805358-54D8-2FBF-47EB-936B36C596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043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011284-6C35-FC2C-D950-A30DC7345E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5334940-70EA-357E-D36D-A86819608E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3036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228600"/>
            <a:ext cx="215265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228600"/>
            <a:ext cx="630555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344AF8-84EC-3C97-675E-153E8B7BEF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1BFEDD-7864-1A9A-33C4-D4FE365039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2177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6106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914400"/>
            <a:ext cx="42291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914400"/>
            <a:ext cx="42291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C89A3C-1D46-73C8-951F-33DC7BE290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0FA330-868F-D9BB-B310-8457BC5A05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7705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10">
            <a:extLst>
              <a:ext uri="{FF2B5EF4-FFF2-40B4-BE49-F238E27FC236}">
                <a16:creationId xmlns:a16="http://schemas.microsoft.com/office/drawing/2014/main" id="{558B857E-CE5B-29F6-831D-46407AD7C2A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0" y="6400800"/>
            <a:ext cx="8305800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4BAD838B-CC84-229C-C7EB-FDC828292E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228600"/>
            <a:ext cx="8610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7F721702-B0C6-D936-9FD4-274159B9AC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914400"/>
            <a:ext cx="86106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CD436D85-DA67-B267-9110-E82A9236AC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276600" y="6477000"/>
            <a:ext cx="259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A5E175B-D134-3995-4925-E7BDCF39194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477000"/>
            <a:ext cx="10668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FA2E123C-F353-ED96-0384-FDDC6F70B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6477000"/>
            <a:ext cx="21336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400">
                <a:latin typeface="Comic Sans MS" panose="030F0702030302020204" pitchFamily="66" charset="0"/>
              </a:rPr>
              <a:t>Sensors p.</a:t>
            </a:r>
            <a:fld id="{8EDC3A9F-7E5F-4BC7-B8CF-60EBBC6E443D}" type="slidenum">
              <a:rPr lang="en-US" altLang="en-US" sz="1400" smtClean="0">
                <a:latin typeface="Comic Sans MS" panose="030F0702030302020204" pitchFamily="66" charset="0"/>
              </a:rPr>
              <a:pPr algn="r" eaLnBrk="1" hangingPunct="1">
                <a:defRPr/>
              </a:pPr>
              <a:t>‹#›</a:t>
            </a:fld>
            <a:endParaRPr lang="en-US" altLang="en-US" sz="1400">
              <a:latin typeface="Comic Sans MS" panose="030F0702030302020204" pitchFamily="66" charset="0"/>
            </a:endParaRPr>
          </a:p>
        </p:txBody>
      </p:sp>
      <p:pic>
        <p:nvPicPr>
          <p:cNvPr id="1032" name="Picture 8" descr="msu-logo">
            <a:extLst>
              <a:ext uri="{FF2B5EF4-FFF2-40B4-BE49-F238E27FC236}">
                <a16:creationId xmlns:a16="http://schemas.microsoft.com/office/drawing/2014/main" id="{0625E106-633D-D572-B038-9EDF4E383A1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02350"/>
            <a:ext cx="7620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3" name="Line 9">
            <a:extLst>
              <a:ext uri="{FF2B5EF4-FFF2-40B4-BE49-F238E27FC236}">
                <a16:creationId xmlns:a16="http://schemas.microsoft.com/office/drawing/2014/main" id="{96DC0E27-92D4-691D-B385-09047F04F29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81000" y="838200"/>
            <a:ext cx="8305800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rgbClr val="008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8000"/>
          </a:solidFill>
          <a:latin typeface="Comic Sans MS" panose="030F0702030302020204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8000"/>
          </a:solidFill>
          <a:latin typeface="Comic Sans MS" panose="030F0702030302020204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8000"/>
          </a:solidFill>
          <a:latin typeface="Comic Sans MS" panose="030F0702030302020204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8000"/>
          </a:solidFill>
          <a:latin typeface="Comic Sans MS" panose="030F0702030302020204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8000"/>
          </a:solidFill>
          <a:latin typeface="Comic Sans MS" panose="030F0702030302020204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8000"/>
          </a:solidFill>
          <a:latin typeface="Comic Sans MS" panose="030F0702030302020204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8000"/>
          </a:solidFill>
          <a:latin typeface="Comic Sans MS" panose="030F0702030302020204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8000"/>
          </a:solidFill>
          <a:latin typeface="Comic Sans MS" panose="030F0702030302020204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8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3.png"/><Relationship Id="rId21" Type="http://schemas.openxmlformats.org/officeDocument/2006/relationships/image" Target="../media/image12.png"/><Relationship Id="rId7" Type="http://schemas.openxmlformats.org/officeDocument/2006/relationships/image" Target="../media/image5.png"/><Relationship Id="rId12" Type="http://schemas.openxmlformats.org/officeDocument/2006/relationships/customXml" Target="../ink/ink6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7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image" Target="../media/image11.png"/><Relationship Id="rId31" Type="http://schemas.openxmlformats.org/officeDocument/2006/relationships/image" Target="../media/image17.png"/><Relationship Id="rId4" Type="http://schemas.openxmlformats.org/officeDocument/2006/relationships/customXml" Target="../ink/ink2.xml"/><Relationship Id="rId9" Type="http://schemas.openxmlformats.org/officeDocument/2006/relationships/image" Target="../media/image6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5.png"/><Relationship Id="rId30" Type="http://schemas.openxmlformats.org/officeDocument/2006/relationships/customXml" Target="../ink/ink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wmf"/><Relationship Id="rId9" Type="http://schemas.openxmlformats.org/officeDocument/2006/relationships/image" Target="../media/image35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image" Target="../media/image42.wmf"/><Relationship Id="rId7" Type="http://schemas.openxmlformats.org/officeDocument/2006/relationships/image" Target="../media/image46.wmf"/><Relationship Id="rId2" Type="http://schemas.openxmlformats.org/officeDocument/2006/relationships/image" Target="../media/image4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image" Target="../media/image49.wmf"/><Relationship Id="rId7" Type="http://schemas.openxmlformats.org/officeDocument/2006/relationships/image" Target="../media/image53.wm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wmf"/><Relationship Id="rId5" Type="http://schemas.openxmlformats.org/officeDocument/2006/relationships/image" Target="../media/image51.wmf"/><Relationship Id="rId4" Type="http://schemas.openxmlformats.org/officeDocument/2006/relationships/image" Target="../media/image50.png"/><Relationship Id="rId9" Type="http://schemas.openxmlformats.org/officeDocument/2006/relationships/image" Target="../media/image55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wmf"/><Relationship Id="rId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5BC3D83F-3271-3DED-27D1-F7CBB9447B2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38200"/>
            <a:ext cx="7772400" cy="2133600"/>
          </a:xfrm>
        </p:spPr>
        <p:txBody>
          <a:bodyPr anchor="ctr"/>
          <a:lstStyle/>
          <a:p>
            <a:pPr eaLnBrk="1" hangingPunct="1"/>
            <a:r>
              <a:rPr lang="en-US" altLang="en-US" sz="3600"/>
              <a:t>SENSORS</a:t>
            </a:r>
            <a:br>
              <a:rPr lang="en-US" altLang="en-US" sz="3200"/>
            </a:br>
            <a:br>
              <a:rPr lang="en-US" altLang="en-US" sz="3200"/>
            </a:br>
            <a:r>
              <a:rPr lang="en-US" altLang="en-US" sz="3200"/>
              <a:t>Interfacing to the Real World:</a:t>
            </a:r>
            <a:br>
              <a:rPr lang="en-US" altLang="en-US" sz="3200"/>
            </a:br>
            <a:r>
              <a:rPr lang="en-US" altLang="en-US" sz="2800"/>
              <a:t>Review of Electrical Sensors and Actuators</a:t>
            </a:r>
          </a:p>
        </p:txBody>
      </p:sp>
      <p:sp>
        <p:nvSpPr>
          <p:cNvPr id="4099" name="Rectangle 5">
            <a:extLst>
              <a:ext uri="{FF2B5EF4-FFF2-40B4-BE49-F238E27FC236}">
                <a16:creationId xmlns:a16="http://schemas.microsoft.com/office/drawing/2014/main" id="{567EAB1A-0B2C-6A01-CBF3-0A0FE5A4196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514600" y="3429000"/>
            <a:ext cx="5486400" cy="1447800"/>
          </a:xfrm>
        </p:spPr>
        <p:txBody>
          <a:bodyPr/>
          <a:lstStyle/>
          <a:p>
            <a:pPr eaLnBrk="1" hangingPunct="1"/>
            <a:r>
              <a:rPr lang="en-US" altLang="en-US" sz="2800"/>
              <a:t>Dr. Md. Sazzadur Rahman</a:t>
            </a:r>
          </a:p>
          <a:p>
            <a:pPr eaLnBrk="1" hangingPunct="1"/>
            <a:r>
              <a:rPr lang="en-US" altLang="en-US" sz="2800"/>
              <a:t>Associate Professor</a:t>
            </a:r>
          </a:p>
          <a:p>
            <a:pPr eaLnBrk="1" hangingPunct="1"/>
            <a:r>
              <a:rPr lang="en-US" altLang="en-US" sz="2800"/>
              <a:t>Jahangirnagar University</a:t>
            </a:r>
          </a:p>
          <a:p>
            <a:pPr eaLnBrk="1" hangingPunct="1"/>
            <a:endParaRPr lang="en-US" altLang="en-US" sz="2800"/>
          </a:p>
          <a:p>
            <a:pPr eaLnBrk="1" hangingPunct="1"/>
            <a:endParaRPr lang="en-US" altLang="en-US" sz="2800"/>
          </a:p>
        </p:txBody>
      </p:sp>
      <p:pic>
        <p:nvPicPr>
          <p:cNvPr id="4100" name="Picture 2" descr="Image result for logo jahangirnagar university&quot;">
            <a:extLst>
              <a:ext uri="{FF2B5EF4-FFF2-40B4-BE49-F238E27FC236}">
                <a16:creationId xmlns:a16="http://schemas.microsoft.com/office/drawing/2014/main" id="{57F49FB4-0353-9D87-30D3-F6E5CFC67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43" r="24573"/>
          <a:stretch>
            <a:fillRect/>
          </a:stretch>
        </p:blipFill>
        <p:spPr bwMode="auto">
          <a:xfrm>
            <a:off x="1066800" y="3505200"/>
            <a:ext cx="1143000" cy="127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E524076-1380-33F8-FDCA-3338F5F40C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Transducers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66A141E-0222-C74D-73F7-8A225A5376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33CC33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en-US" altLang="en-US" sz="2400">
                <a:solidFill>
                  <a:srgbClr val="008000"/>
                </a:solidFill>
              </a:rPr>
              <a:t>Transducer</a:t>
            </a:r>
          </a:p>
          <a:p>
            <a:pPr lvl="1" eaLnBrk="1" hangingPunct="1"/>
            <a:r>
              <a:rPr lang="en-US" altLang="en-US" sz="2000"/>
              <a:t>a device that converts a primary form of energy into a corresponding signal with a different energy form</a:t>
            </a:r>
          </a:p>
          <a:p>
            <a:pPr lvl="2" eaLnBrk="1" hangingPunct="1"/>
            <a:r>
              <a:rPr lang="en-US" altLang="en-US" sz="1800" u="sng"/>
              <a:t>Primary Energy Forms</a:t>
            </a:r>
            <a:r>
              <a:rPr lang="en-US" altLang="en-US" sz="1800"/>
              <a:t>: mechanical, thermal, electromagnetic, optical, chemical, etc.</a:t>
            </a:r>
          </a:p>
          <a:p>
            <a:pPr lvl="1" eaLnBrk="1" hangingPunct="1"/>
            <a:r>
              <a:rPr lang="en-US" altLang="en-US" sz="2000"/>
              <a:t>take form of a </a:t>
            </a:r>
            <a:r>
              <a:rPr lang="en-US" altLang="en-US" sz="2000" b="1"/>
              <a:t>sensor</a:t>
            </a:r>
            <a:r>
              <a:rPr lang="en-US" altLang="en-US" sz="2000"/>
              <a:t> or an </a:t>
            </a:r>
            <a:r>
              <a:rPr lang="en-US" altLang="en-US" sz="2000" b="1"/>
              <a:t>actuator</a:t>
            </a:r>
          </a:p>
          <a:p>
            <a:pPr eaLnBrk="1" hangingPunct="1"/>
            <a:r>
              <a:rPr lang="en-US" altLang="en-US" sz="2400">
                <a:solidFill>
                  <a:srgbClr val="008000"/>
                </a:solidFill>
              </a:rPr>
              <a:t>Sensor</a:t>
            </a:r>
            <a:r>
              <a:rPr lang="en-US" altLang="en-US" sz="2400"/>
              <a:t> </a:t>
            </a:r>
            <a:r>
              <a:rPr lang="en-US" altLang="en-US" sz="2000"/>
              <a:t>(e.g., thermometer)</a:t>
            </a:r>
          </a:p>
          <a:p>
            <a:pPr lvl="1" eaLnBrk="1" hangingPunct="1"/>
            <a:r>
              <a:rPr lang="en-US" altLang="en-US" sz="2000"/>
              <a:t>a device that detects/measures a signal or stimulus</a:t>
            </a:r>
          </a:p>
          <a:p>
            <a:pPr lvl="1" eaLnBrk="1" hangingPunct="1"/>
            <a:r>
              <a:rPr lang="en-US" altLang="en-US" sz="2000"/>
              <a:t>acquires information from the “real world”</a:t>
            </a:r>
          </a:p>
          <a:p>
            <a:pPr eaLnBrk="1" hangingPunct="1"/>
            <a:r>
              <a:rPr lang="en-US" altLang="en-US" sz="2400">
                <a:solidFill>
                  <a:srgbClr val="008000"/>
                </a:solidFill>
              </a:rPr>
              <a:t>Actuator</a:t>
            </a:r>
            <a:r>
              <a:rPr lang="en-US" altLang="en-US" sz="2400"/>
              <a:t> </a:t>
            </a:r>
            <a:r>
              <a:rPr lang="en-US" altLang="en-US" sz="2000"/>
              <a:t>(e.g., heater)</a:t>
            </a:r>
          </a:p>
          <a:p>
            <a:pPr lvl="1" eaLnBrk="1" hangingPunct="1"/>
            <a:r>
              <a:rPr lang="en-US" altLang="en-US" sz="2000"/>
              <a:t>a device that generates a signal or stimulus</a:t>
            </a:r>
          </a:p>
          <a:p>
            <a:pPr eaLnBrk="1" hangingPunct="1"/>
            <a:endParaRPr lang="en-US" altLang="en-US" sz="2400"/>
          </a:p>
        </p:txBody>
      </p:sp>
      <p:sp>
        <p:nvSpPr>
          <p:cNvPr id="5124" name="AutoShape 4">
            <a:extLst>
              <a:ext uri="{FF2B5EF4-FFF2-40B4-BE49-F238E27FC236}">
                <a16:creationId xmlns:a16="http://schemas.microsoft.com/office/drawing/2014/main" id="{DC9A9975-E0CD-5D59-A8B1-6F23F00A3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5181600"/>
            <a:ext cx="1524000" cy="990600"/>
          </a:xfrm>
          <a:prstGeom prst="cloudCallout">
            <a:avLst>
              <a:gd name="adj1" fmla="val -42185"/>
              <a:gd name="adj2" fmla="val -25639"/>
            </a:avLst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Arial" panose="020B0604020202020204" pitchFamily="34" charset="0"/>
              </a:rPr>
              <a:t>real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Arial" panose="020B0604020202020204" pitchFamily="34" charset="0"/>
              </a:rPr>
              <a:t>world</a:t>
            </a:r>
          </a:p>
        </p:txBody>
      </p:sp>
      <p:sp>
        <p:nvSpPr>
          <p:cNvPr id="5125" name="AutoShape 5">
            <a:extLst>
              <a:ext uri="{FF2B5EF4-FFF2-40B4-BE49-F238E27FC236}">
                <a16:creationId xmlns:a16="http://schemas.microsoft.com/office/drawing/2014/main" id="{F5056C83-9B42-AEFD-8082-B0E8C7C9C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5181600"/>
            <a:ext cx="1371600" cy="381000"/>
          </a:xfrm>
          <a:prstGeom prst="roundRect">
            <a:avLst>
              <a:gd name="adj" fmla="val 16667"/>
            </a:avLst>
          </a:prstGeom>
          <a:solidFill>
            <a:srgbClr val="33CC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sensor</a:t>
            </a:r>
          </a:p>
        </p:txBody>
      </p:sp>
      <p:sp>
        <p:nvSpPr>
          <p:cNvPr id="5126" name="AutoShape 6">
            <a:extLst>
              <a:ext uri="{FF2B5EF4-FFF2-40B4-BE49-F238E27FC236}">
                <a16:creationId xmlns:a16="http://schemas.microsoft.com/office/drawing/2014/main" id="{E71254F8-8B33-47B2-0F1E-6B9185F83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5715000"/>
            <a:ext cx="1371600" cy="3810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actuator</a:t>
            </a:r>
          </a:p>
        </p:txBody>
      </p:sp>
      <p:sp>
        <p:nvSpPr>
          <p:cNvPr id="5127" name="AutoShape 8">
            <a:extLst>
              <a:ext uri="{FF2B5EF4-FFF2-40B4-BE49-F238E27FC236}">
                <a16:creationId xmlns:a16="http://schemas.microsoft.com/office/drawing/2014/main" id="{AA32ACDD-C478-A7DA-B485-E31A8FE9D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5181600"/>
            <a:ext cx="1371600" cy="91440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intelligent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feedback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system</a:t>
            </a:r>
          </a:p>
        </p:txBody>
      </p:sp>
      <p:sp>
        <p:nvSpPr>
          <p:cNvPr id="5128" name="Line 9">
            <a:extLst>
              <a:ext uri="{FF2B5EF4-FFF2-40B4-BE49-F238E27FC236}">
                <a16:creationId xmlns:a16="http://schemas.microsoft.com/office/drawing/2014/main" id="{41F2A733-BE0C-F963-B599-84B84D294D94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5334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9" name="Line 10">
            <a:extLst>
              <a:ext uri="{FF2B5EF4-FFF2-40B4-BE49-F238E27FC236}">
                <a16:creationId xmlns:a16="http://schemas.microsoft.com/office/drawing/2014/main" id="{E0CC6353-4F8D-994F-A04E-79CD19B0B2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5943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0" name="Line 11">
            <a:extLst>
              <a:ext uri="{FF2B5EF4-FFF2-40B4-BE49-F238E27FC236}">
                <a16:creationId xmlns:a16="http://schemas.microsoft.com/office/drawing/2014/main" id="{8CD4E65E-2C4A-D107-890D-82E81E7BE48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5334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1" name="Line 12">
            <a:extLst>
              <a:ext uri="{FF2B5EF4-FFF2-40B4-BE49-F238E27FC236}">
                <a16:creationId xmlns:a16="http://schemas.microsoft.com/office/drawing/2014/main" id="{2145238F-283E-AE0F-F23D-CDB4336D09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7800" y="5943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6BA921B-1FA0-4957-DAAE-1A94C25C34F2}"/>
                  </a:ext>
                </a:extLst>
              </p14:cNvPr>
              <p14:cNvContentPartPr/>
              <p14:nvPr/>
            </p14:nvContentPartPr>
            <p14:xfrm>
              <a:off x="7549920" y="2628960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6BA921B-1FA0-4957-DAAE-1A94C25C34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40920" y="261996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33" name="Group 6">
            <a:extLst>
              <a:ext uri="{FF2B5EF4-FFF2-40B4-BE49-F238E27FC236}">
                <a16:creationId xmlns:a16="http://schemas.microsoft.com/office/drawing/2014/main" id="{B67848AC-4AD7-46B1-C105-9FFF146DE37E}"/>
              </a:ext>
            </a:extLst>
          </p:cNvPr>
          <p:cNvGrpSpPr>
            <a:grpSpLocks/>
          </p:cNvGrpSpPr>
          <p:nvPr/>
        </p:nvGrpSpPr>
        <p:grpSpPr bwMode="auto">
          <a:xfrm>
            <a:off x="7842250" y="1087438"/>
            <a:ext cx="857250" cy="547687"/>
            <a:chOff x="7841880" y="1087080"/>
            <a:chExt cx="857520" cy="54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60E9389-069A-AB21-A94D-DD1B2A0EC7AD}"/>
                    </a:ext>
                  </a:extLst>
                </p14:cNvPr>
                <p14:cNvContentPartPr/>
                <p14:nvPr/>
              </p14:nvContentPartPr>
              <p14:xfrm>
                <a:off x="7898400" y="1243680"/>
                <a:ext cx="228600" cy="284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60E9389-069A-AB21-A94D-DD1B2A0EC7A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889400" y="1234680"/>
                  <a:ext cx="2462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1644F94-8210-6B76-68BA-837189975B79}"/>
                    </a:ext>
                  </a:extLst>
                </p14:cNvPr>
                <p14:cNvContentPartPr/>
                <p14:nvPr/>
              </p14:nvContentPartPr>
              <p14:xfrm>
                <a:off x="8208360" y="1184640"/>
                <a:ext cx="156600" cy="276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1644F94-8210-6B76-68BA-837189975B7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199360" y="1175640"/>
                  <a:ext cx="1742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5C12838-84B7-1387-CC38-3E2BEB322D1E}"/>
                    </a:ext>
                  </a:extLst>
                </p14:cNvPr>
                <p14:cNvContentPartPr/>
                <p14:nvPr/>
              </p14:nvContentPartPr>
              <p14:xfrm>
                <a:off x="8184240" y="1087080"/>
                <a:ext cx="223560" cy="122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5C12838-84B7-1387-CC38-3E2BEB322D1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75240" y="1078106"/>
                  <a:ext cx="241200" cy="1399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CDE46E2-8009-7E30-CEF7-95FE63FEB8DD}"/>
                    </a:ext>
                  </a:extLst>
                </p14:cNvPr>
                <p14:cNvContentPartPr/>
                <p14:nvPr/>
              </p14:nvContentPartPr>
              <p14:xfrm>
                <a:off x="7841880" y="1430880"/>
                <a:ext cx="857520" cy="203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CDE46E2-8009-7E30-CEF7-95FE63FEB8D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832880" y="1421864"/>
                  <a:ext cx="875160" cy="22143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34" name="Group 10">
            <a:extLst>
              <a:ext uri="{FF2B5EF4-FFF2-40B4-BE49-F238E27FC236}">
                <a16:creationId xmlns:a16="http://schemas.microsoft.com/office/drawing/2014/main" id="{9AB4B8FB-149F-0DC4-23A4-F5B9B8AB25A3}"/>
              </a:ext>
            </a:extLst>
          </p:cNvPr>
          <p:cNvGrpSpPr>
            <a:grpSpLocks/>
          </p:cNvGrpSpPr>
          <p:nvPr/>
        </p:nvGrpSpPr>
        <p:grpSpPr bwMode="auto">
          <a:xfrm>
            <a:off x="6807200" y="2281238"/>
            <a:ext cx="1960563" cy="527050"/>
            <a:chOff x="6806880" y="2281560"/>
            <a:chExt cx="1961640" cy="52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D435CB6-94C1-ADC4-A0B5-A83A8DDD2FBD}"/>
                    </a:ext>
                  </a:extLst>
                </p14:cNvPr>
                <p14:cNvContentPartPr/>
                <p14:nvPr/>
              </p14:nvContentPartPr>
              <p14:xfrm>
                <a:off x="6806880" y="2281560"/>
                <a:ext cx="1961640" cy="526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D435CB6-94C1-ADC4-A0B5-A83A8DDD2FB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797880" y="2272560"/>
                  <a:ext cx="1979280" cy="5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029F0A9-99FF-3A1F-297C-C8D6DBD7A93F}"/>
                    </a:ext>
                  </a:extLst>
                </p14:cNvPr>
                <p14:cNvContentPartPr/>
                <p14:nvPr/>
              </p14:nvContentPartPr>
              <p14:xfrm>
                <a:off x="8517960" y="2379480"/>
                <a:ext cx="33120" cy="120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029F0A9-99FF-3A1F-297C-C8D6DBD7A93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508960" y="2370480"/>
                  <a:ext cx="507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3E36628-6F0E-BC8B-19C9-D9BAE28FFD41}"/>
                    </a:ext>
                  </a:extLst>
                </p14:cNvPr>
                <p14:cNvContentPartPr/>
                <p14:nvPr/>
              </p14:nvContentPartPr>
              <p14:xfrm>
                <a:off x="8541000" y="2357520"/>
                <a:ext cx="35640" cy="147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3E36628-6F0E-BC8B-19C9-D9BAE28FFD4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32000" y="2348498"/>
                  <a:ext cx="53280" cy="16564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E2464DC-1B0F-B34F-6456-5F7CE6078004}"/>
                  </a:ext>
                </a:extLst>
              </p14:cNvPr>
              <p14:cNvContentPartPr/>
              <p14:nvPr/>
            </p14:nvContentPartPr>
            <p14:xfrm>
              <a:off x="6769080" y="2700600"/>
              <a:ext cx="320040" cy="896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E2464DC-1B0F-B34F-6456-5F7CE607800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760080" y="2691600"/>
                <a:ext cx="337680" cy="10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136" name="Group 16">
            <a:extLst>
              <a:ext uri="{FF2B5EF4-FFF2-40B4-BE49-F238E27FC236}">
                <a16:creationId xmlns:a16="http://schemas.microsoft.com/office/drawing/2014/main" id="{4B3117F3-AC68-3757-DC08-C8809A813E1E}"/>
              </a:ext>
            </a:extLst>
          </p:cNvPr>
          <p:cNvGrpSpPr>
            <a:grpSpLocks/>
          </p:cNvGrpSpPr>
          <p:nvPr/>
        </p:nvGrpSpPr>
        <p:grpSpPr bwMode="auto">
          <a:xfrm>
            <a:off x="6745288" y="3003550"/>
            <a:ext cx="638175" cy="417513"/>
            <a:chOff x="6745320" y="3004080"/>
            <a:chExt cx="638640" cy="41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3D5BA88-AF27-F32D-5028-A164AC77C3F5}"/>
                    </a:ext>
                  </a:extLst>
                </p14:cNvPr>
                <p14:cNvContentPartPr/>
                <p14:nvPr/>
              </p14:nvContentPartPr>
              <p14:xfrm>
                <a:off x="6954120" y="3078240"/>
                <a:ext cx="210240" cy="246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3D5BA88-AF27-F32D-5028-A164AC77C3F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45120" y="3069240"/>
                  <a:ext cx="2278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FB39FA7-51A2-4854-89CA-B7547A39A40A}"/>
                    </a:ext>
                  </a:extLst>
                </p14:cNvPr>
                <p14:cNvContentPartPr/>
                <p14:nvPr/>
              </p14:nvContentPartPr>
              <p14:xfrm>
                <a:off x="7212960" y="3026400"/>
                <a:ext cx="116280" cy="164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FB39FA7-51A2-4854-89CA-B7547A39A40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203932" y="3017380"/>
                  <a:ext cx="133975" cy="1818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2E1ADC5-0B99-A14D-A56C-49EE910847F4}"/>
                    </a:ext>
                  </a:extLst>
                </p14:cNvPr>
                <p14:cNvContentPartPr/>
                <p14:nvPr/>
              </p14:nvContentPartPr>
              <p14:xfrm>
                <a:off x="7249680" y="3004080"/>
                <a:ext cx="134280" cy="21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2E1ADC5-0B99-A14D-A56C-49EE910847F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240656" y="2995080"/>
                  <a:ext cx="151967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4320BD0-767A-615A-C2DF-36D46011FFA5}"/>
                    </a:ext>
                  </a:extLst>
                </p14:cNvPr>
                <p14:cNvContentPartPr/>
                <p14:nvPr/>
              </p14:nvContentPartPr>
              <p14:xfrm>
                <a:off x="6745320" y="3180480"/>
                <a:ext cx="184320" cy="240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4320BD0-767A-615A-C2DF-36D46011FFA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736320" y="3171480"/>
                  <a:ext cx="201960" cy="25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37" name="Group 20">
            <a:extLst>
              <a:ext uri="{FF2B5EF4-FFF2-40B4-BE49-F238E27FC236}">
                <a16:creationId xmlns:a16="http://schemas.microsoft.com/office/drawing/2014/main" id="{16009176-23B3-3D7D-22A5-74D9E4C428E6}"/>
              </a:ext>
            </a:extLst>
          </p:cNvPr>
          <p:cNvGrpSpPr>
            <a:grpSpLocks/>
          </p:cNvGrpSpPr>
          <p:nvPr/>
        </p:nvGrpSpPr>
        <p:grpSpPr bwMode="auto">
          <a:xfrm>
            <a:off x="7972425" y="2871788"/>
            <a:ext cx="542925" cy="615950"/>
            <a:chOff x="7972560" y="2871240"/>
            <a:chExt cx="542160" cy="61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248E694-4732-214F-16E6-8464E4A0166C}"/>
                    </a:ext>
                  </a:extLst>
                </p14:cNvPr>
                <p14:cNvContentPartPr/>
                <p14:nvPr/>
              </p14:nvContentPartPr>
              <p14:xfrm>
                <a:off x="7972560" y="2965920"/>
                <a:ext cx="217800" cy="291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248E694-4732-214F-16E6-8464E4A0166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963575" y="2956920"/>
                  <a:ext cx="235411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3AE7EBB-7DB1-8AFA-079C-64D3043595DD}"/>
                    </a:ext>
                  </a:extLst>
                </p14:cNvPr>
                <p14:cNvContentPartPr/>
                <p14:nvPr/>
              </p14:nvContentPartPr>
              <p14:xfrm>
                <a:off x="8128440" y="2871240"/>
                <a:ext cx="202680" cy="307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3AE7EBB-7DB1-8AFA-079C-64D3043595D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19440" y="2862240"/>
                  <a:ext cx="2203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50036AE-B108-15FC-46E5-2CF3E2C95DA1}"/>
                    </a:ext>
                  </a:extLst>
                </p14:cNvPr>
                <p14:cNvContentPartPr/>
                <p14:nvPr/>
              </p14:nvContentPartPr>
              <p14:xfrm>
                <a:off x="8106120" y="3102000"/>
                <a:ext cx="408600" cy="385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50036AE-B108-15FC-46E5-2CF3E2C95DA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097120" y="3093000"/>
                  <a:ext cx="426240" cy="4032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AutoShape 11">
            <a:extLst>
              <a:ext uri="{FF2B5EF4-FFF2-40B4-BE49-F238E27FC236}">
                <a16:creationId xmlns:a16="http://schemas.microsoft.com/office/drawing/2014/main" id="{FA7EAD3F-1620-A09D-7B11-404132FE5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3276600"/>
            <a:ext cx="1143000" cy="838200"/>
          </a:xfrm>
          <a:prstGeom prst="wedgeRoundRectCallout">
            <a:avLst>
              <a:gd name="adj1" fmla="val -1250"/>
              <a:gd name="adj2" fmla="val 45833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Arial" panose="020B0604020202020204" pitchFamily="34" charset="0"/>
              </a:rPr>
              <a:t>usable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Arial" panose="020B0604020202020204" pitchFamily="34" charset="0"/>
              </a:rPr>
              <a:t>values</a:t>
            </a: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E2FF44F2-A166-2C5B-7EB4-196EE74BAA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Sensor Systems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C511A128-766D-659F-CD51-C7AE43E55E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763000" cy="5410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i="1"/>
              <a:t>Typically interested in </a:t>
            </a:r>
            <a:r>
              <a:rPr lang="en-US" altLang="en-US" sz="2400" b="1" i="1"/>
              <a:t>electronic sensor</a:t>
            </a:r>
          </a:p>
          <a:p>
            <a:pPr lvl="1" eaLnBrk="1" hangingPunct="1"/>
            <a:r>
              <a:rPr lang="en-US" altLang="en-US" sz="2000"/>
              <a:t>convert desired parameter into electrically measurable signal</a:t>
            </a:r>
          </a:p>
          <a:p>
            <a:pPr eaLnBrk="1" hangingPunct="1"/>
            <a:r>
              <a:rPr lang="en-US" altLang="en-US" sz="2400">
                <a:solidFill>
                  <a:srgbClr val="008000"/>
                </a:solidFill>
              </a:rPr>
              <a:t>General Electronic Sensor</a:t>
            </a:r>
          </a:p>
          <a:p>
            <a:pPr lvl="1" eaLnBrk="1" hangingPunct="1"/>
            <a:r>
              <a:rPr lang="en-US" altLang="en-US" sz="2000" u="sng"/>
              <a:t>primary transducer</a:t>
            </a:r>
            <a:r>
              <a:rPr lang="en-US" altLang="en-US" sz="2000"/>
              <a:t>: changes “real world” parameter into electrical signal</a:t>
            </a:r>
          </a:p>
          <a:p>
            <a:pPr lvl="1" eaLnBrk="1" hangingPunct="1"/>
            <a:r>
              <a:rPr lang="en-US" altLang="en-US" sz="2000" u="sng"/>
              <a:t>secondary transducer</a:t>
            </a:r>
            <a:r>
              <a:rPr lang="en-US" altLang="en-US" sz="2000"/>
              <a:t>: converts electrical signal into analog or digital values</a:t>
            </a:r>
          </a:p>
          <a:p>
            <a:pPr lvl="2" eaLnBrk="1" hangingPunct="1"/>
            <a:endParaRPr lang="en-US" altLang="en-US" sz="1800"/>
          </a:p>
          <a:p>
            <a:pPr lvl="2" eaLnBrk="1" hangingPunct="1"/>
            <a:endParaRPr lang="en-US" altLang="en-US" sz="1800"/>
          </a:p>
          <a:p>
            <a:pPr lvl="2" eaLnBrk="1" hangingPunct="1"/>
            <a:endParaRPr lang="en-US" altLang="en-US" sz="1800"/>
          </a:p>
          <a:p>
            <a:pPr eaLnBrk="1" hangingPunct="1"/>
            <a:r>
              <a:rPr lang="en-US" altLang="en-US" sz="2400">
                <a:solidFill>
                  <a:srgbClr val="008000"/>
                </a:solidFill>
              </a:rPr>
              <a:t>Typical Electronic Sensor System</a:t>
            </a:r>
          </a:p>
          <a:p>
            <a:pPr lvl="1" eaLnBrk="1" hangingPunct="1"/>
            <a:endParaRPr lang="en-US" altLang="en-US" sz="1800"/>
          </a:p>
        </p:txBody>
      </p:sp>
      <p:sp>
        <p:nvSpPr>
          <p:cNvPr id="6149" name="AutoShape 6">
            <a:extLst>
              <a:ext uri="{FF2B5EF4-FFF2-40B4-BE49-F238E27FC236}">
                <a16:creationId xmlns:a16="http://schemas.microsoft.com/office/drawing/2014/main" id="{C116D96C-2FA0-A155-112F-276D20466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200400"/>
            <a:ext cx="1524000" cy="990600"/>
          </a:xfrm>
          <a:prstGeom prst="cloudCallout">
            <a:avLst>
              <a:gd name="adj1" fmla="val 18125"/>
              <a:gd name="adj2" fmla="val 38301"/>
            </a:avLst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Arial" panose="020B0604020202020204" pitchFamily="34" charset="0"/>
              </a:rPr>
              <a:t>real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Arial" panose="020B0604020202020204" pitchFamily="34" charset="0"/>
              </a:rPr>
              <a:t>world</a:t>
            </a:r>
          </a:p>
        </p:txBody>
      </p:sp>
      <p:sp>
        <p:nvSpPr>
          <p:cNvPr id="6150" name="AutoShape 9">
            <a:extLst>
              <a:ext uri="{FF2B5EF4-FFF2-40B4-BE49-F238E27FC236}">
                <a16:creationId xmlns:a16="http://schemas.microsoft.com/office/drawing/2014/main" id="{6F0B3B05-33BD-CFD7-96F6-E4612D01C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276600"/>
            <a:ext cx="1219200" cy="762000"/>
          </a:xfrm>
          <a:prstGeom prst="wedgeEllipseCallout">
            <a:avLst>
              <a:gd name="adj1" fmla="val 33204"/>
              <a:gd name="adj2" fmla="val 40625"/>
            </a:avLst>
          </a:prstGeom>
          <a:solidFill>
            <a:srgbClr val="CCFF99"/>
          </a:soli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Arial" panose="020B0604020202020204" pitchFamily="34" charset="0"/>
              </a:rPr>
              <a:t>analog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Arial" panose="020B0604020202020204" pitchFamily="34" charset="0"/>
              </a:rPr>
              <a:t>signal</a:t>
            </a:r>
          </a:p>
        </p:txBody>
      </p:sp>
      <p:sp>
        <p:nvSpPr>
          <p:cNvPr id="6151" name="Text Box 8">
            <a:extLst>
              <a:ext uri="{FF2B5EF4-FFF2-40B4-BE49-F238E27FC236}">
                <a16:creationId xmlns:a16="http://schemas.microsoft.com/office/drawing/2014/main" id="{764805A7-5054-9B05-E9A2-DB22A8A95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5288" y="3376613"/>
            <a:ext cx="1252537" cy="600075"/>
          </a:xfrm>
          <a:prstGeom prst="rect">
            <a:avLst/>
          </a:prstGeom>
          <a:noFill/>
          <a:ln w="19050">
            <a:solidFill>
              <a:srgbClr val="66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primary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transducer</a:t>
            </a:r>
          </a:p>
        </p:txBody>
      </p:sp>
      <p:sp>
        <p:nvSpPr>
          <p:cNvPr id="6152" name="Text Box 10">
            <a:extLst>
              <a:ext uri="{FF2B5EF4-FFF2-40B4-BE49-F238E27FC236}">
                <a16:creationId xmlns:a16="http://schemas.microsoft.com/office/drawing/2014/main" id="{CBBB403C-0133-9780-7417-6EF398BD5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8888" y="3376613"/>
            <a:ext cx="1252537" cy="600075"/>
          </a:xfrm>
          <a:prstGeom prst="rect">
            <a:avLst/>
          </a:prstGeom>
          <a:noFill/>
          <a:ln w="19050">
            <a:solidFill>
              <a:srgbClr val="66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secondary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transducer</a:t>
            </a:r>
          </a:p>
        </p:txBody>
      </p:sp>
      <p:sp>
        <p:nvSpPr>
          <p:cNvPr id="6153" name="Line 13">
            <a:extLst>
              <a:ext uri="{FF2B5EF4-FFF2-40B4-BE49-F238E27FC236}">
                <a16:creationId xmlns:a16="http://schemas.microsoft.com/office/drawing/2014/main" id="{50090F81-D424-FD3B-C2AA-3C751A50822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39624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" name="Line 14">
            <a:extLst>
              <a:ext uri="{FF2B5EF4-FFF2-40B4-BE49-F238E27FC236}">
                <a16:creationId xmlns:a16="http://schemas.microsoft.com/office/drawing/2014/main" id="{7E4F058E-1120-7D2B-2DE6-4418E8E33F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3962400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5" name="AutoShape 17">
            <a:extLst>
              <a:ext uri="{FF2B5EF4-FFF2-40B4-BE49-F238E27FC236}">
                <a16:creationId xmlns:a16="http://schemas.microsoft.com/office/drawing/2014/main" id="{1B498FC3-3D6A-C2E5-0EC9-666B49445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114800"/>
            <a:ext cx="1295400" cy="381000"/>
          </a:xfrm>
          <a:prstGeom prst="roundRect">
            <a:avLst>
              <a:gd name="adj" fmla="val 16667"/>
            </a:avLst>
          </a:prstGeom>
          <a:solidFill>
            <a:srgbClr val="33CC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sensor</a:t>
            </a:r>
          </a:p>
        </p:txBody>
      </p:sp>
      <p:sp>
        <p:nvSpPr>
          <p:cNvPr id="6156" name="AutoShape 18">
            <a:extLst>
              <a:ext uri="{FF2B5EF4-FFF2-40B4-BE49-F238E27FC236}">
                <a16:creationId xmlns:a16="http://schemas.microsoft.com/office/drawing/2014/main" id="{94D1B3D7-F8EA-298C-AF82-C3FFDD410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5357813"/>
            <a:ext cx="1295400" cy="457200"/>
          </a:xfrm>
          <a:prstGeom prst="roundRect">
            <a:avLst>
              <a:gd name="adj" fmla="val 16667"/>
            </a:avLst>
          </a:prstGeom>
          <a:solidFill>
            <a:srgbClr val="33CC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sensor</a:t>
            </a:r>
          </a:p>
        </p:txBody>
      </p:sp>
      <p:sp>
        <p:nvSpPr>
          <p:cNvPr id="6157" name="Line 19">
            <a:extLst>
              <a:ext uri="{FF2B5EF4-FFF2-40B4-BE49-F238E27FC236}">
                <a16:creationId xmlns:a16="http://schemas.microsoft.com/office/drawing/2014/main" id="{E2AAF7D9-C5CD-F4E6-605D-A1ACB2AA584E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5586413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8" name="Text Box 20">
            <a:extLst>
              <a:ext uri="{FF2B5EF4-FFF2-40B4-BE49-F238E27FC236}">
                <a16:creationId xmlns:a16="http://schemas.microsoft.com/office/drawing/2014/main" id="{C0AD5D4A-7357-EA0B-B8FB-838830BFC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129213"/>
            <a:ext cx="129540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input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signal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(measurand)</a:t>
            </a:r>
          </a:p>
        </p:txBody>
      </p:sp>
      <p:sp>
        <p:nvSpPr>
          <p:cNvPr id="6159" name="AutoShape 21">
            <a:extLst>
              <a:ext uri="{FF2B5EF4-FFF2-40B4-BE49-F238E27FC236}">
                <a16:creationId xmlns:a16="http://schemas.microsoft.com/office/drawing/2014/main" id="{8A7EF901-1755-2606-900D-3A5336AFA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5205413"/>
            <a:ext cx="1828800" cy="838200"/>
          </a:xfrm>
          <a:prstGeom prst="roundRect">
            <a:avLst>
              <a:gd name="adj" fmla="val 16667"/>
            </a:avLst>
          </a:prstGeom>
          <a:solidFill>
            <a:srgbClr val="33CC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microcontroller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  <a:latin typeface="Arial" panose="020B0604020202020204" pitchFamily="34" charset="0"/>
              </a:rPr>
              <a:t>signal processing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  <a:latin typeface="Arial" panose="020B0604020202020204" pitchFamily="34" charset="0"/>
              </a:rPr>
              <a:t>communication</a:t>
            </a:r>
          </a:p>
        </p:txBody>
      </p:sp>
      <p:sp>
        <p:nvSpPr>
          <p:cNvPr id="6160" name="Text Box 22">
            <a:extLst>
              <a:ext uri="{FF2B5EF4-FFF2-40B4-BE49-F238E27FC236}">
                <a16:creationId xmlns:a16="http://schemas.microsoft.com/office/drawing/2014/main" id="{4798DF8B-E086-6763-7AFF-249560A81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357813"/>
            <a:ext cx="1228725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sensor data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analog/digital</a:t>
            </a:r>
          </a:p>
        </p:txBody>
      </p:sp>
      <p:sp>
        <p:nvSpPr>
          <p:cNvPr id="6161" name="Line 23">
            <a:extLst>
              <a:ext uri="{FF2B5EF4-FFF2-40B4-BE49-F238E27FC236}">
                <a16:creationId xmlns:a16="http://schemas.microsoft.com/office/drawing/2014/main" id="{83ECA50D-35D5-C738-B16F-5E5DB23AF7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5586413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2" name="Line 24">
            <a:extLst>
              <a:ext uri="{FF2B5EF4-FFF2-40B4-BE49-F238E27FC236}">
                <a16:creationId xmlns:a16="http://schemas.microsoft.com/office/drawing/2014/main" id="{6AE39000-14C9-58F1-24D6-BE737AADA5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5586413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6163" name="Picture 25" descr="j0292020">
            <a:extLst>
              <a:ext uri="{FF2B5EF4-FFF2-40B4-BE49-F238E27FC236}">
                <a16:creationId xmlns:a16="http://schemas.microsoft.com/office/drawing/2014/main" id="{4E763128-85FE-E5EB-91F0-0A456DCED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4953000"/>
            <a:ext cx="1411288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64" name="Text Box 26">
            <a:extLst>
              <a:ext uri="{FF2B5EF4-FFF2-40B4-BE49-F238E27FC236}">
                <a16:creationId xmlns:a16="http://schemas.microsoft.com/office/drawing/2014/main" id="{F2F820E5-E3E6-BC08-0D80-26C56C56F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334000"/>
            <a:ext cx="804863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network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display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834ACCE-D81F-A7D4-2359-BE6C0ABD03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Electronic Sensor Systems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967F067-7C82-6341-D5B8-87960E3FB8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6705600" cy="5410200"/>
          </a:xfrm>
        </p:spPr>
        <p:txBody>
          <a:bodyPr/>
          <a:lstStyle/>
          <a:p>
            <a:pPr eaLnBrk="1" hangingPunct="1"/>
            <a:r>
              <a:rPr lang="en-US" altLang="en-US"/>
              <a:t>Components vary with application</a:t>
            </a:r>
          </a:p>
          <a:p>
            <a:pPr lvl="1" eaLnBrk="1" hangingPunct="1"/>
            <a:r>
              <a:rPr lang="en-US" altLang="en-US"/>
              <a:t>digital sensor within an instrument</a:t>
            </a:r>
          </a:p>
          <a:p>
            <a:pPr lvl="2" eaLnBrk="1" hangingPunct="1"/>
            <a:r>
              <a:rPr lang="en-US" altLang="en-US"/>
              <a:t>microcontroller</a:t>
            </a:r>
          </a:p>
          <a:p>
            <a:pPr lvl="3" eaLnBrk="1" hangingPunct="1"/>
            <a:r>
              <a:rPr lang="en-US" altLang="en-US"/>
              <a:t>signal timing</a:t>
            </a:r>
          </a:p>
          <a:p>
            <a:pPr lvl="3" eaLnBrk="1" hangingPunct="1"/>
            <a:r>
              <a:rPr lang="en-US" altLang="en-US"/>
              <a:t>data storage</a:t>
            </a:r>
          </a:p>
          <a:p>
            <a:pPr lvl="1" eaLnBrk="1" hangingPunct="1"/>
            <a:r>
              <a:rPr lang="en-US" altLang="en-US"/>
              <a:t>analog sensor analyzed by a PC</a:t>
            </a:r>
          </a:p>
          <a:p>
            <a:pPr lvl="2" eaLnBrk="1" hangingPunct="1"/>
            <a:endParaRPr lang="en-US" altLang="en-US"/>
          </a:p>
          <a:p>
            <a:pPr lvl="2" eaLnBrk="1" hangingPunct="1"/>
            <a:endParaRPr lang="en-US" altLang="en-US"/>
          </a:p>
          <a:p>
            <a:pPr lvl="2" eaLnBrk="1" hangingPunct="1"/>
            <a:endParaRPr lang="en-US" altLang="en-US"/>
          </a:p>
          <a:p>
            <a:pPr lvl="1" eaLnBrk="1" hangingPunct="1"/>
            <a:r>
              <a:rPr lang="en-US" altLang="en-US"/>
              <a:t>multiple sensors displayed over internet</a:t>
            </a:r>
          </a:p>
        </p:txBody>
      </p:sp>
      <p:sp>
        <p:nvSpPr>
          <p:cNvPr id="7172" name="AutoShape 7">
            <a:extLst>
              <a:ext uri="{FF2B5EF4-FFF2-40B4-BE49-F238E27FC236}">
                <a16:creationId xmlns:a16="http://schemas.microsoft.com/office/drawing/2014/main" id="{24CEC52A-53B3-0E67-1EAC-3E402E8AF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981200"/>
            <a:ext cx="1143000" cy="685800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µ</a:t>
            </a:r>
            <a:r>
              <a:rPr lang="en-US" altLang="en-US" sz="1600" b="1">
                <a:latin typeface="Arial" panose="020B0604020202020204" pitchFamily="34" charset="0"/>
              </a:rPr>
              <a:t>C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b="1">
                <a:latin typeface="Arial" panose="020B0604020202020204" pitchFamily="34" charset="0"/>
              </a:rPr>
              <a:t>signal timing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b="1">
                <a:latin typeface="Arial" panose="020B0604020202020204" pitchFamily="34" charset="0"/>
              </a:rPr>
              <a:t>memory</a:t>
            </a:r>
          </a:p>
        </p:txBody>
      </p:sp>
      <p:sp>
        <p:nvSpPr>
          <p:cNvPr id="7173" name="AutoShape 12">
            <a:extLst>
              <a:ext uri="{FF2B5EF4-FFF2-40B4-BE49-F238E27FC236}">
                <a16:creationId xmlns:a16="http://schemas.microsoft.com/office/drawing/2014/main" id="{348FDDA1-2C48-C836-3003-18A85025E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1905000"/>
            <a:ext cx="1143000" cy="30480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keypad</a:t>
            </a:r>
            <a:endParaRPr lang="en-US" altLang="en-US" sz="1200" b="1">
              <a:latin typeface="Arial" panose="020B0604020202020204" pitchFamily="34" charset="0"/>
            </a:endParaRPr>
          </a:p>
        </p:txBody>
      </p:sp>
      <p:sp>
        <p:nvSpPr>
          <p:cNvPr id="7174" name="AutoShape 13">
            <a:extLst>
              <a:ext uri="{FF2B5EF4-FFF2-40B4-BE49-F238E27FC236}">
                <a16:creationId xmlns:a16="http://schemas.microsoft.com/office/drawing/2014/main" id="{A1DECFBB-3891-62DB-41CF-21D991225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1981200"/>
            <a:ext cx="1143000" cy="304800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endParaRPr lang="en-US" altLang="en-US" sz="1200" b="1">
              <a:latin typeface="Arial" panose="020B0604020202020204" pitchFamily="34" charset="0"/>
            </a:endParaRPr>
          </a:p>
        </p:txBody>
      </p:sp>
      <p:sp>
        <p:nvSpPr>
          <p:cNvPr id="7175" name="AutoShape 14">
            <a:extLst>
              <a:ext uri="{FF2B5EF4-FFF2-40B4-BE49-F238E27FC236}">
                <a16:creationId xmlns:a16="http://schemas.microsoft.com/office/drawing/2014/main" id="{D5DFA878-F419-3643-BA53-1BC4CD494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2362200"/>
            <a:ext cx="1143000" cy="304800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endParaRPr lang="en-US" altLang="en-US" sz="1200" b="1">
              <a:latin typeface="Arial" panose="020B0604020202020204" pitchFamily="34" charset="0"/>
            </a:endParaRPr>
          </a:p>
        </p:txBody>
      </p:sp>
      <p:sp>
        <p:nvSpPr>
          <p:cNvPr id="7176" name="Rectangle 15">
            <a:extLst>
              <a:ext uri="{FF2B5EF4-FFF2-40B4-BE49-F238E27FC236}">
                <a16:creationId xmlns:a16="http://schemas.microsoft.com/office/drawing/2014/main" id="{BFBDFCF5-CA87-BEB7-132B-2D6CFF28D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1828800"/>
            <a:ext cx="4191000" cy="10668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7177" name="Line 16">
            <a:extLst>
              <a:ext uri="{FF2B5EF4-FFF2-40B4-BE49-F238E27FC236}">
                <a16:creationId xmlns:a16="http://schemas.microsoft.com/office/drawing/2014/main" id="{8CDC6E87-69A2-A548-520A-E97FB350E01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2133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8" name="Line 17">
            <a:extLst>
              <a:ext uri="{FF2B5EF4-FFF2-40B4-BE49-F238E27FC236}">
                <a16:creationId xmlns:a16="http://schemas.microsoft.com/office/drawing/2014/main" id="{D6433844-3DAE-013B-2806-D646174D35A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2514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9" name="Line 18">
            <a:extLst>
              <a:ext uri="{FF2B5EF4-FFF2-40B4-BE49-F238E27FC236}">
                <a16:creationId xmlns:a16="http://schemas.microsoft.com/office/drawing/2014/main" id="{AACB58B7-0844-2184-CFA9-783769DA68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2438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0" name="Line 19">
            <a:extLst>
              <a:ext uri="{FF2B5EF4-FFF2-40B4-BE49-F238E27FC236}">
                <a16:creationId xmlns:a16="http://schemas.microsoft.com/office/drawing/2014/main" id="{F78D8083-9BEC-AA77-90E4-07124B2C0A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8000" y="2133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1" name="AutoShape 20">
            <a:extLst>
              <a:ext uri="{FF2B5EF4-FFF2-40B4-BE49-F238E27FC236}">
                <a16:creationId xmlns:a16="http://schemas.microsoft.com/office/drawing/2014/main" id="{339BDADD-ED51-AA94-8F54-EE831AFF5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2362200"/>
            <a:ext cx="1143000" cy="30480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display</a:t>
            </a:r>
            <a:endParaRPr lang="en-US" altLang="en-US" sz="1200" b="1">
              <a:latin typeface="Arial" panose="020B0604020202020204" pitchFamily="34" charset="0"/>
            </a:endParaRPr>
          </a:p>
        </p:txBody>
      </p:sp>
      <p:sp>
        <p:nvSpPr>
          <p:cNvPr id="7182" name="Text Box 21">
            <a:extLst>
              <a:ext uri="{FF2B5EF4-FFF2-40B4-BE49-F238E27FC236}">
                <a16:creationId xmlns:a16="http://schemas.microsoft.com/office/drawing/2014/main" id="{B4ABCD1B-7F53-76C7-3379-0D4C2D7AE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00" y="2667000"/>
            <a:ext cx="169386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 i="1">
                <a:latin typeface="Arial" panose="020B0604020202020204" pitchFamily="34" charset="0"/>
              </a:rPr>
              <a:t>handheld instrument</a:t>
            </a:r>
          </a:p>
        </p:txBody>
      </p:sp>
      <p:sp>
        <p:nvSpPr>
          <p:cNvPr id="7183" name="AutoShape 22">
            <a:extLst>
              <a:ext uri="{FF2B5EF4-FFF2-40B4-BE49-F238E27FC236}">
                <a16:creationId xmlns:a16="http://schemas.microsoft.com/office/drawing/2014/main" id="{22E9A844-E398-D750-62DE-AEE2462AC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581400"/>
            <a:ext cx="685800" cy="53340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en-US" sz="1600" b="1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7184" name="AutoShape 23">
            <a:extLst>
              <a:ext uri="{FF2B5EF4-FFF2-40B4-BE49-F238E27FC236}">
                <a16:creationId xmlns:a16="http://schemas.microsoft.com/office/drawing/2014/main" id="{88C14746-9FEF-F562-167A-65FA2ACD2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114800"/>
            <a:ext cx="838200" cy="152400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comm. card</a:t>
            </a:r>
          </a:p>
        </p:txBody>
      </p:sp>
      <p:sp>
        <p:nvSpPr>
          <p:cNvPr id="7185" name="AutoShape 24">
            <a:extLst>
              <a:ext uri="{FF2B5EF4-FFF2-40B4-BE49-F238E27FC236}">
                <a16:creationId xmlns:a16="http://schemas.microsoft.com/office/drawing/2014/main" id="{E2651012-CCDD-ADA2-9578-54A711A04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581400"/>
            <a:ext cx="1600200" cy="685800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sensor interface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A/D, communication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signal processing</a:t>
            </a:r>
            <a:endParaRPr lang="en-US" altLang="en-US" sz="900">
              <a:latin typeface="Arial" panose="020B0604020202020204" pitchFamily="34" charset="0"/>
            </a:endParaRPr>
          </a:p>
        </p:txBody>
      </p:sp>
      <p:sp>
        <p:nvSpPr>
          <p:cNvPr id="7186" name="AutoShape 25">
            <a:extLst>
              <a:ext uri="{FF2B5EF4-FFF2-40B4-BE49-F238E27FC236}">
                <a16:creationId xmlns:a16="http://schemas.microsoft.com/office/drawing/2014/main" id="{CB8FF70C-249C-8176-1DEB-D643C0DFE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810000"/>
            <a:ext cx="1143000" cy="304800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endParaRPr lang="en-US" altLang="en-US" sz="1200" b="1">
              <a:latin typeface="Arial" panose="020B0604020202020204" pitchFamily="34" charset="0"/>
            </a:endParaRPr>
          </a:p>
        </p:txBody>
      </p:sp>
      <p:sp>
        <p:nvSpPr>
          <p:cNvPr id="7187" name="Line 26">
            <a:extLst>
              <a:ext uri="{FF2B5EF4-FFF2-40B4-BE49-F238E27FC236}">
                <a16:creationId xmlns:a16="http://schemas.microsoft.com/office/drawing/2014/main" id="{270081D0-4E79-977A-0771-3101549713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3962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8" name="Freeform 29">
            <a:extLst>
              <a:ext uri="{FF2B5EF4-FFF2-40B4-BE49-F238E27FC236}">
                <a16:creationId xmlns:a16="http://schemas.microsoft.com/office/drawing/2014/main" id="{22231F78-B53F-4A3C-A12F-F95A4B6B9A9D}"/>
              </a:ext>
            </a:extLst>
          </p:cNvPr>
          <p:cNvSpPr>
            <a:spLocks/>
          </p:cNvSpPr>
          <p:nvPr/>
        </p:nvSpPr>
        <p:spPr bwMode="auto">
          <a:xfrm>
            <a:off x="6019800" y="3810000"/>
            <a:ext cx="990600" cy="304800"/>
          </a:xfrm>
          <a:custGeom>
            <a:avLst/>
            <a:gdLst>
              <a:gd name="T0" fmla="*/ 0 w 432"/>
              <a:gd name="T1" fmla="*/ 2147483646 h 192"/>
              <a:gd name="T2" fmla="*/ 2147483646 w 432"/>
              <a:gd name="T3" fmla="*/ 0 h 192"/>
              <a:gd name="T4" fmla="*/ 2147483646 w 432"/>
              <a:gd name="T5" fmla="*/ 2147483646 h 192"/>
              <a:gd name="T6" fmla="*/ 2147483646 w 432"/>
              <a:gd name="T7" fmla="*/ 2147483646 h 19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32" h="192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44" y="64"/>
                  <a:pt x="384" y="96"/>
                </a:cubicBezTo>
                <a:cubicBezTo>
                  <a:pt x="424" y="128"/>
                  <a:pt x="428" y="160"/>
                  <a:pt x="432" y="19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9" name="Text Box 30">
            <a:extLst>
              <a:ext uri="{FF2B5EF4-FFF2-40B4-BE49-F238E27FC236}">
                <a16:creationId xmlns:a16="http://schemas.microsoft.com/office/drawing/2014/main" id="{C1879787-1D8C-1CB5-E375-437C2471B9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581400"/>
            <a:ext cx="9874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i="1">
                <a:latin typeface="Arial" panose="020B0604020202020204" pitchFamily="34" charset="0"/>
              </a:rPr>
              <a:t>e.g., RS232</a:t>
            </a:r>
          </a:p>
        </p:txBody>
      </p:sp>
      <p:sp>
        <p:nvSpPr>
          <p:cNvPr id="7190" name="AutoShape 31">
            <a:extLst>
              <a:ext uri="{FF2B5EF4-FFF2-40B4-BE49-F238E27FC236}">
                <a16:creationId xmlns:a16="http://schemas.microsoft.com/office/drawing/2014/main" id="{A93AC22F-0B6A-39AD-AFFD-5AD7DD869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100" y="5562600"/>
            <a:ext cx="685800" cy="53340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en-US" sz="1600" b="1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7191" name="AutoShape 32">
            <a:extLst>
              <a:ext uri="{FF2B5EF4-FFF2-40B4-BE49-F238E27FC236}">
                <a16:creationId xmlns:a16="http://schemas.microsoft.com/office/drawing/2014/main" id="{B7B4C2A4-03DC-BEBE-91B6-CD7144901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2900" y="6096000"/>
            <a:ext cx="838200" cy="152400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comm. card</a:t>
            </a:r>
          </a:p>
        </p:txBody>
      </p:sp>
      <p:sp>
        <p:nvSpPr>
          <p:cNvPr id="7192" name="Line 33">
            <a:extLst>
              <a:ext uri="{FF2B5EF4-FFF2-40B4-BE49-F238E27FC236}">
                <a16:creationId xmlns:a16="http://schemas.microsoft.com/office/drawing/2014/main" id="{1DAA926F-A14C-226E-397B-42AE02CBB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5029200"/>
            <a:ext cx="3733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3" name="AutoShape 34">
            <a:extLst>
              <a:ext uri="{FF2B5EF4-FFF2-40B4-BE49-F238E27FC236}">
                <a16:creationId xmlns:a16="http://schemas.microsoft.com/office/drawing/2014/main" id="{D0093997-BEE7-A4BA-8FD8-6261171D79CB}"/>
              </a:ext>
            </a:extLst>
          </p:cNvPr>
          <p:cNvSpPr>
            <a:spLocks noChangeArrowheads="1"/>
          </p:cNvSpPr>
          <p:nvPr/>
        </p:nvSpPr>
        <p:spPr bwMode="auto">
          <a:xfrm rot="21236666" flipV="1">
            <a:off x="4383088" y="5027613"/>
            <a:ext cx="339725" cy="533400"/>
          </a:xfrm>
          <a:prstGeom prst="lightningBolt">
            <a:avLst/>
          </a:prstGeom>
          <a:solidFill>
            <a:srgbClr val="CC66FF"/>
          </a:solidFill>
          <a:ln w="9525">
            <a:solidFill>
              <a:srgbClr val="CC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7194" name="Text Box 35">
            <a:extLst>
              <a:ext uri="{FF2B5EF4-FFF2-40B4-BE49-F238E27FC236}">
                <a16:creationId xmlns:a16="http://schemas.microsoft.com/office/drawing/2014/main" id="{3DD3758D-1D4D-267A-12D1-A70662FEC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800600"/>
            <a:ext cx="7429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 i="1">
                <a:latin typeface="Arial" panose="020B0604020202020204" pitchFamily="34" charset="0"/>
              </a:rPr>
              <a:t>internet</a:t>
            </a:r>
          </a:p>
        </p:txBody>
      </p:sp>
      <p:sp>
        <p:nvSpPr>
          <p:cNvPr id="7195" name="AutoShape 36">
            <a:extLst>
              <a:ext uri="{FF2B5EF4-FFF2-40B4-BE49-F238E27FC236}">
                <a16:creationId xmlns:a16="http://schemas.microsoft.com/office/drawing/2014/main" id="{7B1C7A0F-787B-CAAD-36FB-FBEDE9257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486400"/>
            <a:ext cx="1066800" cy="228600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endParaRPr lang="en-US" altLang="en-US" sz="1000" b="1">
              <a:latin typeface="Arial" panose="020B0604020202020204" pitchFamily="34" charset="0"/>
            </a:endParaRPr>
          </a:p>
        </p:txBody>
      </p:sp>
      <p:sp>
        <p:nvSpPr>
          <p:cNvPr id="7196" name="AutoShape 37">
            <a:extLst>
              <a:ext uri="{FF2B5EF4-FFF2-40B4-BE49-F238E27FC236}">
                <a16:creationId xmlns:a16="http://schemas.microsoft.com/office/drawing/2014/main" id="{8591D214-52F3-7D7F-8517-ABF55D561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715000"/>
            <a:ext cx="1066800" cy="228600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processor</a:t>
            </a:r>
            <a:endParaRPr lang="en-US" altLang="en-US" sz="1000" b="1">
              <a:latin typeface="Arial" panose="020B0604020202020204" pitchFamily="34" charset="0"/>
            </a:endParaRPr>
          </a:p>
        </p:txBody>
      </p:sp>
      <p:sp>
        <p:nvSpPr>
          <p:cNvPr id="7197" name="AutoShape 38">
            <a:extLst>
              <a:ext uri="{FF2B5EF4-FFF2-40B4-BE49-F238E27FC236}">
                <a16:creationId xmlns:a16="http://schemas.microsoft.com/office/drawing/2014/main" id="{5582E59E-2B40-23D8-EFA7-0E690C598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943600"/>
            <a:ext cx="1066800" cy="228600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comm.</a:t>
            </a:r>
            <a:endParaRPr lang="en-US" altLang="en-US" sz="1000" b="1">
              <a:latin typeface="Arial" panose="020B0604020202020204" pitchFamily="34" charset="0"/>
            </a:endParaRPr>
          </a:p>
        </p:txBody>
      </p:sp>
      <p:sp>
        <p:nvSpPr>
          <p:cNvPr id="7198" name="Rectangle 39">
            <a:extLst>
              <a:ext uri="{FF2B5EF4-FFF2-40B4-BE49-F238E27FC236}">
                <a16:creationId xmlns:a16="http://schemas.microsoft.com/office/drawing/2014/main" id="{3A731A26-C75F-E4BB-AC7C-10A11BBC5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5410200"/>
            <a:ext cx="1219200" cy="83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7199" name="Freeform 40">
            <a:extLst>
              <a:ext uri="{FF2B5EF4-FFF2-40B4-BE49-F238E27FC236}">
                <a16:creationId xmlns:a16="http://schemas.microsoft.com/office/drawing/2014/main" id="{01488DB8-7278-4C21-19D1-5127DDE1AD70}"/>
              </a:ext>
            </a:extLst>
          </p:cNvPr>
          <p:cNvSpPr>
            <a:spLocks/>
          </p:cNvSpPr>
          <p:nvPr/>
        </p:nvSpPr>
        <p:spPr bwMode="auto">
          <a:xfrm>
            <a:off x="3200400" y="5791200"/>
            <a:ext cx="990600" cy="304800"/>
          </a:xfrm>
          <a:custGeom>
            <a:avLst/>
            <a:gdLst>
              <a:gd name="T0" fmla="*/ 0 w 432"/>
              <a:gd name="T1" fmla="*/ 2147483646 h 192"/>
              <a:gd name="T2" fmla="*/ 2147483646 w 432"/>
              <a:gd name="T3" fmla="*/ 0 h 192"/>
              <a:gd name="T4" fmla="*/ 2147483646 w 432"/>
              <a:gd name="T5" fmla="*/ 2147483646 h 192"/>
              <a:gd name="T6" fmla="*/ 2147483646 w 432"/>
              <a:gd name="T7" fmla="*/ 2147483646 h 19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32" h="192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44" y="64"/>
                  <a:pt x="384" y="96"/>
                </a:cubicBezTo>
                <a:cubicBezTo>
                  <a:pt x="424" y="128"/>
                  <a:pt x="428" y="160"/>
                  <a:pt x="432" y="19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0" name="AutoShape 41">
            <a:extLst>
              <a:ext uri="{FF2B5EF4-FFF2-40B4-BE49-F238E27FC236}">
                <a16:creationId xmlns:a16="http://schemas.microsoft.com/office/drawing/2014/main" id="{428A5B00-E68F-35BA-8CAD-1F955195C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5486400"/>
            <a:ext cx="1066800" cy="228600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endParaRPr lang="en-US" altLang="en-US" sz="1000" b="1">
              <a:latin typeface="Arial" panose="020B0604020202020204" pitchFamily="34" charset="0"/>
            </a:endParaRPr>
          </a:p>
        </p:txBody>
      </p:sp>
      <p:sp>
        <p:nvSpPr>
          <p:cNvPr id="7201" name="AutoShape 42">
            <a:extLst>
              <a:ext uri="{FF2B5EF4-FFF2-40B4-BE49-F238E27FC236}">
                <a16:creationId xmlns:a16="http://schemas.microsoft.com/office/drawing/2014/main" id="{9CB2D0C8-C43C-28D9-79CF-72EFACC67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5715000"/>
            <a:ext cx="1066800" cy="228600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processor</a:t>
            </a:r>
            <a:endParaRPr lang="en-US" altLang="en-US" sz="1000" b="1">
              <a:latin typeface="Arial" panose="020B0604020202020204" pitchFamily="34" charset="0"/>
            </a:endParaRPr>
          </a:p>
        </p:txBody>
      </p:sp>
      <p:sp>
        <p:nvSpPr>
          <p:cNvPr id="7202" name="AutoShape 43">
            <a:extLst>
              <a:ext uri="{FF2B5EF4-FFF2-40B4-BE49-F238E27FC236}">
                <a16:creationId xmlns:a16="http://schemas.microsoft.com/office/drawing/2014/main" id="{2D9550A3-4A02-6251-87F0-09F201181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5943600"/>
            <a:ext cx="1066800" cy="228600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comm.</a:t>
            </a:r>
            <a:endParaRPr lang="en-US" altLang="en-US" sz="1000" b="1">
              <a:latin typeface="Arial" panose="020B0604020202020204" pitchFamily="34" charset="0"/>
            </a:endParaRPr>
          </a:p>
        </p:txBody>
      </p:sp>
      <p:sp>
        <p:nvSpPr>
          <p:cNvPr id="7203" name="Rectangle 44">
            <a:extLst>
              <a:ext uri="{FF2B5EF4-FFF2-40B4-BE49-F238E27FC236}">
                <a16:creationId xmlns:a16="http://schemas.microsoft.com/office/drawing/2014/main" id="{40196991-1EC6-B7CD-1850-AA3FDE707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410200"/>
            <a:ext cx="1219200" cy="83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7204" name="Freeform 45">
            <a:extLst>
              <a:ext uri="{FF2B5EF4-FFF2-40B4-BE49-F238E27FC236}">
                <a16:creationId xmlns:a16="http://schemas.microsoft.com/office/drawing/2014/main" id="{F1717FF6-E07A-7844-8F5A-CC6E047D77EA}"/>
              </a:ext>
            </a:extLst>
          </p:cNvPr>
          <p:cNvSpPr>
            <a:spLocks/>
          </p:cNvSpPr>
          <p:nvPr/>
        </p:nvSpPr>
        <p:spPr bwMode="auto">
          <a:xfrm flipH="1">
            <a:off x="4953000" y="5791200"/>
            <a:ext cx="990600" cy="304800"/>
          </a:xfrm>
          <a:custGeom>
            <a:avLst/>
            <a:gdLst>
              <a:gd name="T0" fmla="*/ 0 w 432"/>
              <a:gd name="T1" fmla="*/ 2147483646 h 192"/>
              <a:gd name="T2" fmla="*/ 2147483646 w 432"/>
              <a:gd name="T3" fmla="*/ 0 h 192"/>
              <a:gd name="T4" fmla="*/ 2147483646 w 432"/>
              <a:gd name="T5" fmla="*/ 2147483646 h 192"/>
              <a:gd name="T6" fmla="*/ 2147483646 w 432"/>
              <a:gd name="T7" fmla="*/ 2147483646 h 19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32" h="192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44" y="64"/>
                  <a:pt x="384" y="96"/>
                </a:cubicBezTo>
                <a:cubicBezTo>
                  <a:pt x="424" y="128"/>
                  <a:pt x="428" y="160"/>
                  <a:pt x="432" y="19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5" name="Text Box 46">
            <a:extLst>
              <a:ext uri="{FF2B5EF4-FFF2-40B4-BE49-F238E27FC236}">
                <a16:creationId xmlns:a16="http://schemas.microsoft.com/office/drawing/2014/main" id="{1E707946-73E4-F719-9D68-7D8EB2B89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562600"/>
            <a:ext cx="9271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i="1">
                <a:latin typeface="Arial" panose="020B0604020202020204" pitchFamily="34" charset="0"/>
              </a:rPr>
              <a:t>sensor bus</a:t>
            </a:r>
          </a:p>
        </p:txBody>
      </p:sp>
      <p:sp>
        <p:nvSpPr>
          <p:cNvPr id="7206" name="Text Box 47">
            <a:extLst>
              <a:ext uri="{FF2B5EF4-FFF2-40B4-BE49-F238E27FC236}">
                <a16:creationId xmlns:a16="http://schemas.microsoft.com/office/drawing/2014/main" id="{EF300FC6-6553-4AF9-787D-2A3AF122A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5562600"/>
            <a:ext cx="9271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i="1">
                <a:latin typeface="Arial" panose="020B0604020202020204" pitchFamily="34" charset="0"/>
              </a:rPr>
              <a:t>sensor bus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D495B52-C1A5-5473-78EC-DCE13B42E9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Primary Transducers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B908E934-CBAB-F018-06ED-F8421B6121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Conventional Transducers</a:t>
            </a:r>
          </a:p>
          <a:p>
            <a:pPr lvl="1" eaLnBrk="1" hangingPunct="1">
              <a:buFontTx/>
              <a:buNone/>
            </a:pPr>
            <a:r>
              <a:rPr lang="en-US" altLang="en-US" sz="2000" i="1"/>
              <a:t>large, but generally reliable, based on older technology</a:t>
            </a:r>
          </a:p>
          <a:p>
            <a:pPr lvl="1" eaLnBrk="1" hangingPunct="1"/>
            <a:r>
              <a:rPr lang="en-US" altLang="en-US"/>
              <a:t>thermocouple: </a:t>
            </a:r>
            <a:r>
              <a:rPr lang="en-US" altLang="en-US">
                <a:solidFill>
                  <a:srgbClr val="FF9933"/>
                </a:solidFill>
              </a:rPr>
              <a:t>temperature difference</a:t>
            </a:r>
          </a:p>
          <a:p>
            <a:pPr lvl="1" eaLnBrk="1" hangingPunct="1"/>
            <a:r>
              <a:rPr lang="en-US" altLang="en-US"/>
              <a:t>compass (magnetic): </a:t>
            </a:r>
            <a:r>
              <a:rPr lang="en-US" altLang="en-US">
                <a:solidFill>
                  <a:srgbClr val="FF9933"/>
                </a:solidFill>
              </a:rPr>
              <a:t>direction</a:t>
            </a:r>
          </a:p>
          <a:p>
            <a:pPr eaLnBrk="1" hangingPunct="1"/>
            <a:r>
              <a:rPr lang="en-US" altLang="en-US"/>
              <a:t>Microelectronic Sensors</a:t>
            </a:r>
          </a:p>
          <a:p>
            <a:pPr lvl="1" eaLnBrk="1" hangingPunct="1">
              <a:buFontTx/>
              <a:buNone/>
            </a:pPr>
            <a:r>
              <a:rPr lang="en-US" altLang="en-US" sz="2000" i="1"/>
              <a:t>millimeter sized, highly sensitive, less robust</a:t>
            </a:r>
          </a:p>
          <a:p>
            <a:pPr lvl="1" eaLnBrk="1" hangingPunct="1"/>
            <a:r>
              <a:rPr lang="en-US" altLang="en-US"/>
              <a:t>photodiode/phototransistor: </a:t>
            </a:r>
            <a:r>
              <a:rPr lang="en-US" altLang="en-US">
                <a:solidFill>
                  <a:srgbClr val="FF9933"/>
                </a:solidFill>
              </a:rPr>
              <a:t>photon energy (light)</a:t>
            </a:r>
          </a:p>
          <a:p>
            <a:pPr lvl="2" eaLnBrk="1" hangingPunct="1"/>
            <a:r>
              <a:rPr lang="en-US" altLang="en-US"/>
              <a:t>infrared detectors, proximity/intrusion alarms</a:t>
            </a:r>
          </a:p>
          <a:p>
            <a:pPr lvl="1" eaLnBrk="1" hangingPunct="1"/>
            <a:r>
              <a:rPr lang="en-US" altLang="en-US"/>
              <a:t>piezoresisitve pressure sensor:</a:t>
            </a:r>
            <a:r>
              <a:rPr lang="en-US" altLang="en-US">
                <a:solidFill>
                  <a:srgbClr val="FF9933"/>
                </a:solidFill>
              </a:rPr>
              <a:t> air/fluid pressure</a:t>
            </a:r>
          </a:p>
          <a:p>
            <a:pPr lvl="1" eaLnBrk="1" hangingPunct="1"/>
            <a:r>
              <a:rPr lang="en-US" altLang="en-US"/>
              <a:t>microaccelerometers: </a:t>
            </a:r>
            <a:r>
              <a:rPr lang="en-US" altLang="en-US">
                <a:solidFill>
                  <a:srgbClr val="FF9933"/>
                </a:solidFill>
              </a:rPr>
              <a:t>vibration, </a:t>
            </a:r>
            <a:r>
              <a:rPr lang="en-US" altLang="en-US" sz="2000">
                <a:solidFill>
                  <a:srgbClr val="FF9933"/>
                </a:solidFill>
              </a:rPr>
              <a:t>∆</a:t>
            </a:r>
            <a:r>
              <a:rPr lang="en-US" altLang="en-US">
                <a:solidFill>
                  <a:srgbClr val="FF9933"/>
                </a:solidFill>
              </a:rPr>
              <a:t>-velocity </a:t>
            </a:r>
            <a:r>
              <a:rPr lang="en-US" altLang="en-US" sz="2000">
                <a:solidFill>
                  <a:srgbClr val="FF9933"/>
                </a:solidFill>
              </a:rPr>
              <a:t>(car crash)</a:t>
            </a:r>
          </a:p>
          <a:p>
            <a:pPr lvl="1" eaLnBrk="1" hangingPunct="1"/>
            <a:r>
              <a:rPr lang="en-US" altLang="en-US"/>
              <a:t>chemical senors: </a:t>
            </a:r>
            <a:r>
              <a:rPr lang="en-US" altLang="en-US">
                <a:solidFill>
                  <a:srgbClr val="FF9933"/>
                </a:solidFill>
              </a:rPr>
              <a:t>O</a:t>
            </a:r>
            <a:r>
              <a:rPr lang="en-US" altLang="en-US" baseline="-25000">
                <a:solidFill>
                  <a:srgbClr val="FF9933"/>
                </a:solidFill>
              </a:rPr>
              <a:t>2</a:t>
            </a:r>
            <a:r>
              <a:rPr lang="en-US" altLang="en-US">
                <a:solidFill>
                  <a:srgbClr val="FF9933"/>
                </a:solidFill>
              </a:rPr>
              <a:t>, CO</a:t>
            </a:r>
            <a:r>
              <a:rPr lang="en-US" altLang="en-US" baseline="-25000">
                <a:solidFill>
                  <a:srgbClr val="FF9933"/>
                </a:solidFill>
              </a:rPr>
              <a:t>2</a:t>
            </a:r>
            <a:r>
              <a:rPr lang="en-US" altLang="en-US">
                <a:solidFill>
                  <a:srgbClr val="FF9933"/>
                </a:solidFill>
              </a:rPr>
              <a:t>, Cl, Nitrates </a:t>
            </a:r>
            <a:r>
              <a:rPr lang="en-US" altLang="en-US" sz="2000">
                <a:solidFill>
                  <a:srgbClr val="FF9933"/>
                </a:solidFill>
              </a:rPr>
              <a:t>(explosives)</a:t>
            </a:r>
          </a:p>
          <a:p>
            <a:pPr lvl="1" eaLnBrk="1" hangingPunct="1"/>
            <a:r>
              <a:rPr lang="en-US" altLang="en-US"/>
              <a:t>DNA arrays: match </a:t>
            </a:r>
            <a:r>
              <a:rPr lang="en-US" altLang="en-US">
                <a:solidFill>
                  <a:srgbClr val="FF9933"/>
                </a:solidFill>
              </a:rPr>
              <a:t>DNA sequences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E523C9C-0D10-88F6-38CE-B97CB7BFD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Primary Transducers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7904A24-8E18-4216-F87C-C0A2B51965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Light Sensor</a:t>
            </a:r>
          </a:p>
          <a:p>
            <a:pPr lvl="1" eaLnBrk="1" hangingPunct="1"/>
            <a:r>
              <a:rPr lang="en-US" altLang="en-US"/>
              <a:t>photoconductor</a:t>
            </a:r>
          </a:p>
          <a:p>
            <a:pPr lvl="2" eaLnBrk="1" hangingPunct="1"/>
            <a:r>
              <a:rPr lang="en-US" altLang="en-US">
                <a:sym typeface="Symbol" panose="05050102010706020507" pitchFamily="18" charset="2"/>
              </a:rPr>
              <a:t>light </a:t>
            </a:r>
            <a:r>
              <a:rPr lang="en-US" altLang="en-US">
                <a:sym typeface="Wingdings" panose="05000000000000000000" pitchFamily="2" charset="2"/>
              </a:rPr>
              <a:t> </a:t>
            </a:r>
            <a:r>
              <a:rPr lang="en-US" altLang="en-US">
                <a:sym typeface="Symbol" panose="05050102010706020507" pitchFamily="18" charset="2"/>
              </a:rPr>
              <a:t>R</a:t>
            </a:r>
          </a:p>
          <a:p>
            <a:pPr lvl="2" eaLnBrk="1" hangingPunct="1"/>
            <a:endParaRPr lang="en-US" altLang="en-US"/>
          </a:p>
          <a:p>
            <a:pPr lvl="1" eaLnBrk="1" hangingPunct="1"/>
            <a:r>
              <a:rPr lang="en-US" altLang="en-US"/>
              <a:t>photodiode</a:t>
            </a:r>
          </a:p>
          <a:p>
            <a:pPr lvl="2" eaLnBrk="1" hangingPunct="1"/>
            <a:r>
              <a:rPr lang="en-US" altLang="en-US">
                <a:sym typeface="Symbol" panose="05050102010706020507" pitchFamily="18" charset="2"/>
              </a:rPr>
              <a:t>light </a:t>
            </a:r>
            <a:r>
              <a:rPr lang="en-US" altLang="en-US">
                <a:sym typeface="Wingdings" panose="05000000000000000000" pitchFamily="2" charset="2"/>
              </a:rPr>
              <a:t> </a:t>
            </a:r>
            <a:r>
              <a:rPr lang="en-US" altLang="en-US">
                <a:sym typeface="Symbol" panose="05050102010706020507" pitchFamily="18" charset="2"/>
              </a:rPr>
              <a:t>I</a:t>
            </a:r>
          </a:p>
          <a:p>
            <a:pPr lvl="2" eaLnBrk="1" hangingPunct="1"/>
            <a:endParaRPr lang="en-US" altLang="en-US"/>
          </a:p>
          <a:p>
            <a:pPr lvl="2" eaLnBrk="1" hangingPunct="1"/>
            <a:endParaRPr lang="en-US" altLang="en-US"/>
          </a:p>
          <a:p>
            <a:pPr lvl="2" eaLnBrk="1" hangingPunct="1"/>
            <a:endParaRPr lang="en-US" altLang="en-US"/>
          </a:p>
          <a:p>
            <a:pPr lvl="1" eaLnBrk="1" hangingPunct="1"/>
            <a:r>
              <a:rPr lang="en-US" altLang="en-US"/>
              <a:t>membrane pressure sensor</a:t>
            </a:r>
          </a:p>
          <a:p>
            <a:pPr lvl="2" eaLnBrk="1" hangingPunct="1"/>
            <a:r>
              <a:rPr lang="en-US" altLang="en-US"/>
              <a:t>resistive (pressure </a:t>
            </a:r>
            <a:r>
              <a:rPr lang="en-US" altLang="en-US">
                <a:sym typeface="Wingdings" panose="05000000000000000000" pitchFamily="2" charset="2"/>
              </a:rPr>
              <a:t> </a:t>
            </a:r>
            <a:r>
              <a:rPr lang="en-US" altLang="en-US">
                <a:sym typeface="Symbol" panose="05050102010706020507" pitchFamily="18" charset="2"/>
              </a:rPr>
              <a:t></a:t>
            </a:r>
            <a:r>
              <a:rPr lang="en-US" altLang="en-US">
                <a:sym typeface="Wingdings" panose="05000000000000000000" pitchFamily="2" charset="2"/>
              </a:rPr>
              <a:t> R)</a:t>
            </a:r>
            <a:endParaRPr lang="en-US" altLang="en-US"/>
          </a:p>
          <a:p>
            <a:pPr lvl="2" eaLnBrk="1" hangingPunct="1"/>
            <a:r>
              <a:rPr lang="en-US" altLang="en-US"/>
              <a:t>capacitive (pressure </a:t>
            </a:r>
            <a:r>
              <a:rPr lang="en-US" altLang="en-US">
                <a:sym typeface="Wingdings" panose="05000000000000000000" pitchFamily="2" charset="2"/>
              </a:rPr>
              <a:t> </a:t>
            </a:r>
            <a:r>
              <a:rPr lang="en-US" altLang="en-US">
                <a:sym typeface="Symbol" panose="05050102010706020507" pitchFamily="18" charset="2"/>
              </a:rPr>
              <a:t></a:t>
            </a:r>
            <a:r>
              <a:rPr lang="en-US" altLang="en-US">
                <a:sym typeface="Wingdings" panose="05000000000000000000" pitchFamily="2" charset="2"/>
              </a:rPr>
              <a:t>C)</a:t>
            </a: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C9E617E2-361E-8ACA-B80E-E385E0548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990600"/>
            <a:ext cx="3794125" cy="152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1" name="Picture 5">
            <a:extLst>
              <a:ext uri="{FF2B5EF4-FFF2-40B4-BE49-F238E27FC236}">
                <a16:creationId xmlns:a16="http://schemas.microsoft.com/office/drawing/2014/main" id="{C53C5B5C-8B08-C456-C0A8-E40D13FF6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338" y="2362200"/>
            <a:ext cx="2981325" cy="173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AAC36460-BDAA-AEE8-1CBD-1836B053E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3149600"/>
            <a:ext cx="2212975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3" name="Picture 7">
            <a:extLst>
              <a:ext uri="{FF2B5EF4-FFF2-40B4-BE49-F238E27FC236}">
                <a16:creationId xmlns:a16="http://schemas.microsoft.com/office/drawing/2014/main" id="{B0650BFE-EE7C-CC20-E2BD-2B2AD7329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4038600"/>
            <a:ext cx="3281363" cy="1827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0C30057-CF0F-8610-C575-4C9D9BB866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Displacement Measurements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E8BD062-424A-886D-D25F-409679EAD8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spcBef>
                <a:spcPct val="15000"/>
              </a:spcBef>
            </a:pPr>
            <a:r>
              <a:rPr lang="en-US" altLang="en-US" sz="2400"/>
              <a:t>Measurements of size, shape, and position utilize  </a:t>
            </a:r>
            <a:r>
              <a:rPr lang="en-US" altLang="en-US" sz="2400">
                <a:solidFill>
                  <a:srgbClr val="008000"/>
                </a:solidFill>
              </a:rPr>
              <a:t>displacement sensors</a:t>
            </a:r>
          </a:p>
          <a:p>
            <a:pPr lvl="4" eaLnBrk="1" hangingPunct="1">
              <a:lnSpc>
                <a:spcPct val="80000"/>
              </a:lnSpc>
              <a:spcBef>
                <a:spcPct val="15000"/>
              </a:spcBef>
            </a:pPr>
            <a:endParaRPr lang="en-US" altLang="en-US" sz="1600"/>
          </a:p>
          <a:p>
            <a:pPr eaLnBrk="1" hangingPunct="1">
              <a:lnSpc>
                <a:spcPct val="80000"/>
              </a:lnSpc>
              <a:spcBef>
                <a:spcPct val="15000"/>
              </a:spcBef>
            </a:pPr>
            <a:r>
              <a:rPr lang="en-US" altLang="en-US" sz="2400"/>
              <a:t>Examples</a:t>
            </a:r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</a:pPr>
            <a:r>
              <a:rPr lang="en-US" altLang="en-US" sz="2000"/>
              <a:t>diameter of part under stress (direct) </a:t>
            </a:r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</a:pPr>
            <a:r>
              <a:rPr lang="en-US" altLang="en-US" sz="2000"/>
              <a:t>movement of a microphone diaphragm to quantify liquid movement through the heart (indirect) </a:t>
            </a:r>
          </a:p>
          <a:p>
            <a:pPr lvl="4" eaLnBrk="1" hangingPunct="1">
              <a:lnSpc>
                <a:spcPct val="80000"/>
              </a:lnSpc>
              <a:spcBef>
                <a:spcPct val="15000"/>
              </a:spcBef>
            </a:pPr>
            <a:endParaRPr lang="en-US" altLang="en-US" sz="1600"/>
          </a:p>
          <a:p>
            <a:pPr eaLnBrk="1" hangingPunct="1">
              <a:lnSpc>
                <a:spcPct val="80000"/>
              </a:lnSpc>
              <a:spcBef>
                <a:spcPct val="15000"/>
              </a:spcBef>
            </a:pPr>
            <a:r>
              <a:rPr lang="en-US" altLang="en-US" sz="2400"/>
              <a:t>Primary Transducer Types</a:t>
            </a:r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</a:pPr>
            <a:r>
              <a:rPr lang="en-US" altLang="en-US" sz="2000"/>
              <a:t>Resistive Sensors (Potentiometers &amp; </a:t>
            </a:r>
            <a:r>
              <a:rPr lang="en-US" altLang="en-US" sz="2000" u="sng"/>
              <a:t>Strain Gages</a:t>
            </a:r>
            <a:r>
              <a:rPr lang="en-US" altLang="en-US" sz="2000"/>
              <a:t>)</a:t>
            </a:r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</a:pPr>
            <a:r>
              <a:rPr lang="en-US" altLang="en-US" sz="2000"/>
              <a:t>Inductive Sensors</a:t>
            </a:r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</a:pPr>
            <a:r>
              <a:rPr lang="en-US" altLang="en-US" sz="2000"/>
              <a:t>Capacitive Sensors</a:t>
            </a:r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</a:pPr>
            <a:r>
              <a:rPr lang="en-US" altLang="en-US" sz="2000"/>
              <a:t>Piezoelectric Sensors</a:t>
            </a:r>
          </a:p>
          <a:p>
            <a:pPr lvl="4" eaLnBrk="1" hangingPunct="1">
              <a:lnSpc>
                <a:spcPct val="80000"/>
              </a:lnSpc>
              <a:spcBef>
                <a:spcPct val="15000"/>
              </a:spcBef>
            </a:pPr>
            <a:endParaRPr lang="en-US" altLang="en-US" sz="1600"/>
          </a:p>
          <a:p>
            <a:pPr eaLnBrk="1" hangingPunct="1">
              <a:lnSpc>
                <a:spcPct val="80000"/>
              </a:lnSpc>
              <a:spcBef>
                <a:spcPct val="15000"/>
              </a:spcBef>
            </a:pPr>
            <a:r>
              <a:rPr lang="en-US" altLang="en-US" sz="2400"/>
              <a:t>Secondary Transducers</a:t>
            </a:r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</a:pPr>
            <a:r>
              <a:rPr lang="en-US" altLang="en-US" sz="2000"/>
              <a:t>Wheatstone Bridge</a:t>
            </a:r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</a:pPr>
            <a:r>
              <a:rPr lang="en-US" altLang="en-US" sz="2000"/>
              <a:t>Amplifiers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D29ABC3-B8BA-E479-2E37-E956148562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Strain Gage: Gage Factor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EA35CB1-76F0-5F20-CB56-B3ED94EDD6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en-US" altLang="en-US" sz="2400"/>
              <a:t>Remember: for a strained thin wire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000"/>
              <a:t> </a:t>
            </a:r>
            <a:r>
              <a:rPr lang="en-US" altLang="en-US">
                <a:latin typeface="Symbol" panose="05050102010706020507" pitchFamily="18" charset="2"/>
              </a:rPr>
              <a:t>D</a:t>
            </a:r>
            <a:r>
              <a:rPr lang="en-US" altLang="en-US"/>
              <a:t>R/R = </a:t>
            </a:r>
            <a:r>
              <a:rPr lang="en-US" altLang="en-US">
                <a:latin typeface="Symbol" panose="05050102010706020507" pitchFamily="18" charset="2"/>
              </a:rPr>
              <a:t>D</a:t>
            </a:r>
            <a:r>
              <a:rPr lang="en-US" altLang="en-US"/>
              <a:t>L/L – </a:t>
            </a:r>
            <a:r>
              <a:rPr lang="en-US" altLang="en-US">
                <a:latin typeface="Symbol" panose="05050102010706020507" pitchFamily="18" charset="2"/>
              </a:rPr>
              <a:t>D</a:t>
            </a:r>
            <a:r>
              <a:rPr lang="en-US" altLang="en-US"/>
              <a:t>A/A + </a:t>
            </a:r>
            <a:r>
              <a:rPr lang="en-US" altLang="en-US">
                <a:latin typeface="Symbol" panose="05050102010706020507" pitchFamily="18" charset="2"/>
              </a:rPr>
              <a:t>Dr</a:t>
            </a:r>
            <a:r>
              <a:rPr lang="en-US" altLang="en-US"/>
              <a:t>/</a:t>
            </a:r>
            <a:r>
              <a:rPr lang="en-US" altLang="en-US">
                <a:latin typeface="Symbol" panose="05050102010706020507" pitchFamily="18" charset="2"/>
              </a:rPr>
              <a:t>r</a:t>
            </a:r>
            <a:endParaRPr lang="en-US" altLang="en-US" sz="2000"/>
          </a:p>
          <a:p>
            <a:pPr lvl="2" eaLnBrk="1" hangingPunct="1">
              <a:spcBef>
                <a:spcPct val="10000"/>
              </a:spcBef>
            </a:pPr>
            <a:r>
              <a:rPr lang="en-US" altLang="en-US" sz="1800"/>
              <a:t>A = </a:t>
            </a:r>
            <a:r>
              <a:rPr lang="en-US" altLang="en-US" sz="1800">
                <a:latin typeface="Symbol" panose="05050102010706020507" pitchFamily="18" charset="2"/>
              </a:rPr>
              <a:t>p</a:t>
            </a:r>
            <a:r>
              <a:rPr lang="en-US" altLang="en-US" sz="1800"/>
              <a:t> (D/2)</a:t>
            </a:r>
            <a:r>
              <a:rPr lang="en-US" altLang="en-US" sz="1800" baseline="30000"/>
              <a:t>2</a:t>
            </a:r>
            <a:r>
              <a:rPr lang="en-US" altLang="en-US" sz="1800"/>
              <a:t>, for circular wire</a:t>
            </a:r>
          </a:p>
          <a:p>
            <a:pPr lvl="4" eaLnBrk="1" hangingPunct="1">
              <a:spcBef>
                <a:spcPct val="10000"/>
              </a:spcBef>
            </a:pPr>
            <a:endParaRPr lang="en-US" altLang="en-US" sz="1600"/>
          </a:p>
          <a:p>
            <a:pPr eaLnBrk="1" hangingPunct="1">
              <a:spcBef>
                <a:spcPct val="10000"/>
              </a:spcBef>
            </a:pPr>
            <a:r>
              <a:rPr lang="en-US" altLang="en-US" sz="2400">
                <a:solidFill>
                  <a:srgbClr val="008000"/>
                </a:solidFill>
              </a:rPr>
              <a:t>Poisson’s ratio</a:t>
            </a:r>
            <a:r>
              <a:rPr lang="en-US" altLang="en-US" sz="2400"/>
              <a:t>, </a:t>
            </a:r>
            <a:r>
              <a:rPr lang="en-US" altLang="en-US" sz="2400">
                <a:latin typeface="Symbol" panose="05050102010706020507" pitchFamily="18" charset="2"/>
              </a:rPr>
              <a:t>m</a:t>
            </a:r>
            <a:r>
              <a:rPr lang="en-US" altLang="en-US" sz="2400"/>
              <a:t>: relates change in diameter D to change in length L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000"/>
              <a:t> </a:t>
            </a:r>
            <a:r>
              <a:rPr lang="en-US" altLang="en-US" sz="2000">
                <a:latin typeface="Symbol" panose="05050102010706020507" pitchFamily="18" charset="2"/>
              </a:rPr>
              <a:t>D</a:t>
            </a:r>
            <a:r>
              <a:rPr lang="en-US" altLang="en-US" sz="2000"/>
              <a:t>D/D = - </a:t>
            </a:r>
            <a:r>
              <a:rPr lang="en-US" altLang="en-US" sz="2000">
                <a:latin typeface="Symbol" panose="05050102010706020507" pitchFamily="18" charset="2"/>
              </a:rPr>
              <a:t>m D</a:t>
            </a:r>
            <a:r>
              <a:rPr lang="en-US" altLang="en-US" sz="2000"/>
              <a:t>L/L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en-US" sz="2400"/>
              <a:t>Thus 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000"/>
              <a:t> </a:t>
            </a:r>
            <a:r>
              <a:rPr lang="en-US" altLang="en-US" sz="2000">
                <a:latin typeface="Symbol" panose="05050102010706020507" pitchFamily="18" charset="2"/>
              </a:rPr>
              <a:t>D</a:t>
            </a:r>
            <a:r>
              <a:rPr lang="en-US" altLang="en-US" sz="2000"/>
              <a:t>R/R = (1+2</a:t>
            </a:r>
            <a:r>
              <a:rPr lang="en-US" altLang="en-US" sz="2000">
                <a:latin typeface="Symbol" panose="05050102010706020507" pitchFamily="18" charset="2"/>
              </a:rPr>
              <a:t>m</a:t>
            </a:r>
            <a:r>
              <a:rPr lang="en-US" altLang="en-US" sz="2000"/>
              <a:t>) </a:t>
            </a:r>
            <a:r>
              <a:rPr lang="en-US" altLang="en-US" sz="2000">
                <a:latin typeface="Symbol" panose="05050102010706020507" pitchFamily="18" charset="2"/>
              </a:rPr>
              <a:t>D</a:t>
            </a:r>
            <a:r>
              <a:rPr lang="en-US" altLang="en-US" sz="2000"/>
              <a:t>L/L + </a:t>
            </a:r>
            <a:r>
              <a:rPr lang="en-US" altLang="en-US" sz="2000">
                <a:latin typeface="Symbol" panose="05050102010706020507" pitchFamily="18" charset="2"/>
              </a:rPr>
              <a:t>Dr</a:t>
            </a:r>
            <a:r>
              <a:rPr lang="en-US" altLang="en-US" sz="2000"/>
              <a:t>/</a:t>
            </a:r>
            <a:r>
              <a:rPr lang="en-US" altLang="en-US" sz="2000">
                <a:latin typeface="Symbol" panose="05050102010706020507" pitchFamily="18" charset="2"/>
              </a:rPr>
              <a:t>r</a:t>
            </a:r>
            <a:endParaRPr lang="en-US" altLang="en-US" sz="2000"/>
          </a:p>
          <a:p>
            <a:pPr lvl="1" eaLnBrk="1" hangingPunct="1">
              <a:spcBef>
                <a:spcPct val="10000"/>
              </a:spcBef>
            </a:pPr>
            <a:endParaRPr lang="en-US" altLang="en-US" sz="2000"/>
          </a:p>
          <a:p>
            <a:pPr eaLnBrk="1" hangingPunct="1">
              <a:spcBef>
                <a:spcPct val="10000"/>
              </a:spcBef>
            </a:pPr>
            <a:r>
              <a:rPr lang="en-US" altLang="en-US" sz="2400">
                <a:solidFill>
                  <a:srgbClr val="008000"/>
                </a:solidFill>
              </a:rPr>
              <a:t>Gage Factor</a:t>
            </a:r>
            <a:r>
              <a:rPr lang="en-US" altLang="en-US" sz="2400"/>
              <a:t>, G, used to compare strain-gage materials</a:t>
            </a:r>
          </a:p>
          <a:p>
            <a:pPr lvl="1" eaLnBrk="1" hangingPunct="1">
              <a:spcBef>
                <a:spcPct val="10000"/>
              </a:spcBef>
            </a:pPr>
            <a:endParaRPr lang="en-US" altLang="en-US" sz="2000"/>
          </a:p>
          <a:p>
            <a:pPr lvl="1" eaLnBrk="1" hangingPunct="1">
              <a:spcBef>
                <a:spcPct val="10000"/>
              </a:spcBef>
            </a:pPr>
            <a:r>
              <a:rPr lang="en-US" altLang="en-US" sz="2000"/>
              <a:t>G = </a:t>
            </a:r>
            <a:r>
              <a:rPr lang="en-US" altLang="en-US" sz="2000">
                <a:latin typeface="Symbol" panose="05050102010706020507" pitchFamily="18" charset="2"/>
              </a:rPr>
              <a:t>D</a:t>
            </a:r>
            <a:r>
              <a:rPr lang="en-US" altLang="en-US" sz="2000"/>
              <a:t>R/R = (1+2</a:t>
            </a:r>
            <a:r>
              <a:rPr lang="en-US" altLang="en-US" sz="2000">
                <a:latin typeface="Symbol" panose="05050102010706020507" pitchFamily="18" charset="2"/>
              </a:rPr>
              <a:t>m</a:t>
            </a:r>
            <a:r>
              <a:rPr lang="en-US" altLang="en-US" sz="2000"/>
              <a:t>) + </a:t>
            </a:r>
            <a:r>
              <a:rPr lang="en-US" altLang="en-US" sz="2000">
                <a:latin typeface="Symbol" panose="05050102010706020507" pitchFamily="18" charset="2"/>
              </a:rPr>
              <a:t>Dr</a:t>
            </a:r>
            <a:r>
              <a:rPr lang="en-US" altLang="en-US" sz="2000"/>
              <a:t>/</a:t>
            </a:r>
            <a:r>
              <a:rPr lang="en-US" altLang="en-US" sz="2000">
                <a:latin typeface="Symbol" panose="05050102010706020507" pitchFamily="18" charset="2"/>
              </a:rPr>
              <a:t>r</a:t>
            </a:r>
            <a:endParaRPr lang="en-US" altLang="en-US" sz="2000"/>
          </a:p>
          <a:p>
            <a:pPr lvl="1" eaLnBrk="1" hangingPunct="1">
              <a:spcBef>
                <a:spcPct val="10000"/>
              </a:spcBef>
              <a:buFontTx/>
              <a:buNone/>
            </a:pPr>
            <a:r>
              <a:rPr lang="en-US" altLang="en-US" sz="2000"/>
              <a:t>         </a:t>
            </a:r>
            <a:r>
              <a:rPr lang="en-US" altLang="en-US" sz="2000">
                <a:latin typeface="Symbol" panose="05050102010706020507" pitchFamily="18" charset="2"/>
              </a:rPr>
              <a:t>D</a:t>
            </a:r>
            <a:r>
              <a:rPr lang="en-US" altLang="en-US" sz="2000"/>
              <a:t>L/L                  </a:t>
            </a:r>
            <a:r>
              <a:rPr lang="en-US" altLang="en-US" sz="2000">
                <a:latin typeface="Symbol" panose="05050102010706020507" pitchFamily="18" charset="2"/>
              </a:rPr>
              <a:t>D</a:t>
            </a:r>
            <a:r>
              <a:rPr lang="en-US" altLang="en-US" sz="2000"/>
              <a:t>L/L</a:t>
            </a:r>
          </a:p>
        </p:txBody>
      </p:sp>
      <p:grpSp>
        <p:nvGrpSpPr>
          <p:cNvPr id="12292" name="Group 4">
            <a:extLst>
              <a:ext uri="{FF2B5EF4-FFF2-40B4-BE49-F238E27FC236}">
                <a16:creationId xmlns:a16="http://schemas.microsoft.com/office/drawing/2014/main" id="{A45739FD-F7B9-BF64-E56A-7CD9FBB2135F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1524000"/>
            <a:ext cx="2133600" cy="701675"/>
            <a:chOff x="3888" y="768"/>
            <a:chExt cx="1344" cy="442"/>
          </a:xfrm>
        </p:grpSpPr>
        <p:sp>
          <p:nvSpPr>
            <p:cNvPr id="12297" name="Line 5">
              <a:extLst>
                <a:ext uri="{FF2B5EF4-FFF2-40B4-BE49-F238E27FC236}">
                  <a16:creationId xmlns:a16="http://schemas.microsoft.com/office/drawing/2014/main" id="{795ADE98-A2A5-0F74-2D21-F00CE108AE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862"/>
              <a:ext cx="86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8" name="Text Box 6">
              <a:extLst>
                <a:ext uri="{FF2B5EF4-FFF2-40B4-BE49-F238E27FC236}">
                  <a16:creationId xmlns:a16="http://schemas.microsoft.com/office/drawing/2014/main" id="{A8A08E63-C172-E2D3-4AB3-BC9CFB5EEE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960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i="1"/>
                <a:t>L</a:t>
              </a:r>
            </a:p>
          </p:txBody>
        </p:sp>
        <p:sp>
          <p:nvSpPr>
            <p:cNvPr id="12299" name="Oval 7">
              <a:extLst>
                <a:ext uri="{FF2B5EF4-FFF2-40B4-BE49-F238E27FC236}">
                  <a16:creationId xmlns:a16="http://schemas.microsoft.com/office/drawing/2014/main" id="{EC8D5DE2-F4DA-BA2D-A30F-A7D4A4A66B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09113">
              <a:off x="4128" y="768"/>
              <a:ext cx="288" cy="326"/>
            </a:xfrm>
            <a:prstGeom prst="ellipse">
              <a:avLst/>
            </a:prstGeom>
            <a:solidFill>
              <a:srgbClr val="CCCC00"/>
            </a:solidFill>
            <a:ln w="9525">
              <a:round/>
              <a:headEnd/>
              <a:tailEnd/>
            </a:ln>
            <a:effectLst/>
            <a:scene3d>
              <a:camera prst="legacyPerspectiveFront">
                <a:rot lat="1500000" lon="3300000" rev="0"/>
              </a:camera>
              <a:lightRig rig="legacyFlat2" dir="b"/>
            </a:scene3d>
            <a:sp3d extrusionH="1801800" prstMaterial="legacyMatte">
              <a:bevelT w="13500" h="13500" prst="angle"/>
              <a:bevelB w="13500" h="13500" prst="angle"/>
              <a:extrusionClr>
                <a:srgbClr val="FFFF00"/>
              </a:extrusionClr>
              <a:contourClr>
                <a:srgbClr val="CCCC00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2300" name="Line 8">
              <a:extLst>
                <a:ext uri="{FF2B5EF4-FFF2-40B4-BE49-F238E27FC236}">
                  <a16:creationId xmlns:a16="http://schemas.microsoft.com/office/drawing/2014/main" id="{6C2BCA89-428F-8A71-FAB6-21C72FF76F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006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1" name="Text Box 9">
              <a:extLst>
                <a:ext uri="{FF2B5EF4-FFF2-40B4-BE49-F238E27FC236}">
                  <a16:creationId xmlns:a16="http://schemas.microsoft.com/office/drawing/2014/main" id="{9957446E-7CD6-DEC4-3106-08BC44184D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958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i="1"/>
                <a:t>D</a:t>
              </a:r>
            </a:p>
          </p:txBody>
        </p:sp>
      </p:grpSp>
      <p:sp>
        <p:nvSpPr>
          <p:cNvPr id="12293" name="Line 10">
            <a:extLst>
              <a:ext uri="{FF2B5EF4-FFF2-40B4-BE49-F238E27FC236}">
                <a16:creationId xmlns:a16="http://schemas.microsoft.com/office/drawing/2014/main" id="{E33E946A-A9E1-1303-3213-BCC8ED3CE5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5562600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4" name="Line 11">
            <a:extLst>
              <a:ext uri="{FF2B5EF4-FFF2-40B4-BE49-F238E27FC236}">
                <a16:creationId xmlns:a16="http://schemas.microsoft.com/office/drawing/2014/main" id="{1B237FE3-4B55-1EA5-35E9-6E95A467AE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562600"/>
            <a:ext cx="685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5" name="Text Box 12">
            <a:extLst>
              <a:ext uri="{FF2B5EF4-FFF2-40B4-BE49-F238E27FC236}">
                <a16:creationId xmlns:a16="http://schemas.microsoft.com/office/drawing/2014/main" id="{46872C36-6B11-38E9-3DDA-4F9A18585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191000"/>
            <a:ext cx="1612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Arial" panose="020B0604020202020204" pitchFamily="34" charset="0"/>
              </a:rPr>
              <a:t>dimensional effect</a:t>
            </a:r>
          </a:p>
        </p:txBody>
      </p:sp>
      <p:sp>
        <p:nvSpPr>
          <p:cNvPr id="12296" name="Text Box 13">
            <a:extLst>
              <a:ext uri="{FF2B5EF4-FFF2-40B4-BE49-F238E27FC236}">
                <a16:creationId xmlns:a16="http://schemas.microsoft.com/office/drawing/2014/main" id="{3F451899-7D71-A525-D422-1DD2C107D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191000"/>
            <a:ext cx="17414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Arial" panose="020B0604020202020204" pitchFamily="34" charset="0"/>
              </a:rPr>
              <a:t>piezoresistive effect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FF0CABB-1452-0B07-EE29-B8F60C9E65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Temperature Sensor Options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93880B1-E8AF-BCBE-1F86-424838051F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000"/>
              <a:t>Resistance Temperature Detectors (RTDs)</a:t>
            </a:r>
          </a:p>
          <a:p>
            <a:pPr lvl="1" eaLnBrk="1" hangingPunct="1"/>
            <a:r>
              <a:rPr lang="en-US" altLang="en-US" sz="1800"/>
              <a:t>Platinum, Nickel, Copper metals are typically used</a:t>
            </a:r>
          </a:p>
          <a:p>
            <a:pPr lvl="1" eaLnBrk="1" hangingPunct="1"/>
            <a:r>
              <a:rPr lang="en-US" altLang="en-US" sz="1800"/>
              <a:t>positive temperature coefficients</a:t>
            </a:r>
          </a:p>
          <a:p>
            <a:pPr eaLnBrk="1" hangingPunct="1"/>
            <a:r>
              <a:rPr lang="en-US" altLang="en-US" sz="2000"/>
              <a:t>Thermistors (“thermally sensitive resistor”)</a:t>
            </a:r>
          </a:p>
          <a:p>
            <a:pPr lvl="1" eaLnBrk="1" hangingPunct="1"/>
            <a:r>
              <a:rPr lang="en-US" altLang="en-US" sz="1800"/>
              <a:t>formed from semiconductor materials, not metals</a:t>
            </a:r>
          </a:p>
          <a:p>
            <a:pPr lvl="2" eaLnBrk="1" hangingPunct="1"/>
            <a:r>
              <a:rPr lang="en-US" altLang="en-US" sz="1600"/>
              <a:t>often composite of a ceramic and a metallic oxide (Mn, Co, Cu or Fe)</a:t>
            </a:r>
          </a:p>
          <a:p>
            <a:pPr lvl="1" eaLnBrk="1" hangingPunct="1"/>
            <a:r>
              <a:rPr lang="en-US" altLang="en-US" sz="1800"/>
              <a:t>typically have negative temperature coefficients</a:t>
            </a:r>
          </a:p>
          <a:p>
            <a:pPr eaLnBrk="1" hangingPunct="1"/>
            <a:r>
              <a:rPr lang="en-US" altLang="en-US" sz="2000" b="1"/>
              <a:t>Thermocouples</a:t>
            </a:r>
          </a:p>
          <a:p>
            <a:pPr lvl="1" eaLnBrk="1" hangingPunct="1"/>
            <a:r>
              <a:rPr lang="en-US" altLang="en-US" sz="1800"/>
              <a:t>based on the Seebeck effect: dissimilar metals at diff. temps. </a:t>
            </a:r>
            <a:r>
              <a:rPr lang="en-US" altLang="en-US" sz="1800">
                <a:sym typeface="Wingdings" panose="05000000000000000000" pitchFamily="2" charset="2"/>
              </a:rPr>
              <a:t> signal</a:t>
            </a:r>
            <a:endParaRPr lang="en-US" altLang="en-US" sz="1600"/>
          </a:p>
        </p:txBody>
      </p:sp>
      <p:pic>
        <p:nvPicPr>
          <p:cNvPr id="14340" name="Picture 5">
            <a:extLst>
              <a:ext uri="{FF2B5EF4-FFF2-40B4-BE49-F238E27FC236}">
                <a16:creationId xmlns:a16="http://schemas.microsoft.com/office/drawing/2014/main" id="{78E6BDC2-223B-4037-7E0B-F37C8C632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2209800"/>
            <a:ext cx="16573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1" name="Picture 6">
            <a:extLst>
              <a:ext uri="{FF2B5EF4-FFF2-40B4-BE49-F238E27FC236}">
                <a16:creationId xmlns:a16="http://schemas.microsoft.com/office/drawing/2014/main" id="{2501E46C-A880-04CD-C5B0-10D4C883F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676400"/>
            <a:ext cx="3219450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2" name="Picture 7">
            <a:extLst>
              <a:ext uri="{FF2B5EF4-FFF2-40B4-BE49-F238E27FC236}">
                <a16:creationId xmlns:a16="http://schemas.microsoft.com/office/drawing/2014/main" id="{7411BD07-A587-46B2-C630-04BF35888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962400"/>
            <a:ext cx="2743200" cy="103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3" name="Picture 4">
            <a:extLst>
              <a:ext uri="{FF2B5EF4-FFF2-40B4-BE49-F238E27FC236}">
                <a16:creationId xmlns:a16="http://schemas.microsoft.com/office/drawing/2014/main" id="{7B29F3D8-7D05-3205-619F-6745B483A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495800"/>
            <a:ext cx="6102350" cy="177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743DCC1-3ADB-ECA1-F464-0F8E5657F2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Fiber-optic Temperature Sensor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F9791720-EE26-40A6-BA7B-AE073A25E5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en-US" sz="2400"/>
              <a:t>Sensor operation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en-US" sz="2000"/>
              <a:t>small prism-shaped sample of single-crystal undoped GaAs attached to ends of two optical fibers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en-US" sz="2000"/>
              <a:t>light energy absorbed by the GaAs crystal depends on temperature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en-US" sz="2000"/>
              <a:t>percentage of received vs. transmitted energy is a function of temperature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en-US" sz="2400"/>
              <a:t>Can be made small enough for biological implantation</a:t>
            </a:r>
          </a:p>
        </p:txBody>
      </p:sp>
      <p:pic>
        <p:nvPicPr>
          <p:cNvPr id="15364" name="Picture 4" descr="Figure 2">
            <a:extLst>
              <a:ext uri="{FF2B5EF4-FFF2-40B4-BE49-F238E27FC236}">
                <a16:creationId xmlns:a16="http://schemas.microsoft.com/office/drawing/2014/main" id="{95DC95AA-FB11-8FD9-2146-BC8ECC557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733800"/>
            <a:ext cx="60198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Text Box 5" descr="Dashed downward diagonal">
            <a:extLst>
              <a:ext uri="{FF2B5EF4-FFF2-40B4-BE49-F238E27FC236}">
                <a16:creationId xmlns:a16="http://schemas.microsoft.com/office/drawing/2014/main" id="{A12545DD-9B2B-44B5-F867-5AD648F77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943600"/>
            <a:ext cx="4079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chemeClr val="accent2"/>
                </a:solidFill>
                <a:latin typeface="Arial" panose="020B0604020202020204" pitchFamily="34" charset="0"/>
              </a:rPr>
              <a:t>GaAs semiconductor temperature probe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5E83FCB-49AA-5BE1-0156-F489AF9714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MEMS Transducers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44C89885-510A-FB01-FA3B-1813416F2EA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914400"/>
            <a:ext cx="7620000" cy="5410200"/>
          </a:xfrm>
        </p:spPr>
        <p:txBody>
          <a:bodyPr/>
          <a:lstStyle/>
          <a:p>
            <a:pPr eaLnBrk="1" hangingPunct="1"/>
            <a:r>
              <a:rPr lang="en-US" altLang="en-US" sz="2000"/>
              <a:t>MEMS = micro-electro-mechanical system</a:t>
            </a:r>
          </a:p>
          <a:p>
            <a:pPr lvl="1" eaLnBrk="1" hangingPunct="1"/>
            <a:r>
              <a:rPr lang="en-US" altLang="en-US" sz="1800"/>
              <a:t>miniature transducers created using IC fabrication processes</a:t>
            </a:r>
          </a:p>
          <a:p>
            <a:pPr eaLnBrk="1" hangingPunct="1"/>
            <a:r>
              <a:rPr lang="en-US" altLang="en-US" sz="2000"/>
              <a:t>Microaccelerometer</a:t>
            </a:r>
          </a:p>
          <a:p>
            <a:pPr lvl="1" eaLnBrk="1" hangingPunct="1"/>
            <a:r>
              <a:rPr lang="en-US" altLang="en-US" sz="1800"/>
              <a:t>cantilever beam</a:t>
            </a:r>
          </a:p>
          <a:p>
            <a:pPr lvl="1" eaLnBrk="1" hangingPunct="1"/>
            <a:r>
              <a:rPr lang="en-US" altLang="en-US" sz="1800"/>
              <a:t>suspended mass</a:t>
            </a:r>
          </a:p>
          <a:p>
            <a:pPr eaLnBrk="1" hangingPunct="1"/>
            <a:endParaRPr lang="en-US" altLang="en-US" sz="2000"/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Rotation</a:t>
            </a:r>
          </a:p>
          <a:p>
            <a:pPr lvl="1" eaLnBrk="1" hangingPunct="1"/>
            <a:r>
              <a:rPr lang="en-US" altLang="en-US" sz="1800"/>
              <a:t>gyroscope</a:t>
            </a:r>
          </a:p>
          <a:p>
            <a:pPr eaLnBrk="1" hangingPunct="1"/>
            <a:endParaRPr lang="en-US" altLang="en-US" sz="2000"/>
          </a:p>
          <a:p>
            <a:pPr eaLnBrk="1" hangingPunct="1"/>
            <a:endParaRPr lang="en-US" altLang="en-US" sz="2000"/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Pressure</a:t>
            </a:r>
          </a:p>
        </p:txBody>
      </p:sp>
      <p:pic>
        <p:nvPicPr>
          <p:cNvPr id="17412" name="Picture 4">
            <a:extLst>
              <a:ext uri="{FF2B5EF4-FFF2-40B4-BE49-F238E27FC236}">
                <a16:creationId xmlns:a16="http://schemas.microsoft.com/office/drawing/2014/main" id="{33C6456F-1A62-A790-4AF7-E918DDF7C461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600200"/>
            <a:ext cx="27432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7413" name="Object 5">
            <a:extLst>
              <a:ext uri="{FF2B5EF4-FFF2-40B4-BE49-F238E27FC236}">
                <a16:creationId xmlns:a16="http://schemas.microsoft.com/office/drawing/2014/main" id="{9E2B3965-A598-D670-6639-4E94258B808A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2514600" y="3352800"/>
          <a:ext cx="2495550" cy="185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087112" imgH="3784092" progId="Word.Document.8">
                  <p:embed/>
                </p:oleObj>
              </mc:Choice>
              <mc:Fallback>
                <p:oleObj name="Document" r:id="rId3" imgW="5087112" imgH="3784092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352800"/>
                        <a:ext cx="2495550" cy="185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14" name="Group 17">
            <a:extLst>
              <a:ext uri="{FF2B5EF4-FFF2-40B4-BE49-F238E27FC236}">
                <a16:creationId xmlns:a16="http://schemas.microsoft.com/office/drawing/2014/main" id="{83043FBA-6D1B-4C8B-79EE-DDE4281808C7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5486400"/>
            <a:ext cx="3690938" cy="828675"/>
            <a:chOff x="1776" y="3360"/>
            <a:chExt cx="2325" cy="522"/>
          </a:xfrm>
        </p:grpSpPr>
        <p:sp>
          <p:nvSpPr>
            <p:cNvPr id="17419" name="Rectangle 8">
              <a:extLst>
                <a:ext uri="{FF2B5EF4-FFF2-40B4-BE49-F238E27FC236}">
                  <a16:creationId xmlns:a16="http://schemas.microsoft.com/office/drawing/2014/main" id="{A3F8A004-3CE7-1DAB-262F-324995E03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658"/>
              <a:ext cx="2325" cy="182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600">
                <a:latin typeface="Times New Roman" panose="02020603050405020304" pitchFamily="18" charset="0"/>
              </a:endParaRPr>
            </a:p>
          </p:txBody>
        </p:sp>
        <p:sp>
          <p:nvSpPr>
            <p:cNvPr id="17420" name="Rectangle 9">
              <a:extLst>
                <a:ext uri="{FF2B5EF4-FFF2-40B4-BE49-F238E27FC236}">
                  <a16:creationId xmlns:a16="http://schemas.microsoft.com/office/drawing/2014/main" id="{E3D7E639-02E2-79AF-5BA5-8124A6EC9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8" y="3645"/>
              <a:ext cx="1441" cy="1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7421" name="Freeform 10">
              <a:extLst>
                <a:ext uri="{FF2B5EF4-FFF2-40B4-BE49-F238E27FC236}">
                  <a16:creationId xmlns:a16="http://schemas.microsoft.com/office/drawing/2014/main" id="{4D4704B9-A87D-9297-2E4C-03CFE8157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" y="3632"/>
              <a:ext cx="456" cy="25"/>
            </a:xfrm>
            <a:custGeom>
              <a:avLst/>
              <a:gdLst>
                <a:gd name="T0" fmla="*/ 0 w 817"/>
                <a:gd name="T1" fmla="*/ 0 h 97"/>
                <a:gd name="T2" fmla="*/ 12 w 817"/>
                <a:gd name="T3" fmla="*/ 0 h 97"/>
                <a:gd name="T4" fmla="*/ 12 w 817"/>
                <a:gd name="T5" fmla="*/ 0 h 97"/>
                <a:gd name="T6" fmla="*/ 14 w 817"/>
                <a:gd name="T7" fmla="*/ 0 h 97"/>
                <a:gd name="T8" fmla="*/ 14 w 817"/>
                <a:gd name="T9" fmla="*/ 0 h 97"/>
                <a:gd name="T10" fmla="*/ 11 w 817"/>
                <a:gd name="T11" fmla="*/ 0 h 97"/>
                <a:gd name="T12" fmla="*/ 11 w 817"/>
                <a:gd name="T13" fmla="*/ 0 h 97"/>
                <a:gd name="T14" fmla="*/ 0 w 817"/>
                <a:gd name="T15" fmla="*/ 0 h 97"/>
                <a:gd name="T16" fmla="*/ 0 w 817"/>
                <a:gd name="T17" fmla="*/ 0 h 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17" h="97">
                  <a:moveTo>
                    <a:pt x="0" y="96"/>
                  </a:moveTo>
                  <a:lnTo>
                    <a:pt x="720" y="96"/>
                  </a:lnTo>
                  <a:lnTo>
                    <a:pt x="720" y="48"/>
                  </a:lnTo>
                  <a:lnTo>
                    <a:pt x="816" y="48"/>
                  </a:lnTo>
                  <a:lnTo>
                    <a:pt x="816" y="0"/>
                  </a:lnTo>
                  <a:lnTo>
                    <a:pt x="672" y="0"/>
                  </a:lnTo>
                  <a:lnTo>
                    <a:pt x="672" y="48"/>
                  </a:lnTo>
                  <a:lnTo>
                    <a:pt x="0" y="48"/>
                  </a:lnTo>
                  <a:lnTo>
                    <a:pt x="0" y="96"/>
                  </a:lnTo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2" name="Freeform 11">
              <a:extLst>
                <a:ext uri="{FF2B5EF4-FFF2-40B4-BE49-F238E27FC236}">
                  <a16:creationId xmlns:a16="http://schemas.microsoft.com/office/drawing/2014/main" id="{64AED855-B491-E029-AD05-8939AC4573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6" y="3633"/>
              <a:ext cx="545" cy="25"/>
            </a:xfrm>
            <a:custGeom>
              <a:avLst/>
              <a:gdLst>
                <a:gd name="T0" fmla="*/ 16 w 977"/>
                <a:gd name="T1" fmla="*/ 0 h 97"/>
                <a:gd name="T2" fmla="*/ 2 w 977"/>
                <a:gd name="T3" fmla="*/ 0 h 97"/>
                <a:gd name="T4" fmla="*/ 2 w 977"/>
                <a:gd name="T5" fmla="*/ 0 h 97"/>
                <a:gd name="T6" fmla="*/ 0 w 977"/>
                <a:gd name="T7" fmla="*/ 0 h 97"/>
                <a:gd name="T8" fmla="*/ 0 w 977"/>
                <a:gd name="T9" fmla="*/ 0 h 97"/>
                <a:gd name="T10" fmla="*/ 3 w 977"/>
                <a:gd name="T11" fmla="*/ 0 h 97"/>
                <a:gd name="T12" fmla="*/ 3 w 977"/>
                <a:gd name="T13" fmla="*/ 0 h 97"/>
                <a:gd name="T14" fmla="*/ 16 w 977"/>
                <a:gd name="T15" fmla="*/ 0 h 97"/>
                <a:gd name="T16" fmla="*/ 16 w 977"/>
                <a:gd name="T17" fmla="*/ 0 h 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77" h="97">
                  <a:moveTo>
                    <a:pt x="976" y="96"/>
                  </a:moveTo>
                  <a:lnTo>
                    <a:pt x="115" y="96"/>
                  </a:lnTo>
                  <a:lnTo>
                    <a:pt x="115" y="48"/>
                  </a:lnTo>
                  <a:lnTo>
                    <a:pt x="0" y="48"/>
                  </a:lnTo>
                  <a:lnTo>
                    <a:pt x="0" y="0"/>
                  </a:lnTo>
                  <a:lnTo>
                    <a:pt x="172" y="0"/>
                  </a:lnTo>
                  <a:lnTo>
                    <a:pt x="172" y="48"/>
                  </a:lnTo>
                  <a:lnTo>
                    <a:pt x="976" y="48"/>
                  </a:lnTo>
                  <a:lnTo>
                    <a:pt x="976" y="96"/>
                  </a:lnTo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3" name="Freeform 12">
              <a:extLst>
                <a:ext uri="{FF2B5EF4-FFF2-40B4-BE49-F238E27FC236}">
                  <a16:creationId xmlns:a16="http://schemas.microsoft.com/office/drawing/2014/main" id="{EF8AEE3A-29D7-D63A-2970-5F9136B96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1" y="3584"/>
              <a:ext cx="1794" cy="62"/>
            </a:xfrm>
            <a:custGeom>
              <a:avLst/>
              <a:gdLst>
                <a:gd name="T0" fmla="*/ 0 w 3217"/>
                <a:gd name="T1" fmla="*/ 0 h 241"/>
                <a:gd name="T2" fmla="*/ 6 w 3217"/>
                <a:gd name="T3" fmla="*/ 0 h 241"/>
                <a:gd name="T4" fmla="*/ 6 w 3217"/>
                <a:gd name="T5" fmla="*/ 0 h 241"/>
                <a:gd name="T6" fmla="*/ 7 w 3217"/>
                <a:gd name="T7" fmla="*/ 0 h 241"/>
                <a:gd name="T8" fmla="*/ 7 w 3217"/>
                <a:gd name="T9" fmla="*/ 0 h 241"/>
                <a:gd name="T10" fmla="*/ 49 w 3217"/>
                <a:gd name="T11" fmla="*/ 0 h 241"/>
                <a:gd name="T12" fmla="*/ 49 w 3217"/>
                <a:gd name="T13" fmla="*/ 0 h 241"/>
                <a:gd name="T14" fmla="*/ 51 w 3217"/>
                <a:gd name="T15" fmla="*/ 0 h 241"/>
                <a:gd name="T16" fmla="*/ 51 w 3217"/>
                <a:gd name="T17" fmla="*/ 0 h 241"/>
                <a:gd name="T18" fmla="*/ 54 w 3217"/>
                <a:gd name="T19" fmla="*/ 0 h 241"/>
                <a:gd name="T20" fmla="*/ 54 w 3217"/>
                <a:gd name="T21" fmla="*/ 0 h 241"/>
                <a:gd name="T22" fmla="*/ 52 w 3217"/>
                <a:gd name="T23" fmla="*/ 0 h 241"/>
                <a:gd name="T24" fmla="*/ 51 w 3217"/>
                <a:gd name="T25" fmla="*/ 0 h 241"/>
                <a:gd name="T26" fmla="*/ 6 w 3217"/>
                <a:gd name="T27" fmla="*/ 0 h 241"/>
                <a:gd name="T28" fmla="*/ 4 w 3217"/>
                <a:gd name="T29" fmla="*/ 0 h 241"/>
                <a:gd name="T30" fmla="*/ 0 w 3217"/>
                <a:gd name="T31" fmla="*/ 0 h 241"/>
                <a:gd name="T32" fmla="*/ 0 w 3217"/>
                <a:gd name="T33" fmla="*/ 0 h 24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217" h="241">
                  <a:moveTo>
                    <a:pt x="0" y="240"/>
                  </a:moveTo>
                  <a:lnTo>
                    <a:pt x="336" y="240"/>
                  </a:lnTo>
                  <a:lnTo>
                    <a:pt x="336" y="192"/>
                  </a:lnTo>
                  <a:lnTo>
                    <a:pt x="432" y="192"/>
                  </a:lnTo>
                  <a:lnTo>
                    <a:pt x="432" y="96"/>
                  </a:lnTo>
                  <a:lnTo>
                    <a:pt x="2928" y="96"/>
                  </a:lnTo>
                  <a:lnTo>
                    <a:pt x="2928" y="192"/>
                  </a:lnTo>
                  <a:lnTo>
                    <a:pt x="3024" y="192"/>
                  </a:lnTo>
                  <a:lnTo>
                    <a:pt x="3024" y="240"/>
                  </a:lnTo>
                  <a:lnTo>
                    <a:pt x="3216" y="240"/>
                  </a:lnTo>
                  <a:lnTo>
                    <a:pt x="3216" y="144"/>
                  </a:lnTo>
                  <a:lnTo>
                    <a:pt x="3120" y="144"/>
                  </a:lnTo>
                  <a:lnTo>
                    <a:pt x="3024" y="0"/>
                  </a:lnTo>
                  <a:lnTo>
                    <a:pt x="336" y="0"/>
                  </a:lnTo>
                  <a:lnTo>
                    <a:pt x="240" y="144"/>
                  </a:lnTo>
                  <a:lnTo>
                    <a:pt x="0" y="144"/>
                  </a:lnTo>
                  <a:lnTo>
                    <a:pt x="0" y="240"/>
                  </a:lnTo>
                </a:path>
              </a:pathLst>
            </a:custGeom>
            <a:blipFill dpi="0" rotWithShape="0">
              <a:blip r:embed="rId6"/>
              <a:srcRect/>
              <a:tile tx="0" ty="0" sx="100000" sy="100000" flip="none" algn="tl"/>
            </a:blip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4" name="Rectangle 13">
              <a:extLst>
                <a:ext uri="{FF2B5EF4-FFF2-40B4-BE49-F238E27FC236}">
                  <a16:creationId xmlns:a16="http://schemas.microsoft.com/office/drawing/2014/main" id="{DBED7D24-1EE5-F776-1EE6-499938375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3360"/>
              <a:ext cx="1653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solidFill>
                    <a:srgbClr val="000099"/>
                  </a:solidFill>
                  <a:latin typeface="Arial" panose="020B0604020202020204" pitchFamily="34" charset="0"/>
                </a:rPr>
                <a:t>Diaphragm (Upper electrode)</a:t>
              </a:r>
            </a:p>
          </p:txBody>
        </p:sp>
        <p:sp>
          <p:nvSpPr>
            <p:cNvPr id="17425" name="Line 14">
              <a:extLst>
                <a:ext uri="{FF2B5EF4-FFF2-40B4-BE49-F238E27FC236}">
                  <a16:creationId xmlns:a16="http://schemas.microsoft.com/office/drawing/2014/main" id="{E88355D8-4139-800B-7E48-8FA495905B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4" y="3552"/>
              <a:ext cx="108" cy="3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6" name="Rectangle 15">
              <a:extLst>
                <a:ext uri="{FF2B5EF4-FFF2-40B4-BE49-F238E27FC236}">
                  <a16:creationId xmlns:a16="http://schemas.microsoft.com/office/drawing/2014/main" id="{47C91E4C-A0CE-FF35-3665-DC7F46D0B8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9" y="3692"/>
              <a:ext cx="9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Lower electrode</a:t>
              </a:r>
            </a:p>
          </p:txBody>
        </p:sp>
        <p:sp>
          <p:nvSpPr>
            <p:cNvPr id="17427" name="Line 16">
              <a:extLst>
                <a:ext uri="{FF2B5EF4-FFF2-40B4-BE49-F238E27FC236}">
                  <a16:creationId xmlns:a16="http://schemas.microsoft.com/office/drawing/2014/main" id="{C47B9814-5AA4-97F0-6AEE-7EAE51F4EB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7" y="3668"/>
              <a:ext cx="188" cy="2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7415" name="Picture 18">
            <a:extLst>
              <a:ext uri="{FF2B5EF4-FFF2-40B4-BE49-F238E27FC236}">
                <a16:creationId xmlns:a16="http://schemas.microsoft.com/office/drawing/2014/main" id="{282D19BA-EDAB-E7A3-BC5C-9465A6CB4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4419600"/>
            <a:ext cx="18669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6" name="Line 19">
            <a:extLst>
              <a:ext uri="{FF2B5EF4-FFF2-40B4-BE49-F238E27FC236}">
                <a16:creationId xmlns:a16="http://schemas.microsoft.com/office/drawing/2014/main" id="{BE164745-3EDD-4A1D-5DA1-1AA0A50F906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60960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7" name="Text Box 20">
            <a:extLst>
              <a:ext uri="{FF2B5EF4-FFF2-40B4-BE49-F238E27FC236}">
                <a16:creationId xmlns:a16="http://schemas.microsoft.com/office/drawing/2014/main" id="{575B4F9C-2385-F7F6-8005-20AF573E0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6019800"/>
            <a:ext cx="9525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5-10mm</a:t>
            </a:r>
          </a:p>
        </p:txBody>
      </p:sp>
      <p:graphicFrame>
        <p:nvGraphicFramePr>
          <p:cNvPr id="17418" name="Object 23">
            <a:extLst>
              <a:ext uri="{FF2B5EF4-FFF2-40B4-BE49-F238E27FC236}">
                <a16:creationId xmlns:a16="http://schemas.microsoft.com/office/drawing/2014/main" id="{FF12A5BF-DE64-994B-BEE2-3BFDB51BAB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0800" y="1905000"/>
          <a:ext cx="2590800" cy="207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4887468" imgH="3906012" progId="Word.Document.8">
                  <p:embed/>
                </p:oleObj>
              </mc:Choice>
              <mc:Fallback>
                <p:oleObj name="Document" r:id="rId8" imgW="4887468" imgH="3906012" progId="Word.Document.8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905000"/>
                        <a:ext cx="2590800" cy="207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6">
            <a:extLst>
              <a:ext uri="{FF2B5EF4-FFF2-40B4-BE49-F238E27FC236}">
                <a16:creationId xmlns:a16="http://schemas.microsoft.com/office/drawing/2014/main" id="{3F31B1B4-6CBE-303B-DC7A-A60A0998C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667000"/>
            <a:ext cx="4011613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435" name="Rectangle 2">
            <a:extLst>
              <a:ext uri="{FF2B5EF4-FFF2-40B4-BE49-F238E27FC236}">
                <a16:creationId xmlns:a16="http://schemas.microsoft.com/office/drawing/2014/main" id="{3AF40BDF-358F-11E8-A59F-7ADB6D69CC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Passive Sensor Readout Circuit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CD9CCE75-EC78-2EDE-C994-1FF1A21F66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7086600" cy="541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Photodiode Circuits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Thermistor Half-Bridge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voltage divider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one element varies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Wheatstone Bridge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R3 = resistive sensor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R4 is matched to nominal value of R3</a:t>
            </a:r>
          </a:p>
          <a:p>
            <a:pPr lvl="1" eaLnBrk="1" hangingPunct="1">
              <a:lnSpc>
                <a:spcPct val="90000"/>
              </a:lnSpc>
              <a:spcBef>
                <a:spcPct val="15000"/>
              </a:spcBef>
            </a:pPr>
            <a:r>
              <a:rPr lang="en-US" altLang="en-US" sz="1800"/>
              <a:t>If R</a:t>
            </a:r>
            <a:r>
              <a:rPr lang="en-US" altLang="en-US" sz="1800" baseline="-25000"/>
              <a:t>1</a:t>
            </a:r>
            <a:r>
              <a:rPr lang="en-US" altLang="en-US" sz="1800"/>
              <a:t> = R</a:t>
            </a:r>
            <a:r>
              <a:rPr lang="en-US" altLang="en-US" sz="1800" baseline="-25000"/>
              <a:t>2</a:t>
            </a:r>
            <a:r>
              <a:rPr lang="en-US" altLang="en-US" sz="1800"/>
              <a:t>, V</a:t>
            </a:r>
            <a:r>
              <a:rPr lang="en-US" altLang="en-US" sz="1800" baseline="-25000"/>
              <a:t>out-nominal</a:t>
            </a:r>
            <a:r>
              <a:rPr lang="en-US" altLang="en-US" sz="1800"/>
              <a:t> = 0</a:t>
            </a:r>
          </a:p>
          <a:p>
            <a:pPr lvl="1" eaLnBrk="1" hangingPunct="1">
              <a:lnSpc>
                <a:spcPct val="90000"/>
              </a:lnSpc>
              <a:spcBef>
                <a:spcPct val="15000"/>
              </a:spcBef>
            </a:pPr>
            <a:r>
              <a:rPr lang="en-US" altLang="en-US" sz="1800"/>
              <a:t>V</a:t>
            </a:r>
            <a:r>
              <a:rPr lang="en-US" altLang="en-US" sz="1800" baseline="-25000"/>
              <a:t>out </a:t>
            </a:r>
            <a:r>
              <a:rPr lang="en-US" altLang="en-US" sz="1800"/>
              <a:t>varies as R</a:t>
            </a:r>
            <a:r>
              <a:rPr lang="en-US" altLang="en-US" sz="1800" baseline="-25000"/>
              <a:t>3</a:t>
            </a:r>
            <a:r>
              <a:rPr lang="en-US" altLang="en-US" sz="1800"/>
              <a:t> changes</a:t>
            </a:r>
          </a:p>
        </p:txBody>
      </p:sp>
      <p:pic>
        <p:nvPicPr>
          <p:cNvPr id="18437" name="Picture 4">
            <a:extLst>
              <a:ext uri="{FF2B5EF4-FFF2-40B4-BE49-F238E27FC236}">
                <a16:creationId xmlns:a16="http://schemas.microsoft.com/office/drawing/2014/main" id="{700AAD0C-32DA-BE24-3789-71B2E290D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1550988"/>
            <a:ext cx="4183062" cy="113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8" name="Picture 5">
            <a:extLst>
              <a:ext uri="{FF2B5EF4-FFF2-40B4-BE49-F238E27FC236}">
                <a16:creationId xmlns:a16="http://schemas.microsoft.com/office/drawing/2014/main" id="{725BE9AE-F8CC-7949-7BEA-EC8745950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7600" y="914400"/>
            <a:ext cx="4216400" cy="170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9" name="Picture 7">
            <a:extLst>
              <a:ext uri="{FF2B5EF4-FFF2-40B4-BE49-F238E27FC236}">
                <a16:creationId xmlns:a16="http://schemas.microsoft.com/office/drawing/2014/main" id="{A7D9582E-6DEE-5D9C-9A4D-331C4F22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4724400"/>
            <a:ext cx="2297113" cy="1443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40" name="Picture 8">
            <a:extLst>
              <a:ext uri="{FF2B5EF4-FFF2-40B4-BE49-F238E27FC236}">
                <a16:creationId xmlns:a16="http://schemas.microsoft.com/office/drawing/2014/main" id="{EDFBFC24-E8CD-23CB-9F89-A54C7D96A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5715000"/>
            <a:ext cx="2382838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441" name="Text Box 9">
            <a:extLst>
              <a:ext uri="{FF2B5EF4-FFF2-40B4-BE49-F238E27FC236}">
                <a16:creationId xmlns:a16="http://schemas.microsoft.com/office/drawing/2014/main" id="{87100F60-D7D3-BA46-021F-82473B6A9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5334000"/>
            <a:ext cx="6111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VCC</a:t>
            </a:r>
          </a:p>
        </p:txBody>
      </p:sp>
      <p:sp>
        <p:nvSpPr>
          <p:cNvPr id="18442" name="Text Box 10">
            <a:extLst>
              <a:ext uri="{FF2B5EF4-FFF2-40B4-BE49-F238E27FC236}">
                <a16:creationId xmlns:a16="http://schemas.microsoft.com/office/drawing/2014/main" id="{5D3AEA80-10CE-2ECC-EA63-D6D60AADF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6019800"/>
            <a:ext cx="685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R</a:t>
            </a:r>
            <a:r>
              <a:rPr lang="en-US" altLang="en-US" sz="900" b="1">
                <a:latin typeface="Arial" panose="020B0604020202020204" pitchFamily="34" charset="0"/>
              </a:rPr>
              <a:t>1</a:t>
            </a:r>
            <a:r>
              <a:rPr lang="en-US" altLang="en-US" sz="1200" b="1">
                <a:latin typeface="Arial" panose="020B0604020202020204" pitchFamily="34" charset="0"/>
              </a:rPr>
              <a:t>+</a:t>
            </a:r>
            <a:r>
              <a:rPr lang="en-US" altLang="en-US" sz="1400" b="1">
                <a:latin typeface="Arial" panose="020B0604020202020204" pitchFamily="34" charset="0"/>
              </a:rPr>
              <a:t>R</a:t>
            </a:r>
            <a:r>
              <a:rPr lang="en-US" altLang="en-US" sz="900" b="1">
                <a:latin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CDF4C25-3FB8-EE70-9067-C63EF53634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Operational Amplifiers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1CEA580B-58A7-3E71-CF9D-2C544D9D78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73038" indent="-173038" eaLnBrk="1" hangingPunct="1">
              <a:lnSpc>
                <a:spcPct val="90000"/>
              </a:lnSpc>
            </a:pPr>
            <a:r>
              <a:rPr lang="en-US" altLang="en-US" sz="2400">
                <a:solidFill>
                  <a:srgbClr val="008000"/>
                </a:solidFill>
              </a:rPr>
              <a:t>Properties</a:t>
            </a:r>
          </a:p>
          <a:p>
            <a:pPr marL="461963" lvl="1" indent="-174625" eaLnBrk="1" hangingPunct="1">
              <a:lnSpc>
                <a:spcPct val="90000"/>
              </a:lnSpc>
            </a:pPr>
            <a:r>
              <a:rPr lang="en-US" altLang="en-US" sz="2000" u="sng"/>
              <a:t>open-loop gain</a:t>
            </a:r>
            <a:r>
              <a:rPr lang="en-US" altLang="en-US" sz="2000"/>
              <a:t>: ideally infinite: practical values 20k-200k</a:t>
            </a:r>
          </a:p>
          <a:p>
            <a:pPr marL="741363" lvl="2" indent="-115888" eaLnBrk="1" hangingPunct="1">
              <a:lnSpc>
                <a:spcPct val="90000"/>
              </a:lnSpc>
            </a:pPr>
            <a:r>
              <a:rPr lang="en-US" altLang="en-US" sz="1800"/>
              <a:t>high open-loop gain </a:t>
            </a:r>
            <a:r>
              <a:rPr lang="en-US" altLang="en-US" sz="1800">
                <a:sym typeface="Wingdings" panose="05000000000000000000" pitchFamily="2" charset="2"/>
              </a:rPr>
              <a:t> virtual short between + and - inputs</a:t>
            </a:r>
            <a:endParaRPr lang="en-US" altLang="en-US" sz="1800"/>
          </a:p>
          <a:p>
            <a:pPr marL="461963" lvl="1" indent="-174625" eaLnBrk="1" hangingPunct="1">
              <a:lnSpc>
                <a:spcPct val="90000"/>
              </a:lnSpc>
            </a:pPr>
            <a:r>
              <a:rPr lang="en-US" altLang="en-US" sz="2000" u="sng"/>
              <a:t>input impedance</a:t>
            </a:r>
            <a:r>
              <a:rPr lang="en-US" altLang="en-US" sz="2000"/>
              <a:t>: ideally infinite: CMOS opamps are close to ideal</a:t>
            </a:r>
          </a:p>
          <a:p>
            <a:pPr marL="461963" lvl="1" indent="-174625" eaLnBrk="1" hangingPunct="1">
              <a:lnSpc>
                <a:spcPct val="90000"/>
              </a:lnSpc>
            </a:pPr>
            <a:r>
              <a:rPr lang="en-US" altLang="en-US" sz="2000" u="sng"/>
              <a:t>output impedance</a:t>
            </a:r>
            <a:r>
              <a:rPr lang="en-US" altLang="en-US" sz="2000"/>
              <a:t>: ideally zero: practical values 20-100</a:t>
            </a:r>
            <a:r>
              <a:rPr lang="en-US" altLang="en-US" sz="2000">
                <a:sym typeface="Symbol" panose="05050102010706020507" pitchFamily="18" charset="2"/>
              </a:rPr>
              <a:t></a:t>
            </a:r>
          </a:p>
          <a:p>
            <a:pPr marL="461963" lvl="1" indent="-174625" eaLnBrk="1" hangingPunct="1">
              <a:lnSpc>
                <a:spcPct val="90000"/>
              </a:lnSpc>
            </a:pPr>
            <a:r>
              <a:rPr lang="en-US" altLang="en-US" sz="2000" u="sng"/>
              <a:t>zero output offset</a:t>
            </a:r>
            <a:r>
              <a:rPr lang="en-US" altLang="en-US" sz="2000"/>
              <a:t>: ideally zero: practical value &lt;1mV</a:t>
            </a:r>
          </a:p>
          <a:p>
            <a:pPr marL="461963" lvl="1" indent="-174625" eaLnBrk="1" hangingPunct="1">
              <a:lnSpc>
                <a:spcPct val="90000"/>
              </a:lnSpc>
            </a:pPr>
            <a:r>
              <a:rPr lang="en-US" altLang="en-US" sz="2000" u="sng"/>
              <a:t>gain-bandwidth product (GB)</a:t>
            </a:r>
            <a:r>
              <a:rPr lang="en-US" altLang="en-US" sz="2000"/>
              <a:t>: practical values ~MHz</a:t>
            </a:r>
          </a:p>
          <a:p>
            <a:pPr marL="741363" lvl="2" indent="-115888" eaLnBrk="1" hangingPunct="1">
              <a:lnSpc>
                <a:spcPct val="90000"/>
              </a:lnSpc>
            </a:pPr>
            <a:r>
              <a:rPr lang="en-US" altLang="en-US" sz="1800"/>
              <a:t>frequency where open-loop gain drops to 1 V/V</a:t>
            </a:r>
          </a:p>
          <a:p>
            <a:pPr marL="173038" indent="-173038" eaLnBrk="1" hangingPunct="1">
              <a:lnSpc>
                <a:spcPct val="90000"/>
              </a:lnSpc>
            </a:pPr>
            <a:r>
              <a:rPr lang="en-US" altLang="en-US" sz="2400">
                <a:solidFill>
                  <a:srgbClr val="008000"/>
                </a:solidFill>
              </a:rPr>
              <a:t>Commercial opamps</a:t>
            </a:r>
            <a:r>
              <a:rPr lang="en-US" altLang="en-US" sz="2400"/>
              <a:t> provide many different properties</a:t>
            </a:r>
          </a:p>
          <a:p>
            <a:pPr marL="461963" lvl="1" indent="-174625" eaLnBrk="1" hangingPunct="1">
              <a:lnSpc>
                <a:spcPct val="90000"/>
              </a:lnSpc>
            </a:pPr>
            <a:r>
              <a:rPr lang="en-US" altLang="en-US" sz="2000"/>
              <a:t>low noise</a:t>
            </a:r>
          </a:p>
          <a:p>
            <a:pPr marL="461963" lvl="1" indent="-174625" eaLnBrk="1" hangingPunct="1">
              <a:lnSpc>
                <a:spcPct val="90000"/>
              </a:lnSpc>
            </a:pPr>
            <a:r>
              <a:rPr lang="en-US" altLang="en-US" sz="2000"/>
              <a:t>low input current</a:t>
            </a:r>
          </a:p>
          <a:p>
            <a:pPr marL="461963" lvl="1" indent="-174625" eaLnBrk="1" hangingPunct="1">
              <a:lnSpc>
                <a:spcPct val="90000"/>
              </a:lnSpc>
            </a:pPr>
            <a:r>
              <a:rPr lang="en-US" altLang="en-US" sz="2000"/>
              <a:t>low power</a:t>
            </a:r>
          </a:p>
          <a:p>
            <a:pPr marL="461963" lvl="1" indent="-174625" eaLnBrk="1" hangingPunct="1">
              <a:lnSpc>
                <a:spcPct val="90000"/>
              </a:lnSpc>
            </a:pPr>
            <a:r>
              <a:rPr lang="en-US" altLang="en-US" sz="2000"/>
              <a:t>high bandwidth</a:t>
            </a:r>
          </a:p>
          <a:p>
            <a:pPr marL="461963" lvl="1" indent="-174625" eaLnBrk="1" hangingPunct="1">
              <a:lnSpc>
                <a:spcPct val="90000"/>
              </a:lnSpc>
            </a:pPr>
            <a:r>
              <a:rPr lang="en-US" altLang="en-US" sz="2000"/>
              <a:t>low/high supply voltage</a:t>
            </a:r>
          </a:p>
          <a:p>
            <a:pPr marL="461963" lvl="1" indent="-174625" eaLnBrk="1" hangingPunct="1">
              <a:lnSpc>
                <a:spcPct val="90000"/>
              </a:lnSpc>
            </a:pPr>
            <a:r>
              <a:rPr lang="en-US" altLang="en-US" sz="2000"/>
              <a:t>special purpose: comparator, instrumentation amplifier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DFE1F787-9DC8-F765-828D-4500534E7A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Basic Opamp Configuration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A1655A9-A6E1-5B56-E216-55FB0C84B9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4267200" cy="5410200"/>
          </a:xfrm>
        </p:spPr>
        <p:txBody>
          <a:bodyPr/>
          <a:lstStyle/>
          <a:p>
            <a:pPr eaLnBrk="1" hangingPunct="1"/>
            <a:r>
              <a:rPr lang="en-US" altLang="en-US" sz="2400"/>
              <a:t>Voltage Comparator</a:t>
            </a:r>
          </a:p>
          <a:p>
            <a:pPr lvl="1" eaLnBrk="1" hangingPunct="1"/>
            <a:r>
              <a:rPr lang="en-US" altLang="en-US" sz="2000"/>
              <a:t>digitize input</a:t>
            </a:r>
          </a:p>
          <a:p>
            <a:pPr lvl="1" eaLnBrk="1" hangingPunct="1"/>
            <a:endParaRPr lang="en-US" altLang="en-US" sz="2000"/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Voltage Follower</a:t>
            </a:r>
          </a:p>
          <a:p>
            <a:pPr lvl="1" eaLnBrk="1" hangingPunct="1"/>
            <a:r>
              <a:rPr lang="en-US" altLang="en-US" sz="2000"/>
              <a:t>buffer</a:t>
            </a:r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Non-Inverting Amp</a:t>
            </a:r>
          </a:p>
        </p:txBody>
      </p:sp>
      <p:pic>
        <p:nvPicPr>
          <p:cNvPr id="20484" name="Picture 4">
            <a:extLst>
              <a:ext uri="{FF2B5EF4-FFF2-40B4-BE49-F238E27FC236}">
                <a16:creationId xmlns:a16="http://schemas.microsoft.com/office/drawing/2014/main" id="{C70885B9-FFD4-4F28-56D3-2DF58808A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990600"/>
            <a:ext cx="2667000" cy="1131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5" name="Picture 5">
            <a:extLst>
              <a:ext uri="{FF2B5EF4-FFF2-40B4-BE49-F238E27FC236}">
                <a16:creationId xmlns:a16="http://schemas.microsoft.com/office/drawing/2014/main" id="{F69800D5-21AF-24CB-1507-E36DE7E35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990600"/>
            <a:ext cx="2125663" cy="1179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6" name="Picture 6">
            <a:extLst>
              <a:ext uri="{FF2B5EF4-FFF2-40B4-BE49-F238E27FC236}">
                <a16:creationId xmlns:a16="http://schemas.microsoft.com/office/drawing/2014/main" id="{B21D35C0-8D15-DDAC-D530-367FF98DF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209800"/>
            <a:ext cx="3195638" cy="119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7" name="Picture 7">
            <a:extLst>
              <a:ext uri="{FF2B5EF4-FFF2-40B4-BE49-F238E27FC236}">
                <a16:creationId xmlns:a16="http://schemas.microsoft.com/office/drawing/2014/main" id="{11D06A12-0103-BCF1-95C4-AE3861475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267200"/>
            <a:ext cx="2768600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488" name="Rectangle 8">
            <a:extLst>
              <a:ext uri="{FF2B5EF4-FFF2-40B4-BE49-F238E27FC236}">
                <a16:creationId xmlns:a16="http://schemas.microsoft.com/office/drawing/2014/main" id="{EE9B10A6-FBC4-963E-B94C-69D8CE482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810000"/>
            <a:ext cx="2533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lang="en-US" altLang="en-US" sz="2400"/>
              <a:t>  Inverting Amp</a:t>
            </a:r>
          </a:p>
        </p:txBody>
      </p:sp>
      <p:pic>
        <p:nvPicPr>
          <p:cNvPr id="20489" name="Picture 9">
            <a:extLst>
              <a:ext uri="{FF2B5EF4-FFF2-40B4-BE49-F238E27FC236}">
                <a16:creationId xmlns:a16="http://schemas.microsoft.com/office/drawing/2014/main" id="{1020143F-7E5A-59FE-873D-864D617AD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5638800"/>
            <a:ext cx="1400175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90" name="Picture 10">
            <a:extLst>
              <a:ext uri="{FF2B5EF4-FFF2-40B4-BE49-F238E27FC236}">
                <a16:creationId xmlns:a16="http://schemas.microsoft.com/office/drawing/2014/main" id="{AB1DCCD2-1FFD-1268-D5AB-82DEA121B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419600"/>
            <a:ext cx="2854325" cy="1614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91" name="Picture 11">
            <a:extLst>
              <a:ext uri="{FF2B5EF4-FFF2-40B4-BE49-F238E27FC236}">
                <a16:creationId xmlns:a16="http://schemas.microsoft.com/office/drawing/2014/main" id="{A216C3A8-2042-FC9D-AD2D-802F68337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5562600"/>
            <a:ext cx="1143000" cy="534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89B12B4-4BE6-9D91-357E-40CBEBE76D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More Opamp Configurations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242A875D-9506-F919-88F2-AF2AD27386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Summing Amp</a:t>
            </a:r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Differential Amp</a:t>
            </a:r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Integrating Amp</a:t>
            </a:r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Differentiating Amp</a:t>
            </a:r>
          </a:p>
        </p:txBody>
      </p:sp>
      <p:pic>
        <p:nvPicPr>
          <p:cNvPr id="21508" name="Picture 4">
            <a:extLst>
              <a:ext uri="{FF2B5EF4-FFF2-40B4-BE49-F238E27FC236}">
                <a16:creationId xmlns:a16="http://schemas.microsoft.com/office/drawing/2014/main" id="{DF5F5DD7-FE20-63FA-FD56-231B98F07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838200"/>
            <a:ext cx="2982913" cy="153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9" name="Picture 5">
            <a:extLst>
              <a:ext uri="{FF2B5EF4-FFF2-40B4-BE49-F238E27FC236}">
                <a16:creationId xmlns:a16="http://schemas.microsoft.com/office/drawing/2014/main" id="{258DDA96-EEA2-F521-20EA-428BAAD86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066800"/>
            <a:ext cx="2854325" cy="598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10" name="Picture 6">
            <a:extLst>
              <a:ext uri="{FF2B5EF4-FFF2-40B4-BE49-F238E27FC236}">
                <a16:creationId xmlns:a16="http://schemas.microsoft.com/office/drawing/2014/main" id="{14CADC99-C058-57A9-7B9C-EEF8E4C29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057400"/>
            <a:ext cx="3024188" cy="190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11" name="Picture 7">
            <a:extLst>
              <a:ext uri="{FF2B5EF4-FFF2-40B4-BE49-F238E27FC236}">
                <a16:creationId xmlns:a16="http://schemas.microsoft.com/office/drawing/2014/main" id="{9EDE382C-15B4-FD76-7AF5-8D3E00967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667000"/>
            <a:ext cx="1443038" cy="544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12" name="Picture 8">
            <a:extLst>
              <a:ext uri="{FF2B5EF4-FFF2-40B4-BE49-F238E27FC236}">
                <a16:creationId xmlns:a16="http://schemas.microsoft.com/office/drawing/2014/main" id="{4C5CF56B-A6E6-40AF-C76E-3E99959D1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3581400"/>
            <a:ext cx="2854325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13" name="Picture 9">
            <a:extLst>
              <a:ext uri="{FF2B5EF4-FFF2-40B4-BE49-F238E27FC236}">
                <a16:creationId xmlns:a16="http://schemas.microsoft.com/office/drawing/2014/main" id="{93C349EB-41A6-C600-ED97-0B4AE0D63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191000"/>
            <a:ext cx="25542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14" name="Picture 10">
            <a:extLst>
              <a:ext uri="{FF2B5EF4-FFF2-40B4-BE49-F238E27FC236}">
                <a16:creationId xmlns:a16="http://schemas.microsoft.com/office/drawing/2014/main" id="{33037F95-30F8-7E9C-7A5D-49BC4F51F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71"/>
          <a:stretch>
            <a:fillRect/>
          </a:stretch>
        </p:blipFill>
        <p:spPr bwMode="auto">
          <a:xfrm>
            <a:off x="3810000" y="5410200"/>
            <a:ext cx="2209800" cy="73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15" name="Picture 11">
            <a:extLst>
              <a:ext uri="{FF2B5EF4-FFF2-40B4-BE49-F238E27FC236}">
                <a16:creationId xmlns:a16="http://schemas.microsoft.com/office/drawing/2014/main" id="{B520A589-FD16-103E-89A8-F6C94870F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876800"/>
            <a:ext cx="2811463" cy="162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E6FFDA4-47FB-C867-B1EF-79A4D391C0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Converting Configuration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B67C00D-40AC-89B0-0092-86FE3289EE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Current-to-Voltage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Voltage-to-Current</a:t>
            </a:r>
          </a:p>
        </p:txBody>
      </p:sp>
      <p:pic>
        <p:nvPicPr>
          <p:cNvPr id="22532" name="Picture 4">
            <a:extLst>
              <a:ext uri="{FF2B5EF4-FFF2-40B4-BE49-F238E27FC236}">
                <a16:creationId xmlns:a16="http://schemas.microsoft.com/office/drawing/2014/main" id="{865B46C8-CFC3-F858-1DAA-1C306E743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914400"/>
            <a:ext cx="2297113" cy="159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3" name="Picture 5">
            <a:extLst>
              <a:ext uri="{FF2B5EF4-FFF2-40B4-BE49-F238E27FC236}">
                <a16:creationId xmlns:a16="http://schemas.microsoft.com/office/drawing/2014/main" id="{CC6C0368-74C7-ACEE-8EA0-8509D0AF5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752600"/>
            <a:ext cx="930275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4" name="Picture 6">
            <a:extLst>
              <a:ext uri="{FF2B5EF4-FFF2-40B4-BE49-F238E27FC236}">
                <a16:creationId xmlns:a16="http://schemas.microsoft.com/office/drawing/2014/main" id="{1700584C-2ED9-5579-C389-B89843DF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26"/>
          <a:stretch>
            <a:fillRect/>
          </a:stretch>
        </p:blipFill>
        <p:spPr bwMode="auto">
          <a:xfrm>
            <a:off x="5029200" y="2667000"/>
            <a:ext cx="2511425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5" name="Picture 7">
            <a:extLst>
              <a:ext uri="{FF2B5EF4-FFF2-40B4-BE49-F238E27FC236}">
                <a16:creationId xmlns:a16="http://schemas.microsoft.com/office/drawing/2014/main" id="{E76E1DBA-BD7F-4A19-2121-987D15AC3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343400"/>
            <a:ext cx="630238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536" name="Rectangle 8">
            <a:extLst>
              <a:ext uri="{FF2B5EF4-FFF2-40B4-BE49-F238E27FC236}">
                <a16:creationId xmlns:a16="http://schemas.microsoft.com/office/drawing/2014/main" id="{CB6FC582-5D10-5960-AC08-83D4C2C11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743200"/>
            <a:ext cx="762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52A206AF-009F-5C0F-C132-43C443003F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Instrumentation Amplifier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CC95FB4-61B6-4EB7-326A-2811C99141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6106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Robust </a:t>
            </a:r>
            <a:r>
              <a:rPr lang="en-US" altLang="en-US" sz="2000" b="1"/>
              <a:t>differential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b="1"/>
              <a:t>	gain</a:t>
            </a:r>
            <a:r>
              <a:rPr lang="en-US" altLang="en-US" sz="2000"/>
              <a:t> amplifier</a:t>
            </a:r>
          </a:p>
          <a:p>
            <a:pPr lvl="2"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Input stage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high input impedance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600"/>
              <a:t>buffers gain stage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no common mode gain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can have differential gain</a:t>
            </a:r>
          </a:p>
          <a:p>
            <a:pPr lvl="2"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Gain stage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differential gain, low input impedance</a:t>
            </a:r>
          </a:p>
          <a:p>
            <a:pPr lvl="2"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Overall amplifier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amplifies only the differential component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600"/>
              <a:t>high common mode rejection ratio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high input impedance suitable for biopotential electrodes with high output impedance</a:t>
            </a:r>
          </a:p>
        </p:txBody>
      </p:sp>
      <p:pic>
        <p:nvPicPr>
          <p:cNvPr id="23556" name="Picture 4" descr="Fig 03-05">
            <a:extLst>
              <a:ext uri="{FF2B5EF4-FFF2-40B4-BE49-F238E27FC236}">
                <a16:creationId xmlns:a16="http://schemas.microsoft.com/office/drawing/2014/main" id="{FA062246-CC58-8F33-4064-DC2F711FF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554"/>
          <a:stretch>
            <a:fillRect/>
          </a:stretch>
        </p:blipFill>
        <p:spPr bwMode="auto">
          <a:xfrm>
            <a:off x="4038600" y="1066800"/>
            <a:ext cx="4933950" cy="277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Text Box 5">
            <a:extLst>
              <a:ext uri="{FF2B5EF4-FFF2-40B4-BE49-F238E27FC236}">
                <a16:creationId xmlns:a16="http://schemas.microsoft.com/office/drawing/2014/main" id="{CF613548-F5D4-0DBD-E220-3E79E2C49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209800"/>
            <a:ext cx="14811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input stage</a:t>
            </a: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299975F7-7EC2-9026-2685-7D64803D7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1371600"/>
            <a:ext cx="13763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gain stage</a:t>
            </a:r>
          </a:p>
        </p:txBody>
      </p:sp>
      <p:graphicFrame>
        <p:nvGraphicFramePr>
          <p:cNvPr id="23559" name="Object 7">
            <a:extLst>
              <a:ext uri="{FF2B5EF4-FFF2-40B4-BE49-F238E27FC236}">
                <a16:creationId xmlns:a16="http://schemas.microsoft.com/office/drawing/2014/main" id="{E1078BB7-9693-2F5A-8B47-58B02F9256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4419600"/>
          <a:ext cx="218440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44600" imgH="482600" progId="Equation.3">
                  <p:embed/>
                </p:oleObj>
              </mc:Choice>
              <mc:Fallback>
                <p:oleObj name="Equation" r:id="rId3" imgW="1244600" imgH="482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419600"/>
                        <a:ext cx="2184400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Text Box 8">
            <a:extLst>
              <a:ext uri="{FF2B5EF4-FFF2-40B4-BE49-F238E27FC236}">
                <a16:creationId xmlns:a16="http://schemas.microsoft.com/office/drawing/2014/main" id="{D7B864F2-C8A0-8D31-3A47-EFB9D8819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4114800"/>
            <a:ext cx="2622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ahoma" panose="020B0604030504040204" pitchFamily="34" charset="0"/>
              </a:rPr>
              <a:t>total differential gain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9D67D32-B41B-378A-8D7F-6662AA2598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Instrumentation Amplifier w/ BP Filter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3E140EF7-FBEB-F6C0-6BC3-FC404E400B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24580" name="Picture 4" descr="Fig 6-18">
            <a:extLst>
              <a:ext uri="{FF2B5EF4-FFF2-40B4-BE49-F238E27FC236}">
                <a16:creationId xmlns:a16="http://schemas.microsoft.com/office/drawing/2014/main" id="{CC1B994A-F828-33D6-F32D-43923E15A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066800"/>
            <a:ext cx="64008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Line 5">
            <a:extLst>
              <a:ext uri="{FF2B5EF4-FFF2-40B4-BE49-F238E27FC236}">
                <a16:creationId xmlns:a16="http://schemas.microsoft.com/office/drawing/2014/main" id="{E66DB64F-E2AC-E329-8521-EA13B48341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5257800"/>
            <a:ext cx="3733800" cy="0"/>
          </a:xfrm>
          <a:prstGeom prst="line">
            <a:avLst/>
          </a:prstGeom>
          <a:noFill/>
          <a:ln w="76200">
            <a:solidFill>
              <a:srgbClr val="99CCFF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2" name="Text Box 6">
            <a:extLst>
              <a:ext uri="{FF2B5EF4-FFF2-40B4-BE49-F238E27FC236}">
                <a16:creationId xmlns:a16="http://schemas.microsoft.com/office/drawing/2014/main" id="{5FE2596A-F32D-3AC4-4A2E-68E472F33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257800"/>
            <a:ext cx="3130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ahoma" panose="020B0604030504040204" pitchFamily="34" charset="0"/>
              </a:rPr>
              <a:t>instrumentation amplifier</a:t>
            </a:r>
          </a:p>
        </p:txBody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E8FA4F8D-8CF0-1F04-019F-DBF81BEFC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638800"/>
            <a:ext cx="800100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With 776 op amps, the circuit was found to have a CMRR of 86 dB at 100 Hz and a noise level of 40 mV peak to peak at the output. The frequency response was 0.04</a:t>
            </a:r>
            <a:r>
              <a:rPr lang="en-US" altLang="en-US" sz="1200" i="1">
                <a:latin typeface="Tahoma" panose="020B0604030504040204" pitchFamily="34" charset="0"/>
              </a:rPr>
              <a:t> </a:t>
            </a:r>
            <a:r>
              <a:rPr lang="en-US" altLang="en-US" sz="1200">
                <a:latin typeface="Tahoma" panose="020B0604030504040204" pitchFamily="34" charset="0"/>
              </a:rPr>
              <a:t>to</a:t>
            </a:r>
            <a:r>
              <a:rPr lang="en-US" altLang="en-US" sz="1200" i="1">
                <a:latin typeface="Tahoma" panose="020B0604030504040204" pitchFamily="34" charset="0"/>
              </a:rPr>
              <a:t> </a:t>
            </a:r>
            <a:r>
              <a:rPr lang="en-US" altLang="en-US" sz="1200">
                <a:latin typeface="Tahoma" panose="020B0604030504040204" pitchFamily="34" charset="0"/>
              </a:rPr>
              <a:t>150 Hz for ±3 dB and was flat over 4 to 40 Hz. The total gain is 25 (instrument amp) x 32 (non-inverting amp) = 800. </a:t>
            </a:r>
          </a:p>
        </p:txBody>
      </p:sp>
      <p:sp>
        <p:nvSpPr>
          <p:cNvPr id="24584" name="Line 8">
            <a:extLst>
              <a:ext uri="{FF2B5EF4-FFF2-40B4-BE49-F238E27FC236}">
                <a16:creationId xmlns:a16="http://schemas.microsoft.com/office/drawing/2014/main" id="{A2593C1D-11B6-6BB9-365B-4BDC0982F19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5257800"/>
            <a:ext cx="990600" cy="0"/>
          </a:xfrm>
          <a:prstGeom prst="line">
            <a:avLst/>
          </a:prstGeom>
          <a:noFill/>
          <a:ln w="76200">
            <a:solidFill>
              <a:srgbClr val="99CCFF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5" name="Text Box 9">
            <a:extLst>
              <a:ext uri="{FF2B5EF4-FFF2-40B4-BE49-F238E27FC236}">
                <a16:creationId xmlns:a16="http://schemas.microsoft.com/office/drawing/2014/main" id="{8CD431D6-3282-D8EF-0C33-CD6FE3238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257800"/>
            <a:ext cx="7096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ahoma" panose="020B0604030504040204" pitchFamily="34" charset="0"/>
              </a:rPr>
              <a:t>HPF </a:t>
            </a:r>
          </a:p>
        </p:txBody>
      </p:sp>
      <p:sp>
        <p:nvSpPr>
          <p:cNvPr id="24586" name="Line 10">
            <a:extLst>
              <a:ext uri="{FF2B5EF4-FFF2-40B4-BE49-F238E27FC236}">
                <a16:creationId xmlns:a16="http://schemas.microsoft.com/office/drawing/2014/main" id="{BF2836E2-4A2A-5849-15C5-EC1076A118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5257800"/>
            <a:ext cx="1524000" cy="0"/>
          </a:xfrm>
          <a:prstGeom prst="line">
            <a:avLst/>
          </a:prstGeom>
          <a:noFill/>
          <a:ln w="76200">
            <a:solidFill>
              <a:srgbClr val="99CCFF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7" name="Text Box 11">
            <a:extLst>
              <a:ext uri="{FF2B5EF4-FFF2-40B4-BE49-F238E27FC236}">
                <a16:creationId xmlns:a16="http://schemas.microsoft.com/office/drawing/2014/main" id="{DE18BCEA-BAAA-C4FD-C926-4023C81CF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5257800"/>
            <a:ext cx="23828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ahoma" panose="020B0604030504040204" pitchFamily="34" charset="0"/>
              </a:rPr>
              <a:t>non-inverting amp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38104182-0D23-3510-83E1-C4A848F577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Connecting Sensors to Microcontrollers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E1F4F539-8B94-7179-5EA1-14A85AA143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Analog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many microcontrollers have a built-in A/D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8-bit to 12-bit common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many have multi-channel A/D inputs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Digital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serial I/O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use serial I/O port, store in memory to analyze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synchronous (with clock)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/>
              <a:t>must match byte format, stop/start bits, parity check, etc.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asynchronous (no clock): more common for comm. than data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/>
              <a:t>must match baud rate and bit width, transmission protocol, etc.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frequency encoded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use timing port, measure pulse width or pulse frequency</a:t>
            </a:r>
          </a:p>
        </p:txBody>
      </p:sp>
      <p:sp>
        <p:nvSpPr>
          <p:cNvPr id="25604" name="AutoShape 4">
            <a:extLst>
              <a:ext uri="{FF2B5EF4-FFF2-40B4-BE49-F238E27FC236}">
                <a16:creationId xmlns:a16="http://schemas.microsoft.com/office/drawing/2014/main" id="{4A5C76FB-691F-CF38-D07C-F73041D2A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1438" y="990600"/>
            <a:ext cx="1143000" cy="685800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µ</a:t>
            </a:r>
            <a:r>
              <a:rPr lang="en-US" altLang="en-US" sz="1600" b="1">
                <a:latin typeface="Arial" panose="020B0604020202020204" pitchFamily="34" charset="0"/>
              </a:rPr>
              <a:t>C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b="1">
                <a:latin typeface="Arial" panose="020B0604020202020204" pitchFamily="34" charset="0"/>
              </a:rPr>
              <a:t>signal timing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b="1">
                <a:latin typeface="Arial" panose="020B0604020202020204" pitchFamily="34" charset="0"/>
              </a:rPr>
              <a:t>memory</a:t>
            </a:r>
          </a:p>
        </p:txBody>
      </p:sp>
      <p:sp>
        <p:nvSpPr>
          <p:cNvPr id="25605" name="AutoShape 5">
            <a:extLst>
              <a:ext uri="{FF2B5EF4-FFF2-40B4-BE49-F238E27FC236}">
                <a16:creationId xmlns:a16="http://schemas.microsoft.com/office/drawing/2014/main" id="{C4322E92-79B4-2A4D-7611-3FE34C4AC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3038" y="914400"/>
            <a:ext cx="1143000" cy="30480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keypad</a:t>
            </a:r>
            <a:endParaRPr lang="en-US" altLang="en-US" sz="1200" b="1">
              <a:latin typeface="Arial" panose="020B0604020202020204" pitchFamily="34" charset="0"/>
            </a:endParaRPr>
          </a:p>
        </p:txBody>
      </p:sp>
      <p:sp>
        <p:nvSpPr>
          <p:cNvPr id="25606" name="AutoShape 6">
            <a:extLst>
              <a:ext uri="{FF2B5EF4-FFF2-40B4-BE49-F238E27FC236}">
                <a16:creationId xmlns:a16="http://schemas.microsoft.com/office/drawing/2014/main" id="{F4B29CD3-3D5E-5198-3C51-7D8A212D7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9838" y="990600"/>
            <a:ext cx="1143000" cy="304800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endParaRPr lang="en-US" altLang="en-US" sz="1200" b="1">
              <a:latin typeface="Arial" panose="020B0604020202020204" pitchFamily="34" charset="0"/>
            </a:endParaRPr>
          </a:p>
        </p:txBody>
      </p:sp>
      <p:sp>
        <p:nvSpPr>
          <p:cNvPr id="25607" name="AutoShape 7">
            <a:extLst>
              <a:ext uri="{FF2B5EF4-FFF2-40B4-BE49-F238E27FC236}">
                <a16:creationId xmlns:a16="http://schemas.microsoft.com/office/drawing/2014/main" id="{CDD98AB6-3705-79D7-B4A7-AA2D8A4A6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9838" y="1371600"/>
            <a:ext cx="1143000" cy="304800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endParaRPr lang="en-US" altLang="en-US" sz="1200" b="1">
              <a:latin typeface="Arial" panose="020B0604020202020204" pitchFamily="34" charset="0"/>
            </a:endParaRPr>
          </a:p>
        </p:txBody>
      </p:sp>
      <p:sp>
        <p:nvSpPr>
          <p:cNvPr id="25608" name="Rectangle 8">
            <a:extLst>
              <a:ext uri="{FF2B5EF4-FFF2-40B4-BE49-F238E27FC236}">
                <a16:creationId xmlns:a16="http://schemas.microsoft.com/office/drawing/2014/main" id="{3D7EF165-88C6-1620-271B-79E1093A7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7438" y="838200"/>
            <a:ext cx="4191000" cy="10668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25609" name="Line 9">
            <a:extLst>
              <a:ext uri="{FF2B5EF4-FFF2-40B4-BE49-F238E27FC236}">
                <a16:creationId xmlns:a16="http://schemas.microsoft.com/office/drawing/2014/main" id="{656D0DA5-3619-875F-47F3-49357A500B1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2838" y="1143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0" name="Line 10">
            <a:extLst>
              <a:ext uri="{FF2B5EF4-FFF2-40B4-BE49-F238E27FC236}">
                <a16:creationId xmlns:a16="http://schemas.microsoft.com/office/drawing/2014/main" id="{5EC3DFDB-A702-8627-4B97-8471ECA5C81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2838" y="1524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1" name="Line 11">
            <a:extLst>
              <a:ext uri="{FF2B5EF4-FFF2-40B4-BE49-F238E27FC236}">
                <a16:creationId xmlns:a16="http://schemas.microsoft.com/office/drawing/2014/main" id="{A1EFF770-4AF1-7D9C-1215-EAC896C856C8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4438" y="1447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2" name="Line 12">
            <a:extLst>
              <a:ext uri="{FF2B5EF4-FFF2-40B4-BE49-F238E27FC236}">
                <a16:creationId xmlns:a16="http://schemas.microsoft.com/office/drawing/2014/main" id="{48953D70-F339-D2E4-88B3-27CC6A9F04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64438" y="1143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3" name="AutoShape 13">
            <a:extLst>
              <a:ext uri="{FF2B5EF4-FFF2-40B4-BE49-F238E27FC236}">
                <a16:creationId xmlns:a16="http://schemas.microsoft.com/office/drawing/2014/main" id="{DFD35A3C-42AE-3B05-F871-CA8698557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3038" y="1371600"/>
            <a:ext cx="1143000" cy="30480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display</a:t>
            </a:r>
            <a:endParaRPr lang="en-US" altLang="en-US" sz="1200" b="1">
              <a:latin typeface="Arial" panose="020B0604020202020204" pitchFamily="34" charset="0"/>
            </a:endParaRPr>
          </a:p>
        </p:txBody>
      </p:sp>
      <p:sp>
        <p:nvSpPr>
          <p:cNvPr id="25614" name="Text Box 14">
            <a:extLst>
              <a:ext uri="{FF2B5EF4-FFF2-40B4-BE49-F238E27FC236}">
                <a16:creationId xmlns:a16="http://schemas.microsoft.com/office/drawing/2014/main" id="{CD52150D-1337-6A27-1002-51EBCFA9D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1676400"/>
            <a:ext cx="9715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 i="1">
                <a:latin typeface="Arial" panose="020B0604020202020204" pitchFamily="34" charset="0"/>
              </a:rPr>
              <a:t>instrument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3681AE6-8C00-59EC-68F8-DDA37C743A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Connecting Smart Sensors to PC/Network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B81A666E-A9B7-C14A-F47B-EB121BC0F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73038" indent="-173038" eaLnBrk="1" hangingPunct="1">
              <a:spcBef>
                <a:spcPct val="30000"/>
              </a:spcBef>
            </a:pPr>
            <a:r>
              <a:rPr lang="en-US" altLang="en-US" sz="1800"/>
              <a:t>“</a:t>
            </a:r>
            <a:r>
              <a:rPr lang="en-US" altLang="en-US" sz="1800">
                <a:solidFill>
                  <a:srgbClr val="008000"/>
                </a:solidFill>
              </a:rPr>
              <a:t>Smart sensor</a:t>
            </a:r>
            <a:r>
              <a:rPr lang="en-US" altLang="en-US" sz="1800"/>
              <a:t>” = </a:t>
            </a:r>
            <a:r>
              <a:rPr lang="en-US" altLang="en-US" sz="1600"/>
              <a:t>sensor with built-in signal processing &amp; communication</a:t>
            </a:r>
          </a:p>
          <a:p>
            <a:pPr marL="461963" lvl="1" indent="-173038" eaLnBrk="1" hangingPunct="1">
              <a:spcBef>
                <a:spcPct val="30000"/>
              </a:spcBef>
            </a:pPr>
            <a:r>
              <a:rPr lang="en-US" altLang="en-US" sz="1600"/>
              <a:t>e.g., combining a “dumb sensor” and a microcontroller</a:t>
            </a:r>
          </a:p>
          <a:p>
            <a:pPr marL="173038" indent="-173038" eaLnBrk="1" hangingPunct="1">
              <a:spcBef>
                <a:spcPct val="30000"/>
              </a:spcBef>
            </a:pPr>
            <a:r>
              <a:rPr lang="en-US" altLang="en-US" sz="1800">
                <a:solidFill>
                  <a:srgbClr val="008000"/>
                </a:solidFill>
              </a:rPr>
              <a:t>Data Acquisition Cards</a:t>
            </a:r>
            <a:r>
              <a:rPr lang="en-US" altLang="en-US" sz="1800"/>
              <a:t> (DAQ)</a:t>
            </a:r>
          </a:p>
          <a:p>
            <a:pPr marL="461963" lvl="1" indent="-173038" eaLnBrk="1" hangingPunct="1">
              <a:spcBef>
                <a:spcPct val="30000"/>
              </a:spcBef>
            </a:pPr>
            <a:r>
              <a:rPr lang="en-US" altLang="en-US" sz="1600"/>
              <a:t>PC card with analog and digital I/O</a:t>
            </a:r>
          </a:p>
          <a:p>
            <a:pPr marL="461963" lvl="1" indent="-173038" eaLnBrk="1" hangingPunct="1">
              <a:spcBef>
                <a:spcPct val="30000"/>
              </a:spcBef>
            </a:pPr>
            <a:r>
              <a:rPr lang="en-US" altLang="en-US" sz="1600"/>
              <a:t>interface through LabVIEW or user-generated code</a:t>
            </a:r>
          </a:p>
          <a:p>
            <a:pPr marL="173038" indent="-173038" eaLnBrk="1" hangingPunct="1">
              <a:spcBef>
                <a:spcPct val="30000"/>
              </a:spcBef>
            </a:pPr>
            <a:r>
              <a:rPr lang="en-US" altLang="en-US" sz="1800">
                <a:solidFill>
                  <a:srgbClr val="008000"/>
                </a:solidFill>
              </a:rPr>
              <a:t>Communication Links</a:t>
            </a:r>
            <a:r>
              <a:rPr lang="en-US" altLang="en-US" sz="1800"/>
              <a:t> Common for Sensors</a:t>
            </a:r>
          </a:p>
          <a:p>
            <a:pPr marL="461963" lvl="1" indent="-173038" eaLnBrk="1" hangingPunct="1">
              <a:spcBef>
                <a:spcPct val="30000"/>
              </a:spcBef>
            </a:pPr>
            <a:r>
              <a:rPr lang="en-US" altLang="en-US" sz="1600"/>
              <a:t>asynchronous serial comm.</a:t>
            </a:r>
          </a:p>
          <a:p>
            <a:pPr marL="798513" lvl="2" indent="-173038" eaLnBrk="1" hangingPunct="1">
              <a:spcBef>
                <a:spcPct val="30000"/>
              </a:spcBef>
            </a:pPr>
            <a:r>
              <a:rPr lang="en-US" altLang="en-US" sz="1400"/>
              <a:t>universal asynchronous receive and transmit (UART)</a:t>
            </a:r>
          </a:p>
          <a:p>
            <a:pPr marL="1087438" lvl="3" indent="-173038" eaLnBrk="1" hangingPunct="1">
              <a:spcBef>
                <a:spcPct val="30000"/>
              </a:spcBef>
            </a:pPr>
            <a:r>
              <a:rPr lang="en-US" altLang="en-US" sz="1200"/>
              <a:t>1 receive line + 1 transmit line. nodes must match baud rate &amp; protocol</a:t>
            </a:r>
          </a:p>
          <a:p>
            <a:pPr marL="798513" lvl="2" indent="-173038" eaLnBrk="1" hangingPunct="1">
              <a:spcBef>
                <a:spcPct val="30000"/>
              </a:spcBef>
            </a:pPr>
            <a:r>
              <a:rPr lang="en-US" altLang="en-US" sz="1400"/>
              <a:t>RS232 Serial Port on PCs uses UART format (but at +/- 12V)</a:t>
            </a:r>
          </a:p>
          <a:p>
            <a:pPr marL="1087438" lvl="3" indent="-173038" eaLnBrk="1" hangingPunct="1">
              <a:spcBef>
                <a:spcPct val="30000"/>
              </a:spcBef>
            </a:pPr>
            <a:r>
              <a:rPr lang="en-US" altLang="en-US" sz="1200"/>
              <a:t>can buy a chip to convert from UART to RS232</a:t>
            </a:r>
          </a:p>
          <a:p>
            <a:pPr marL="461963" lvl="1" indent="-173038" eaLnBrk="1" hangingPunct="1">
              <a:spcBef>
                <a:spcPct val="30000"/>
              </a:spcBef>
            </a:pPr>
            <a:r>
              <a:rPr lang="en-US" altLang="en-US" sz="1600"/>
              <a:t>synchronous serial comm.</a:t>
            </a:r>
          </a:p>
          <a:p>
            <a:pPr marL="798513" lvl="2" indent="-173038" eaLnBrk="1" hangingPunct="1">
              <a:spcBef>
                <a:spcPct val="30000"/>
              </a:spcBef>
            </a:pPr>
            <a:r>
              <a:rPr lang="en-US" altLang="en-US" sz="1400"/>
              <a:t>serial peripheral interface (SPI)</a:t>
            </a:r>
          </a:p>
          <a:p>
            <a:pPr marL="1087438" lvl="3" indent="-173038" eaLnBrk="1" hangingPunct="1">
              <a:spcBef>
                <a:spcPct val="30000"/>
              </a:spcBef>
            </a:pPr>
            <a:r>
              <a:rPr lang="en-US" altLang="en-US" sz="1200"/>
              <a:t>1 clock + 1 bidirectional data + 1 chip select/enable</a:t>
            </a:r>
          </a:p>
          <a:p>
            <a:pPr marL="461963" lvl="1" indent="-173038" eaLnBrk="1" hangingPunct="1">
              <a:spcBef>
                <a:spcPct val="30000"/>
              </a:spcBef>
            </a:pPr>
            <a:r>
              <a:rPr lang="en-US" altLang="en-US" sz="1600"/>
              <a:t>I</a:t>
            </a:r>
            <a:r>
              <a:rPr lang="en-US" altLang="en-US" sz="1600" baseline="30000"/>
              <a:t>2</a:t>
            </a:r>
            <a:r>
              <a:rPr lang="en-US" altLang="en-US" sz="1600"/>
              <a:t>C = Inter Integrated Circuit bus</a:t>
            </a:r>
          </a:p>
          <a:p>
            <a:pPr marL="798513" lvl="2" indent="-173038" eaLnBrk="1" hangingPunct="1">
              <a:spcBef>
                <a:spcPct val="30000"/>
              </a:spcBef>
            </a:pPr>
            <a:r>
              <a:rPr lang="en-US" altLang="en-US" sz="1400"/>
              <a:t>designed by Philips for comm. inside TVs, used in several commercial sensor systems</a:t>
            </a:r>
          </a:p>
          <a:p>
            <a:pPr marL="461963" lvl="1" indent="-173038" eaLnBrk="1" hangingPunct="1">
              <a:spcBef>
                <a:spcPct val="30000"/>
              </a:spcBef>
            </a:pPr>
            <a:r>
              <a:rPr lang="en-US" altLang="en-US" sz="1600"/>
              <a:t>IEEE P1451: Sensor Comm. Standard</a:t>
            </a:r>
          </a:p>
          <a:p>
            <a:pPr marL="798513" lvl="2" indent="-173038" eaLnBrk="1" hangingPunct="1">
              <a:spcBef>
                <a:spcPct val="30000"/>
              </a:spcBef>
            </a:pPr>
            <a:r>
              <a:rPr lang="en-US" altLang="en-US" sz="1400"/>
              <a:t>several different sensor comm. protocols for different applications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2F855C7-01E7-A188-C87C-DA4049BF0C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Sensor Calibration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20074025-6559-F00F-F661-B9572275DE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Sensors can exhibit non-ideal effects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olidFill>
                  <a:srgbClr val="008000"/>
                </a:solidFill>
              </a:rPr>
              <a:t>offset</a:t>
            </a:r>
            <a:r>
              <a:rPr lang="en-US" altLang="en-US" sz="1800"/>
              <a:t>: nominal output ≠ nominal parameter value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olidFill>
                  <a:srgbClr val="008000"/>
                </a:solidFill>
              </a:rPr>
              <a:t>nonlinearity</a:t>
            </a:r>
            <a:r>
              <a:rPr lang="en-US" altLang="en-US" sz="1800"/>
              <a:t>: output not linear with parameter changes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olidFill>
                  <a:srgbClr val="008000"/>
                </a:solidFill>
              </a:rPr>
              <a:t>cross parameter sensitivity</a:t>
            </a:r>
            <a:r>
              <a:rPr lang="en-US" altLang="en-US" sz="1800"/>
              <a:t>: secondary output variation with, e.g., temperature</a:t>
            </a:r>
          </a:p>
          <a:p>
            <a:pPr lvl="2" eaLnBrk="1" hangingPunct="1">
              <a:lnSpc>
                <a:spcPct val="90000"/>
              </a:lnSpc>
            </a:pPr>
            <a:endParaRPr lang="en-US" altLang="en-US" sz="1600">
              <a:solidFill>
                <a:srgbClr val="008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>
                <a:solidFill>
                  <a:srgbClr val="008000"/>
                </a:solidFill>
              </a:rPr>
              <a:t>Calibration</a:t>
            </a:r>
            <a:r>
              <a:rPr lang="en-US" altLang="en-US" sz="2000"/>
              <a:t> = adjusting output to match parameter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analog signal conditioning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look-up table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digital calibration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600"/>
              <a:t>T = a + bV +cV</a:t>
            </a:r>
            <a:r>
              <a:rPr lang="en-US" altLang="en-US" sz="1600" baseline="30000"/>
              <a:t>2</a:t>
            </a:r>
            <a:r>
              <a:rPr lang="en-US" altLang="en-US" sz="1600"/>
              <a:t>, 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 sz="1400"/>
              <a:t>T= temperature; V=sensor voltage;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 sz="1400"/>
              <a:t>a,b,c = calibration coefficients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>
                <a:solidFill>
                  <a:srgbClr val="008000"/>
                </a:solidFill>
              </a:rPr>
              <a:t>Compensation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remove secondary sensitivities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must have sensitivities characterized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can remove with polynomial evaluation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600"/>
              <a:t>P = a + bV + cT + dVT + e V</a:t>
            </a:r>
            <a:r>
              <a:rPr lang="en-US" altLang="en-US" sz="1600" baseline="30000"/>
              <a:t>2</a:t>
            </a:r>
            <a:r>
              <a:rPr lang="en-US" altLang="en-US" sz="1600"/>
              <a:t>, where P=pressure, T=temperature</a:t>
            </a:r>
          </a:p>
        </p:txBody>
      </p:sp>
      <p:sp>
        <p:nvSpPr>
          <p:cNvPr id="27652" name="Rectangle 5">
            <a:extLst>
              <a:ext uri="{FF2B5EF4-FFF2-40B4-BE49-F238E27FC236}">
                <a16:creationId xmlns:a16="http://schemas.microsoft.com/office/drawing/2014/main" id="{9DF32BCE-BF7D-6C6A-9953-1B88BA43B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90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</p:txBody>
      </p:sp>
      <p:graphicFrame>
        <p:nvGraphicFramePr>
          <p:cNvPr id="27653" name="Object 4">
            <a:extLst>
              <a:ext uri="{FF2B5EF4-FFF2-40B4-BE49-F238E27FC236}">
                <a16:creationId xmlns:a16="http://schemas.microsoft.com/office/drawing/2014/main" id="{93111584-1EB9-F4DE-42B8-9F7F679ED9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2600" y="2971800"/>
          <a:ext cx="2971800" cy="250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5486400" imgH="3676650" progId="Excel.Chart.8">
                  <p:embed/>
                </p:oleObj>
              </mc:Choice>
              <mc:Fallback>
                <p:oleObj name="Chart" r:id="rId2" imgW="5486400" imgH="3676650" progId="Excel.Char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889" r="15277" b="10881"/>
                      <a:stretch>
                        <a:fillRect/>
                      </a:stretch>
                    </p:blipFill>
                    <p:spPr bwMode="auto">
                      <a:xfrm>
                        <a:off x="5562600" y="2971800"/>
                        <a:ext cx="2971800" cy="2506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Text Box 6">
            <a:extLst>
              <a:ext uri="{FF2B5EF4-FFF2-40B4-BE49-F238E27FC236}">
                <a16:creationId xmlns:a16="http://schemas.microsoft.com/office/drawing/2014/main" id="{2B88EA27-CBFD-B3FA-2987-BBEF392E2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33528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T1</a:t>
            </a:r>
          </a:p>
        </p:txBody>
      </p:sp>
      <p:sp>
        <p:nvSpPr>
          <p:cNvPr id="27655" name="Text Box 7">
            <a:extLst>
              <a:ext uri="{FF2B5EF4-FFF2-40B4-BE49-F238E27FC236}">
                <a16:creationId xmlns:a16="http://schemas.microsoft.com/office/drawing/2014/main" id="{80E879C7-780B-E8B9-1B1A-81560D732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39624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T2</a:t>
            </a:r>
          </a:p>
        </p:txBody>
      </p:sp>
      <p:sp>
        <p:nvSpPr>
          <p:cNvPr id="27656" name="Text Box 8">
            <a:extLst>
              <a:ext uri="{FF2B5EF4-FFF2-40B4-BE49-F238E27FC236}">
                <a16:creationId xmlns:a16="http://schemas.microsoft.com/office/drawing/2014/main" id="{CC1512B7-8109-1E9C-DB07-B94CBDF3F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45720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T3</a:t>
            </a:r>
          </a:p>
        </p:txBody>
      </p:sp>
      <p:sp>
        <p:nvSpPr>
          <p:cNvPr id="27657" name="Text Box 9">
            <a:extLst>
              <a:ext uri="{FF2B5EF4-FFF2-40B4-BE49-F238E27FC236}">
                <a16:creationId xmlns:a16="http://schemas.microsoft.com/office/drawing/2014/main" id="{A6863A20-7041-9677-323F-66B84B8C8E4B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4961732" y="4410868"/>
            <a:ext cx="806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offset</a:t>
            </a:r>
          </a:p>
        </p:txBody>
      </p:sp>
      <p:sp>
        <p:nvSpPr>
          <p:cNvPr id="27658" name="Line 10">
            <a:extLst>
              <a:ext uri="{FF2B5EF4-FFF2-40B4-BE49-F238E27FC236}">
                <a16:creationId xmlns:a16="http://schemas.microsoft.com/office/drawing/2014/main" id="{6D2D6A60-8FA2-83E7-3424-83095AB12E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37338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9" name="Line 11">
            <a:extLst>
              <a:ext uri="{FF2B5EF4-FFF2-40B4-BE49-F238E27FC236}">
                <a16:creationId xmlns:a16="http://schemas.microsoft.com/office/drawing/2014/main" id="{E87A53C2-B265-B14C-5B85-A62532A330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15000" y="3200400"/>
            <a:ext cx="2743200" cy="7620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0" name="Text Box 12">
            <a:extLst>
              <a:ext uri="{FF2B5EF4-FFF2-40B4-BE49-F238E27FC236}">
                <a16:creationId xmlns:a16="http://schemas.microsoft.com/office/drawing/2014/main" id="{F49FC526-3A88-6EE9-7EF1-999C234CA9B0}"/>
              </a:ext>
            </a:extLst>
          </p:cNvPr>
          <p:cNvSpPr txBox="1">
            <a:spLocks noChangeArrowheads="1"/>
          </p:cNvSpPr>
          <p:nvPr/>
        </p:nvSpPr>
        <p:spPr bwMode="auto">
          <a:xfrm rot="-993424">
            <a:off x="6477000" y="3352800"/>
            <a:ext cx="793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linear</a:t>
            </a:r>
          </a:p>
        </p:txBody>
      </p:sp>
      <p:sp>
        <p:nvSpPr>
          <p:cNvPr id="27661" name="Freeform 13">
            <a:extLst>
              <a:ext uri="{FF2B5EF4-FFF2-40B4-BE49-F238E27FC236}">
                <a16:creationId xmlns:a16="http://schemas.microsoft.com/office/drawing/2014/main" id="{A75C7C97-B111-B0B6-7630-00AE0E6C3BDF}"/>
              </a:ext>
            </a:extLst>
          </p:cNvPr>
          <p:cNvSpPr>
            <a:spLocks/>
          </p:cNvSpPr>
          <p:nvPr/>
        </p:nvSpPr>
        <p:spPr bwMode="auto">
          <a:xfrm>
            <a:off x="5715000" y="3886200"/>
            <a:ext cx="2984500" cy="406400"/>
          </a:xfrm>
          <a:custGeom>
            <a:avLst/>
            <a:gdLst>
              <a:gd name="T0" fmla="*/ 0 w 1880"/>
              <a:gd name="T1" fmla="*/ 2147483646 h 256"/>
              <a:gd name="T2" fmla="*/ 2147483646 w 1880"/>
              <a:gd name="T3" fmla="*/ 2147483646 h 256"/>
              <a:gd name="T4" fmla="*/ 2147483646 w 1880"/>
              <a:gd name="T5" fmla="*/ 2147483646 h 256"/>
              <a:gd name="T6" fmla="*/ 2147483646 w 1880"/>
              <a:gd name="T7" fmla="*/ 2147483646 h 25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880" h="256">
                <a:moveTo>
                  <a:pt x="0" y="256"/>
                </a:moveTo>
                <a:cubicBezTo>
                  <a:pt x="312" y="204"/>
                  <a:pt x="624" y="152"/>
                  <a:pt x="912" y="112"/>
                </a:cubicBezTo>
                <a:cubicBezTo>
                  <a:pt x="1200" y="72"/>
                  <a:pt x="1576" y="32"/>
                  <a:pt x="1728" y="16"/>
                </a:cubicBezTo>
                <a:cubicBezTo>
                  <a:pt x="1880" y="0"/>
                  <a:pt x="1852" y="8"/>
                  <a:pt x="1824" y="16"/>
                </a:cubicBezTo>
              </a:path>
            </a:pathLst>
          </a:custGeom>
          <a:noFill/>
          <a:ln w="19050" cmpd="sng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2" name="Text Box 14">
            <a:extLst>
              <a:ext uri="{FF2B5EF4-FFF2-40B4-BE49-F238E27FC236}">
                <a16:creationId xmlns:a16="http://schemas.microsoft.com/office/drawing/2014/main" id="{ABCF4FA2-572D-3A09-DD25-999C51DBF4EB}"/>
              </a:ext>
            </a:extLst>
          </p:cNvPr>
          <p:cNvSpPr txBox="1">
            <a:spLocks noChangeArrowheads="1"/>
          </p:cNvSpPr>
          <p:nvPr/>
        </p:nvSpPr>
        <p:spPr bwMode="auto">
          <a:xfrm rot="-501415">
            <a:off x="6400800" y="3962400"/>
            <a:ext cx="1289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non-linear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4421</TotalTime>
  <Words>1430</Words>
  <Application>Microsoft Office PowerPoint</Application>
  <PresentationFormat>On-screen Show (4:3)</PresentationFormat>
  <Paragraphs>339</Paragraphs>
  <Slides>21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Times New Roman</vt:lpstr>
      <vt:lpstr>Arial</vt:lpstr>
      <vt:lpstr>Comic Sans MS</vt:lpstr>
      <vt:lpstr>Symbol</vt:lpstr>
      <vt:lpstr>Wingdings</vt:lpstr>
      <vt:lpstr>Tahoma</vt:lpstr>
      <vt:lpstr>Default Design</vt:lpstr>
      <vt:lpstr>Microsoft Word Document</vt:lpstr>
      <vt:lpstr>Microsoft Equation 3.0</vt:lpstr>
      <vt:lpstr>Microsoft Office Excel Chart</vt:lpstr>
      <vt:lpstr>SENSORS  Interfacing to the Real World: Review of Electrical Sensors and Actuators</vt:lpstr>
      <vt:lpstr>Transducers</vt:lpstr>
      <vt:lpstr>Sensor Systems</vt:lpstr>
      <vt:lpstr>Example Electronic Sensor Systems</vt:lpstr>
      <vt:lpstr>Primary Transducers</vt:lpstr>
      <vt:lpstr>Example Primary Transducers</vt:lpstr>
      <vt:lpstr>Displacement Measurements</vt:lpstr>
      <vt:lpstr>Strain Gage: Gage Factor</vt:lpstr>
      <vt:lpstr>Temperature Sensor Options</vt:lpstr>
      <vt:lpstr>Fiber-optic Temperature Sensor</vt:lpstr>
      <vt:lpstr>Example MEMS Transducers</vt:lpstr>
      <vt:lpstr>Passive Sensor Readout Circuit</vt:lpstr>
      <vt:lpstr>Operational Amplifiers</vt:lpstr>
      <vt:lpstr>Basic Opamp Configuration</vt:lpstr>
      <vt:lpstr>More Opamp Configurations</vt:lpstr>
      <vt:lpstr>Converting Configuration</vt:lpstr>
      <vt:lpstr>Instrumentation Amplifier</vt:lpstr>
      <vt:lpstr>Instrumentation Amplifier w/ BP Filter</vt:lpstr>
      <vt:lpstr>Connecting Sensors to Microcontrollers</vt:lpstr>
      <vt:lpstr>Connecting Smart Sensors to PC/Network</vt:lpstr>
      <vt:lpstr>Sensor Calibration</vt:lpstr>
    </vt:vector>
  </TitlesOfParts>
  <Company>Michigan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Mason</dc:creator>
  <cp:lastModifiedBy>User</cp:lastModifiedBy>
  <cp:revision>81</cp:revision>
  <dcterms:created xsi:type="dcterms:W3CDTF">2002-08-26T13:08:35Z</dcterms:created>
  <dcterms:modified xsi:type="dcterms:W3CDTF">2025-11-11T14:59:46Z</dcterms:modified>
</cp:coreProperties>
</file>