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66"/>
  </p:notesMasterIdLst>
  <p:sldIdLst>
    <p:sldId id="372" r:id="rId2"/>
    <p:sldId id="256" r:id="rId3"/>
    <p:sldId id="357" r:id="rId4"/>
    <p:sldId id="358" r:id="rId5"/>
    <p:sldId id="323" r:id="rId6"/>
    <p:sldId id="324" r:id="rId7"/>
    <p:sldId id="325" r:id="rId8"/>
    <p:sldId id="258" r:id="rId9"/>
    <p:sldId id="334" r:id="rId10"/>
    <p:sldId id="335" r:id="rId11"/>
    <p:sldId id="326" r:id="rId12"/>
    <p:sldId id="289" r:id="rId13"/>
    <p:sldId id="327" r:id="rId14"/>
    <p:sldId id="363" r:id="rId15"/>
    <p:sldId id="364" r:id="rId16"/>
    <p:sldId id="291" r:id="rId17"/>
    <p:sldId id="328" r:id="rId18"/>
    <p:sldId id="336" r:id="rId19"/>
    <p:sldId id="292" r:id="rId20"/>
    <p:sldId id="365" r:id="rId21"/>
    <p:sldId id="293" r:id="rId22"/>
    <p:sldId id="329" r:id="rId23"/>
    <p:sldId id="294" r:id="rId24"/>
    <p:sldId id="295" r:id="rId25"/>
    <p:sldId id="296" r:id="rId26"/>
    <p:sldId id="297" r:id="rId27"/>
    <p:sldId id="330" r:id="rId28"/>
    <p:sldId id="350" r:id="rId29"/>
    <p:sldId id="359" r:id="rId30"/>
    <p:sldId id="332" r:id="rId31"/>
    <p:sldId id="337" r:id="rId32"/>
    <p:sldId id="299" r:id="rId33"/>
    <p:sldId id="300" r:id="rId34"/>
    <p:sldId id="333" r:id="rId35"/>
    <p:sldId id="301" r:id="rId36"/>
    <p:sldId id="366" r:id="rId37"/>
    <p:sldId id="367" r:id="rId38"/>
    <p:sldId id="346" r:id="rId39"/>
    <p:sldId id="368" r:id="rId40"/>
    <p:sldId id="341" r:id="rId41"/>
    <p:sldId id="369" r:id="rId42"/>
    <p:sldId id="338" r:id="rId43"/>
    <p:sldId id="303" r:id="rId44"/>
    <p:sldId id="370" r:id="rId45"/>
    <p:sldId id="339" r:id="rId46"/>
    <p:sldId id="340" r:id="rId47"/>
    <p:sldId id="304" r:id="rId48"/>
    <p:sldId id="342" r:id="rId49"/>
    <p:sldId id="343" r:id="rId50"/>
    <p:sldId id="371" r:id="rId51"/>
    <p:sldId id="344" r:id="rId52"/>
    <p:sldId id="312" r:id="rId53"/>
    <p:sldId id="313" r:id="rId54"/>
    <p:sldId id="345" r:id="rId55"/>
    <p:sldId id="348" r:id="rId56"/>
    <p:sldId id="349" r:id="rId57"/>
    <p:sldId id="351" r:id="rId58"/>
    <p:sldId id="352" r:id="rId59"/>
    <p:sldId id="353" r:id="rId60"/>
    <p:sldId id="362" r:id="rId61"/>
    <p:sldId id="355" r:id="rId62"/>
    <p:sldId id="347" r:id="rId63"/>
    <p:sldId id="356" r:id="rId64"/>
    <p:sldId id="373" r:id="rId6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56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61E6517-CE85-E4F4-AA31-D60E8CC9E293}"/>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50D52435-045E-F67A-8143-69A962F1B645}"/>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itchFamily="34" charset="0"/>
                <a:cs typeface="Arial" pitchFamily="34" charset="0"/>
              </a:defRPr>
            </a:lvl1pPr>
          </a:lstStyle>
          <a:p>
            <a:pPr>
              <a:defRPr/>
            </a:pPr>
            <a:fld id="{8ED19B15-2032-4E52-8AF3-3ED40C3E4570}" type="datetimeFigureOut">
              <a:rPr lang="en-US"/>
              <a:pPr>
                <a:defRPr/>
              </a:pPr>
              <a:t>11/11/2025</a:t>
            </a:fld>
            <a:endParaRPr lang="en-US"/>
          </a:p>
        </p:txBody>
      </p:sp>
      <p:sp>
        <p:nvSpPr>
          <p:cNvPr id="4" name="Slide Image Placeholder 3">
            <a:extLst>
              <a:ext uri="{FF2B5EF4-FFF2-40B4-BE49-F238E27FC236}">
                <a16:creationId xmlns:a16="http://schemas.microsoft.com/office/drawing/2014/main" id="{9423CFCF-AAF5-DC39-0794-1DE1564792D6}"/>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C30177D6-92A7-996B-CD00-B20C8ABFC5C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CDB6E24E-867E-15E5-8952-D669614BC9D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a:extLst>
              <a:ext uri="{FF2B5EF4-FFF2-40B4-BE49-F238E27FC236}">
                <a16:creationId xmlns:a16="http://schemas.microsoft.com/office/drawing/2014/main" id="{831655DE-F658-4431-CCCC-B3CD32EBA84B}"/>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cs typeface="Arial" panose="020B0604020202020204" pitchFamily="34" charset="0"/>
              </a:defRPr>
            </a:lvl1pPr>
          </a:lstStyle>
          <a:p>
            <a:fld id="{25685254-3EEF-4B24-9F90-0C8642FBB9F3}"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a:extLst>
              <a:ext uri="{FF2B5EF4-FFF2-40B4-BE49-F238E27FC236}">
                <a16:creationId xmlns:a16="http://schemas.microsoft.com/office/drawing/2014/main" id="{C9019FBA-7575-3363-FAA1-423141CF5FF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Notes Placeholder 2">
            <a:extLst>
              <a:ext uri="{FF2B5EF4-FFF2-40B4-BE49-F238E27FC236}">
                <a16:creationId xmlns:a16="http://schemas.microsoft.com/office/drawing/2014/main" id="{531CE530-979F-C80A-34EE-F3886B2957A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anose="020B0600070205080204" pitchFamily="34" charset="-128"/>
            </a:endParaRPr>
          </a:p>
        </p:txBody>
      </p:sp>
      <p:sp>
        <p:nvSpPr>
          <p:cNvPr id="68612" name="Slide Number Placeholder 3">
            <a:extLst>
              <a:ext uri="{FF2B5EF4-FFF2-40B4-BE49-F238E27FC236}">
                <a16:creationId xmlns:a16="http://schemas.microsoft.com/office/drawing/2014/main" id="{F36DFCEE-EF10-7AFF-9A27-163D9EBA151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BEA77C32-1BD6-4C5C-A37D-18FC4DEAFAC3}" type="slidenum">
              <a:rPr lang="en-US" altLang="en-US">
                <a:latin typeface="Calibri" panose="020F0502020204030204" pitchFamily="34" charset="0"/>
              </a:rPr>
              <a:pPr eaLnBrk="1" hangingPunct="1"/>
              <a:t>11</a:t>
            </a:fld>
            <a:endParaRPr lang="en-US" altLang="en-US">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B9AC65D8-E588-E7CE-F1E1-BA6F625EC49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Notes Placeholder 2">
            <a:extLst>
              <a:ext uri="{FF2B5EF4-FFF2-40B4-BE49-F238E27FC236}">
                <a16:creationId xmlns:a16="http://schemas.microsoft.com/office/drawing/2014/main" id="{41758DB2-843C-AB8D-CD20-F1A7E20BD2F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Trong hau het cac mo hinh, client rat an toan va dang tin, nen moi de doa thi den tu phia server adversary, </a:t>
            </a:r>
          </a:p>
          <a:p>
            <a:pPr eaLnBrk="1" hangingPunct="1">
              <a:spcBef>
                <a:spcPct val="0"/>
              </a:spcBef>
            </a:pPr>
            <a:endParaRPr lang="en-US" altLang="en-US">
              <a:ea typeface="ＭＳ Ｐゴシック" panose="020B0600070205080204" pitchFamily="34" charset="-128"/>
            </a:endParaRPr>
          </a:p>
        </p:txBody>
      </p:sp>
      <p:sp>
        <p:nvSpPr>
          <p:cNvPr id="69636" name="Slide Number Placeholder 3">
            <a:extLst>
              <a:ext uri="{FF2B5EF4-FFF2-40B4-BE49-F238E27FC236}">
                <a16:creationId xmlns:a16="http://schemas.microsoft.com/office/drawing/2014/main" id="{476BAA97-B761-A0C4-A03D-70594A5B0F7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562470BA-0018-4C25-AE57-D484443E23A0}" type="slidenum">
              <a:rPr lang="en-US" altLang="en-US">
                <a:latin typeface="Calibri" panose="020F0502020204030204" pitchFamily="34" charset="0"/>
              </a:rPr>
              <a:pPr eaLnBrk="1" hangingPunct="1"/>
              <a:t>16</a:t>
            </a:fld>
            <a:endParaRPr lang="en-US" altLang="en-US">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a:extLst>
              <a:ext uri="{FF2B5EF4-FFF2-40B4-BE49-F238E27FC236}">
                <a16:creationId xmlns:a16="http://schemas.microsoft.com/office/drawing/2014/main" id="{DB457884-E92F-ABFA-F5C0-BB984D69525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Notes Placeholder 2">
            <a:extLst>
              <a:ext uri="{FF2B5EF4-FFF2-40B4-BE49-F238E27FC236}">
                <a16:creationId xmlns:a16="http://schemas.microsoft.com/office/drawing/2014/main" id="{9E229622-B7DF-2298-8427-777BB44296F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Trong hau het cac mo hinh, client rat an toan va dang tin, nen moi de doa thi den tu phia server adversary, </a:t>
            </a:r>
          </a:p>
          <a:p>
            <a:pPr eaLnBrk="1" hangingPunct="1">
              <a:spcBef>
                <a:spcPct val="0"/>
              </a:spcBef>
            </a:pPr>
            <a:endParaRPr lang="en-US" altLang="en-US">
              <a:ea typeface="ＭＳ Ｐゴシック" panose="020B0600070205080204" pitchFamily="34" charset="-128"/>
            </a:endParaRPr>
          </a:p>
        </p:txBody>
      </p:sp>
      <p:sp>
        <p:nvSpPr>
          <p:cNvPr id="70660" name="Slide Number Placeholder 3">
            <a:extLst>
              <a:ext uri="{FF2B5EF4-FFF2-40B4-BE49-F238E27FC236}">
                <a16:creationId xmlns:a16="http://schemas.microsoft.com/office/drawing/2014/main" id="{F2435EE2-DD8A-5735-AD52-B9068629C4D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9B67E28D-2F8D-419F-9ECC-3455DBC7029B}" type="slidenum">
              <a:rPr lang="en-US" altLang="en-US">
                <a:latin typeface="Calibri" panose="020F0502020204030204" pitchFamily="34" charset="0"/>
              </a:rPr>
              <a:pPr eaLnBrk="1" hangingPunct="1"/>
              <a:t>17</a:t>
            </a:fld>
            <a:endParaRPr lang="en-US" altLang="en-US">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a:extLst>
              <a:ext uri="{FF2B5EF4-FFF2-40B4-BE49-F238E27FC236}">
                <a16:creationId xmlns:a16="http://schemas.microsoft.com/office/drawing/2014/main" id="{22C17FDA-3966-6BE1-7057-1A83D69B5AE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Notes Placeholder 2">
            <a:extLst>
              <a:ext uri="{FF2B5EF4-FFF2-40B4-BE49-F238E27FC236}">
                <a16:creationId xmlns:a16="http://schemas.microsoft.com/office/drawing/2014/main" id="{1CB07CDE-5EE0-DF66-99DF-FB66CF4EE4B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Alice muon truy van thi no gui yeu cau cho server gui co so du lieu cho no, sau do Alice giai ma va thuc thi cau lenh. </a:t>
            </a:r>
          </a:p>
        </p:txBody>
      </p:sp>
      <p:sp>
        <p:nvSpPr>
          <p:cNvPr id="71684" name="Slide Number Placeholder 3">
            <a:extLst>
              <a:ext uri="{FF2B5EF4-FFF2-40B4-BE49-F238E27FC236}">
                <a16:creationId xmlns:a16="http://schemas.microsoft.com/office/drawing/2014/main" id="{D4924B0F-DED0-214B-0FC2-8258E776726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696C8377-08BE-4A5C-BC88-F2B2E1F69950}" type="slidenum">
              <a:rPr lang="en-US" altLang="en-US">
                <a:latin typeface="Calibri" panose="020F0502020204030204" pitchFamily="34" charset="0"/>
              </a:rPr>
              <a:pPr eaLnBrk="1" hangingPunct="1"/>
              <a:t>18</a:t>
            </a:fld>
            <a:endParaRPr lang="en-US" altLang="en-US">
              <a:latin typeface="Calibri" panose="020F050202020403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a:extLst>
              <a:ext uri="{FF2B5EF4-FFF2-40B4-BE49-F238E27FC236}">
                <a16:creationId xmlns:a16="http://schemas.microsoft.com/office/drawing/2014/main" id="{034775B7-E024-E852-1B68-6F490945BEF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Notes Placeholder 2">
            <a:extLst>
              <a:ext uri="{FF2B5EF4-FFF2-40B4-BE49-F238E27FC236}">
                <a16:creationId xmlns:a16="http://schemas.microsoft.com/office/drawing/2014/main" id="{21D400C7-EAAE-98B0-2180-E5829C81AA4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Alice muon truy van thi no gui yeu cau cho server gui co so du lieu cho no, sau do Alice giai ma va thuc thi cau lenh. </a:t>
            </a:r>
          </a:p>
        </p:txBody>
      </p:sp>
      <p:sp>
        <p:nvSpPr>
          <p:cNvPr id="72708" name="Slide Number Placeholder 3">
            <a:extLst>
              <a:ext uri="{FF2B5EF4-FFF2-40B4-BE49-F238E27FC236}">
                <a16:creationId xmlns:a16="http://schemas.microsoft.com/office/drawing/2014/main" id="{1DA61A29-F661-2AF1-124E-92E8A4DED64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92E0BEC9-B70D-466A-8B5F-3478C3C59812}" type="slidenum">
              <a:rPr lang="en-US" altLang="en-US">
                <a:latin typeface="Calibri" panose="020F0502020204030204" pitchFamily="34" charset="0"/>
              </a:rPr>
              <a:pPr eaLnBrk="1" hangingPunct="1"/>
              <a:t>19</a:t>
            </a:fld>
            <a:endParaRPr lang="en-US" altLang="en-US">
              <a:latin typeface="Calibri" panose="020F050202020403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a:extLst>
              <a:ext uri="{FF2B5EF4-FFF2-40B4-BE49-F238E27FC236}">
                <a16:creationId xmlns:a16="http://schemas.microsoft.com/office/drawing/2014/main" id="{1961D7D5-571D-DD9A-5887-F7152EB56E8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Notes Placeholder 2">
            <a:extLst>
              <a:ext uri="{FF2B5EF4-FFF2-40B4-BE49-F238E27FC236}">
                <a16:creationId xmlns:a16="http://schemas.microsoft.com/office/drawing/2014/main" id="{BBAAB049-DC9D-9DF2-FE8B-9F87848ED46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Thach thuc 2</a:t>
            </a:r>
          </a:p>
        </p:txBody>
      </p:sp>
      <p:sp>
        <p:nvSpPr>
          <p:cNvPr id="73732" name="Slide Number Placeholder 3">
            <a:extLst>
              <a:ext uri="{FF2B5EF4-FFF2-40B4-BE49-F238E27FC236}">
                <a16:creationId xmlns:a16="http://schemas.microsoft.com/office/drawing/2014/main" id="{2C455219-628B-37E2-7DB4-EBD095BBD8E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0827D45C-D4CD-4CCB-9CF1-14AC7DD85E60}" type="slidenum">
              <a:rPr lang="en-US" altLang="en-US">
                <a:latin typeface="Calibri" panose="020F0502020204030204" pitchFamily="34" charset="0"/>
              </a:rPr>
              <a:pPr eaLnBrk="1" hangingPunct="1"/>
              <a:t>21</a:t>
            </a:fld>
            <a:endParaRPr lang="en-US" altLang="en-US">
              <a:latin typeface="Calibri" panose="020F050202020403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6BB55258-DF1B-FCB1-72E2-C8C279081E3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a:extLst>
              <a:ext uri="{FF2B5EF4-FFF2-40B4-BE49-F238E27FC236}">
                <a16:creationId xmlns:a16="http://schemas.microsoft.com/office/drawing/2014/main" id="{98654850-3875-E040-CE3A-54686DA3DB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Thach thuc 2</a:t>
            </a:r>
          </a:p>
        </p:txBody>
      </p:sp>
      <p:sp>
        <p:nvSpPr>
          <p:cNvPr id="74756" name="Slide Number Placeholder 3">
            <a:extLst>
              <a:ext uri="{FF2B5EF4-FFF2-40B4-BE49-F238E27FC236}">
                <a16:creationId xmlns:a16="http://schemas.microsoft.com/office/drawing/2014/main" id="{589156CF-DB0B-9E56-7EE3-0665FAA0A8A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C2AC6795-C3D2-428B-8A45-7050D42A703B}" type="slidenum">
              <a:rPr lang="en-US" altLang="en-US">
                <a:latin typeface="Calibri" panose="020F0502020204030204" pitchFamily="34" charset="0"/>
              </a:rPr>
              <a:pPr eaLnBrk="1" hangingPunct="1"/>
              <a:t>22</a:t>
            </a:fld>
            <a:endParaRPr lang="en-US" altLang="en-US">
              <a:latin typeface="Calibri" panose="020F050202020403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C7E66DFA-35EB-A46D-C34C-3E090E2BF4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Notes Placeholder 2">
            <a:extLst>
              <a:ext uri="{FF2B5EF4-FFF2-40B4-BE49-F238E27FC236}">
                <a16:creationId xmlns:a16="http://schemas.microsoft.com/office/drawing/2014/main" id="{3E16BF90-0FD9-10C9-7CC6-97E7F39BDE6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Cac ky thuat ho tro phep so sanh voi toan tu so hoc duoc chia lam 2 loai</a:t>
            </a:r>
          </a:p>
        </p:txBody>
      </p:sp>
      <p:sp>
        <p:nvSpPr>
          <p:cNvPr id="75780" name="Slide Number Placeholder 3">
            <a:extLst>
              <a:ext uri="{FF2B5EF4-FFF2-40B4-BE49-F238E27FC236}">
                <a16:creationId xmlns:a16="http://schemas.microsoft.com/office/drawing/2014/main" id="{0FCB8182-A3F8-8FEA-BAEC-979F105FCCE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68BF618A-978C-4287-A964-7C4D16DAC121}" type="slidenum">
              <a:rPr lang="en-US" altLang="en-US">
                <a:latin typeface="Calibri" panose="020F0502020204030204" pitchFamily="34" charset="0"/>
              </a:rPr>
              <a:pPr eaLnBrk="1" hangingPunct="1"/>
              <a:t>23</a:t>
            </a:fld>
            <a:endParaRPr lang="en-US" altLang="en-US">
              <a:latin typeface="Calibri" panose="020F050202020403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a:extLst>
              <a:ext uri="{FF2B5EF4-FFF2-40B4-BE49-F238E27FC236}">
                <a16:creationId xmlns:a16="http://schemas.microsoft.com/office/drawing/2014/main" id="{B269AF6F-C3F3-D126-A78E-50AAB64008C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Notes Placeholder 2">
            <a:extLst>
              <a:ext uri="{FF2B5EF4-FFF2-40B4-BE49-F238E27FC236}">
                <a16:creationId xmlns:a16="http://schemas.microsoft.com/office/drawing/2014/main" id="{257EDC0E-75CA-6220-E08C-8EA3ECBFC88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PH: 1 trong cac ky thuat dau tien, </a:t>
            </a:r>
          </a:p>
        </p:txBody>
      </p:sp>
      <p:sp>
        <p:nvSpPr>
          <p:cNvPr id="76804" name="Slide Number Placeholder 3">
            <a:extLst>
              <a:ext uri="{FF2B5EF4-FFF2-40B4-BE49-F238E27FC236}">
                <a16:creationId xmlns:a16="http://schemas.microsoft.com/office/drawing/2014/main" id="{41351AF8-FC1B-EAB9-0FB2-E695318E97E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FFA18CB3-1A99-44E2-B763-54E6129F1814}" type="slidenum">
              <a:rPr lang="en-US" altLang="en-US">
                <a:latin typeface="Calibri" panose="020F0502020204030204" pitchFamily="34" charset="0"/>
              </a:rPr>
              <a:pPr eaLnBrk="1" hangingPunct="1"/>
              <a:t>24</a:t>
            </a:fld>
            <a:endParaRPr lang="en-US" altLang="en-US">
              <a:latin typeface="Calibri" panose="020F050202020403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a:extLst>
              <a:ext uri="{FF2B5EF4-FFF2-40B4-BE49-F238E27FC236}">
                <a16:creationId xmlns:a16="http://schemas.microsoft.com/office/drawing/2014/main" id="{7223ACD1-0275-0A30-30AF-E1D849A7917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Notes Placeholder 2">
            <a:extLst>
              <a:ext uri="{FF2B5EF4-FFF2-40B4-BE49-F238E27FC236}">
                <a16:creationId xmlns:a16="http://schemas.microsoft.com/office/drawing/2014/main" id="{4CB9A47E-057B-6387-BD90-385E1CD66F1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 Nhung thong tin phu nay duoc luu tru duoi dang indice(goi la chi so an toan), co the tiet lo 1 phan thong tin ve du lieu doi voi server </a:t>
            </a:r>
          </a:p>
          <a:p>
            <a:pPr eaLnBrk="1" hangingPunct="1">
              <a:spcBef>
                <a:spcPct val="0"/>
              </a:spcBef>
              <a:buFontTx/>
              <a:buChar char="-"/>
            </a:pPr>
            <a:r>
              <a:rPr lang="en-US" altLang="en-US">
                <a:ea typeface="ＭＳ Ｐゴシック" panose="020B0600070205080204" pitchFamily="34" charset="-128"/>
              </a:rPr>
              <a:t>De han che viec thong tin bi tiet lo</a:t>
            </a:r>
          </a:p>
          <a:p>
            <a:pPr eaLnBrk="1" hangingPunct="1">
              <a:spcBef>
                <a:spcPct val="0"/>
              </a:spcBef>
              <a:buFontTx/>
              <a:buChar char="-"/>
            </a:pPr>
            <a:endParaRPr lang="en-US" altLang="en-US">
              <a:ea typeface="ＭＳ Ｐゴシック" panose="020B0600070205080204" pitchFamily="34" charset="-128"/>
            </a:endParaRPr>
          </a:p>
        </p:txBody>
      </p:sp>
      <p:sp>
        <p:nvSpPr>
          <p:cNvPr id="77828" name="Slide Number Placeholder 3">
            <a:extLst>
              <a:ext uri="{FF2B5EF4-FFF2-40B4-BE49-F238E27FC236}">
                <a16:creationId xmlns:a16="http://schemas.microsoft.com/office/drawing/2014/main" id="{F0275A13-82A1-E8A6-9155-0A75968667E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62953E67-7848-4FE9-91E3-89DC2E4DAB89}" type="slidenum">
              <a:rPr lang="en-US" altLang="en-US">
                <a:latin typeface="Calibri" panose="020F0502020204030204" pitchFamily="34" charset="0"/>
              </a:rPr>
              <a:pPr eaLnBrk="1" hangingPunct="1"/>
              <a:t>25</a:t>
            </a:fld>
            <a:endParaRPr lang="en-US" altLang="en-US">
              <a:latin typeface="Calibri" panose="020F050202020403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id="{7AE15225-5413-1BEE-E4C5-7D5225923E2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Notes Placeholder 2">
            <a:extLst>
              <a:ext uri="{FF2B5EF4-FFF2-40B4-BE49-F238E27FC236}">
                <a16:creationId xmlns:a16="http://schemas.microsoft.com/office/drawing/2014/main" id="{0FD1B2CF-8DCF-7F15-7254-17BAEB139AA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 Generalization duoc su dung chinh.</a:t>
            </a:r>
          </a:p>
        </p:txBody>
      </p:sp>
      <p:sp>
        <p:nvSpPr>
          <p:cNvPr id="78852" name="Slide Number Placeholder 3">
            <a:extLst>
              <a:ext uri="{FF2B5EF4-FFF2-40B4-BE49-F238E27FC236}">
                <a16:creationId xmlns:a16="http://schemas.microsoft.com/office/drawing/2014/main" id="{0D2657CC-C41C-B393-AC74-C235EF98954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FA0091A3-3EE7-4717-98FE-70634A3959EC}" type="slidenum">
              <a:rPr lang="en-US" altLang="en-US">
                <a:latin typeface="Calibri" panose="020F0502020204030204" pitchFamily="34" charset="0"/>
              </a:rPr>
              <a:pPr eaLnBrk="1" hangingPunct="1"/>
              <a:t>26</a:t>
            </a:fld>
            <a:endParaRPr lang="en-US" altLang="en-US">
              <a:latin typeface="Calibri" panose="020F050202020403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a:extLst>
              <a:ext uri="{FF2B5EF4-FFF2-40B4-BE49-F238E27FC236}">
                <a16:creationId xmlns:a16="http://schemas.microsoft.com/office/drawing/2014/main" id="{ADAF8226-1107-1B35-2236-0BC4463B2B5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a:extLst>
              <a:ext uri="{FF2B5EF4-FFF2-40B4-BE49-F238E27FC236}">
                <a16:creationId xmlns:a16="http://schemas.microsoft.com/office/drawing/2014/main" id="{B9CA8643-BF35-9183-BFCE-4C1A40F8462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Nhieu bai viet da co gang ket hop phuong phap nay voi PH de ho tro phep tap hop cung nhu S.PJ.Khi ket hop voi PH thi ky thuat nay de bi tan cong</a:t>
            </a:r>
          </a:p>
        </p:txBody>
      </p:sp>
      <p:sp>
        <p:nvSpPr>
          <p:cNvPr id="79876" name="Slide Number Placeholder 3">
            <a:extLst>
              <a:ext uri="{FF2B5EF4-FFF2-40B4-BE49-F238E27FC236}">
                <a16:creationId xmlns:a16="http://schemas.microsoft.com/office/drawing/2014/main" id="{C702D217-5298-AF29-BDA5-7285A97C98D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0CFAF436-D04E-4020-B2DB-11552454C581}" type="slidenum">
              <a:rPr lang="en-US" altLang="en-US">
                <a:latin typeface="Calibri" panose="020F0502020204030204" pitchFamily="34" charset="0"/>
              </a:rPr>
              <a:pPr eaLnBrk="1" hangingPunct="1"/>
              <a:t>27</a:t>
            </a:fld>
            <a:endParaRPr lang="en-US" altLang="en-US">
              <a:latin typeface="Calibri" panose="020F050202020403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320B2C41-8714-C6DC-1CE5-DFEFB61A579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a:extLst>
              <a:ext uri="{FF2B5EF4-FFF2-40B4-BE49-F238E27FC236}">
                <a16:creationId xmlns:a16="http://schemas.microsoft.com/office/drawing/2014/main" id="{2BE6073E-7720-461E-4612-118AD6138F8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Nhieu bai viet da co gang ket hop phuong phap nay voi PH de ho tro phep tap hop cung nhu S.PJ.Khi ket hop voi PH thi ky thuat nay de bi tan cong</a:t>
            </a:r>
          </a:p>
        </p:txBody>
      </p:sp>
      <p:sp>
        <p:nvSpPr>
          <p:cNvPr id="80900" name="Slide Number Placeholder 3">
            <a:extLst>
              <a:ext uri="{FF2B5EF4-FFF2-40B4-BE49-F238E27FC236}">
                <a16:creationId xmlns:a16="http://schemas.microsoft.com/office/drawing/2014/main" id="{F16A9DAE-1745-6421-CC78-158E2A14B45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57C6C289-ADA0-4237-A742-C8B21D1C462A}" type="slidenum">
              <a:rPr lang="en-US" altLang="en-US">
                <a:latin typeface="Calibri" panose="020F0502020204030204" pitchFamily="34" charset="0"/>
              </a:rPr>
              <a:pPr eaLnBrk="1" hangingPunct="1"/>
              <a:t>28</a:t>
            </a:fld>
            <a:endParaRPr lang="en-US" altLang="en-US">
              <a:latin typeface="Calibri" panose="020F050202020403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a:extLst>
              <a:ext uri="{FF2B5EF4-FFF2-40B4-BE49-F238E27FC236}">
                <a16:creationId xmlns:a16="http://schemas.microsoft.com/office/drawing/2014/main" id="{99881FE2-B6B3-7D62-7EA7-6B27505749E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Notes Placeholder 2">
            <a:extLst>
              <a:ext uri="{FF2B5EF4-FFF2-40B4-BE49-F238E27FC236}">
                <a16:creationId xmlns:a16="http://schemas.microsoft.com/office/drawing/2014/main" id="{D7B333A0-5ABD-7386-F997-E5DB1C7BA54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Gom 3 phan tu chinh : user ,client ,server .client luu du lieu tren server(luon o dang ma hoa).</a:t>
            </a:r>
          </a:p>
          <a:p>
            <a:pPr eaLnBrk="1" hangingPunct="1">
              <a:spcBef>
                <a:spcPct val="0"/>
              </a:spcBef>
            </a:pPr>
            <a:r>
              <a:rPr lang="en-US" altLang="en-US">
                <a:ea typeface="ＭＳ Ｐゴシック" panose="020B0600070205080204" pitchFamily="34" charset="-128"/>
              </a:rPr>
              <a:t>Co so du lieu ma hoa duoc gan them thong tin phu de  cho phep xu ly truy van ma bao ve privacy.Client chua cac metadata de chuyen yeu cau cua user thanh mot dang thich hop  va bieu dien ket qua cua server  </a:t>
            </a:r>
          </a:p>
        </p:txBody>
      </p:sp>
      <p:sp>
        <p:nvSpPr>
          <p:cNvPr id="81924" name="Slide Number Placeholder 3">
            <a:extLst>
              <a:ext uri="{FF2B5EF4-FFF2-40B4-BE49-F238E27FC236}">
                <a16:creationId xmlns:a16="http://schemas.microsoft.com/office/drawing/2014/main" id="{52F4131B-E84E-238F-68C8-80BF893C570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75885D9-52DD-4290-971A-D38534956E25}" type="slidenum">
              <a:rPr lang="en-US" altLang="en-US">
                <a:latin typeface="Calibri" panose="020F0502020204030204" pitchFamily="34" charset="0"/>
              </a:rPr>
              <a:pPr eaLnBrk="1" hangingPunct="1"/>
              <a:t>29</a:t>
            </a:fld>
            <a:endParaRPr lang="en-US" altLang="en-US">
              <a:latin typeface="Calibri" panose="020F050202020403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a:extLst>
              <a:ext uri="{FF2B5EF4-FFF2-40B4-BE49-F238E27FC236}">
                <a16:creationId xmlns:a16="http://schemas.microsoft.com/office/drawing/2014/main" id="{548C9F19-118C-F8EB-C7CE-054A6E7A72F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Notes Placeholder 2">
            <a:extLst>
              <a:ext uri="{FF2B5EF4-FFF2-40B4-BE49-F238E27FC236}">
                <a16:creationId xmlns:a16="http://schemas.microsoft.com/office/drawing/2014/main" id="{7618729A-F68B-B7BF-5A50-96F78162FA1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Gom 3 phan tu chinh : user ,client ,server .client luu du lieu tren server(luon o dang ma hoa).</a:t>
            </a:r>
          </a:p>
          <a:p>
            <a:pPr eaLnBrk="1" hangingPunct="1">
              <a:spcBef>
                <a:spcPct val="0"/>
              </a:spcBef>
            </a:pPr>
            <a:r>
              <a:rPr lang="en-US" altLang="en-US">
                <a:ea typeface="ＭＳ Ｐゴシック" panose="020B0600070205080204" pitchFamily="34" charset="-128"/>
              </a:rPr>
              <a:t>Co so du lieu ma hoa duoc gan them thong tin phu de  cho phep xu ly truy van ma bao ve privacy.Client chua cac metadata de chuyen yeu cau cua user thanh mot dang thich hop  va bieu dien ket qua cua server  </a:t>
            </a:r>
          </a:p>
        </p:txBody>
      </p:sp>
      <p:sp>
        <p:nvSpPr>
          <p:cNvPr id="82948" name="Slide Number Placeholder 3">
            <a:extLst>
              <a:ext uri="{FF2B5EF4-FFF2-40B4-BE49-F238E27FC236}">
                <a16:creationId xmlns:a16="http://schemas.microsoft.com/office/drawing/2014/main" id="{C405582C-85A1-A5FC-63CE-A20A4001FE9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985932DE-87C9-4C82-90E5-6E230D5F1BD0}" type="slidenum">
              <a:rPr lang="en-US" altLang="en-US">
                <a:latin typeface="Calibri" panose="020F0502020204030204" pitchFamily="34" charset="0"/>
              </a:rPr>
              <a:pPr eaLnBrk="1" hangingPunct="1"/>
              <a:t>30</a:t>
            </a:fld>
            <a:endParaRPr lang="en-US" altLang="en-US">
              <a:latin typeface="Calibri" panose="020F050202020403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a:extLst>
              <a:ext uri="{FF2B5EF4-FFF2-40B4-BE49-F238E27FC236}">
                <a16:creationId xmlns:a16="http://schemas.microsoft.com/office/drawing/2014/main" id="{BC6F3E61-54AB-AB70-1991-5AF16611E1D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Notes Placeholder 2">
            <a:extLst>
              <a:ext uri="{FF2B5EF4-FFF2-40B4-BE49-F238E27FC236}">
                <a16:creationId xmlns:a16="http://schemas.microsoft.com/office/drawing/2014/main" id="{1891874E-03E3-BC33-8512-3CE89B79539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Gom 3 phan tu chinh : user ,client ,server .client luu du lieu tren server(luon o dang ma hoa).</a:t>
            </a:r>
          </a:p>
          <a:p>
            <a:pPr eaLnBrk="1" hangingPunct="1">
              <a:spcBef>
                <a:spcPct val="0"/>
              </a:spcBef>
            </a:pPr>
            <a:r>
              <a:rPr lang="en-US" altLang="en-US">
                <a:ea typeface="ＭＳ Ｐゴシック" panose="020B0600070205080204" pitchFamily="34" charset="-128"/>
              </a:rPr>
              <a:t>Co so du lieu ma hoa duoc gan them thong tin phu de  cho phep xu ly truy van ma bao ve privacy.Client chua cac metadata de chuyen yeu cau cua user thanh mot dang thich hop  va bieu dien ket qua cua server  </a:t>
            </a:r>
          </a:p>
        </p:txBody>
      </p:sp>
      <p:sp>
        <p:nvSpPr>
          <p:cNvPr id="83972" name="Slide Number Placeholder 3">
            <a:extLst>
              <a:ext uri="{FF2B5EF4-FFF2-40B4-BE49-F238E27FC236}">
                <a16:creationId xmlns:a16="http://schemas.microsoft.com/office/drawing/2014/main" id="{BD93E0C7-B58A-058C-2984-C7A9FF8878F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21B2A94-456D-4985-95FF-0735DA0DB485}" type="slidenum">
              <a:rPr lang="en-US" altLang="en-US">
                <a:latin typeface="Calibri" panose="020F0502020204030204" pitchFamily="34" charset="0"/>
              </a:rPr>
              <a:pPr eaLnBrk="1" hangingPunct="1"/>
              <a:t>31</a:t>
            </a:fld>
            <a:endParaRPr lang="en-US" altLang="en-US">
              <a:latin typeface="Calibri" panose="020F050202020403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a:extLst>
              <a:ext uri="{FF2B5EF4-FFF2-40B4-BE49-F238E27FC236}">
                <a16:creationId xmlns:a16="http://schemas.microsoft.com/office/drawing/2014/main" id="{B02007B8-8ED5-9D28-2270-242AA2559F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Notes Placeholder 2">
            <a:extLst>
              <a:ext uri="{FF2B5EF4-FFF2-40B4-BE49-F238E27FC236}">
                <a16:creationId xmlns:a16="http://schemas.microsoft.com/office/drawing/2014/main" id="{2BCE3EE3-7448-D945-918C-2B2BFC8C2B4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Gom 3 phan tu chinh : user ,client ,server .client luu du lieu tren server(luon o dang ma hoa).</a:t>
            </a:r>
          </a:p>
          <a:p>
            <a:pPr eaLnBrk="1" hangingPunct="1">
              <a:spcBef>
                <a:spcPct val="0"/>
              </a:spcBef>
            </a:pPr>
            <a:r>
              <a:rPr lang="en-US" altLang="en-US">
                <a:ea typeface="ＭＳ Ｐゴシック" panose="020B0600070205080204" pitchFamily="34" charset="-128"/>
              </a:rPr>
              <a:t>Co so du lieu ma hoa duoc gan them thong tin phu de  cho phep xu ly truy van ma bao ve privacy.Client chua cac metadata de chuyen yeu cau cua user thanh mot dang thich hop  va bieu dien ket qua cua server  </a:t>
            </a:r>
          </a:p>
        </p:txBody>
      </p:sp>
      <p:sp>
        <p:nvSpPr>
          <p:cNvPr id="84996" name="Slide Number Placeholder 3">
            <a:extLst>
              <a:ext uri="{FF2B5EF4-FFF2-40B4-BE49-F238E27FC236}">
                <a16:creationId xmlns:a16="http://schemas.microsoft.com/office/drawing/2014/main" id="{7D02E807-3FDE-91EC-132C-D230B7B9E96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B966B0F5-65AC-4BBA-BA09-4372ECD7EDF1}" type="slidenum">
              <a:rPr lang="en-US" altLang="en-US">
                <a:latin typeface="Calibri" panose="020F0502020204030204" pitchFamily="34" charset="0"/>
              </a:rPr>
              <a:pPr eaLnBrk="1" hangingPunct="1"/>
              <a:t>32</a:t>
            </a:fld>
            <a:endParaRPr lang="en-US" altLang="en-US">
              <a:latin typeface="Calibri" panose="020F050202020403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a:extLst>
              <a:ext uri="{FF2B5EF4-FFF2-40B4-BE49-F238E27FC236}">
                <a16:creationId xmlns:a16="http://schemas.microsoft.com/office/drawing/2014/main" id="{DE71A39F-B196-B7AD-ED75-C784F899EFB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a:extLst>
              <a:ext uri="{FF2B5EF4-FFF2-40B4-BE49-F238E27FC236}">
                <a16:creationId xmlns:a16="http://schemas.microsoft.com/office/drawing/2014/main" id="{9C105988-F26E-943F-FA0D-28E15011698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Etuple luu mot chuoi da ma hoa tuong ung voi 1 row cua R.</a:t>
            </a:r>
          </a:p>
          <a:p>
            <a:pPr eaLnBrk="1" hangingPunct="1">
              <a:spcBef>
                <a:spcPct val="0"/>
              </a:spcBef>
            </a:pPr>
            <a:r>
              <a:rPr lang="en-US" altLang="en-US">
                <a:ea typeface="ＭＳ Ｐゴシック" panose="020B0600070205080204" pitchFamily="34" charset="-128"/>
              </a:rPr>
              <a:t>Ai(S) tuong ung voi index cua Ai, duoc su dung cho qua trinh truy van o server</a:t>
            </a:r>
          </a:p>
        </p:txBody>
      </p:sp>
      <p:sp>
        <p:nvSpPr>
          <p:cNvPr id="86020" name="Slide Number Placeholder 3">
            <a:extLst>
              <a:ext uri="{FF2B5EF4-FFF2-40B4-BE49-F238E27FC236}">
                <a16:creationId xmlns:a16="http://schemas.microsoft.com/office/drawing/2014/main" id="{490E42D9-4ADA-1148-3C7B-31C0140F1D6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61B7C310-4AFF-45E1-864D-14BA46CD5FDC}" type="slidenum">
              <a:rPr lang="en-US" altLang="en-US">
                <a:latin typeface="Calibri" panose="020F0502020204030204" pitchFamily="34" charset="0"/>
              </a:rPr>
              <a:pPr eaLnBrk="1" hangingPunct="1"/>
              <a:t>33</a:t>
            </a:fld>
            <a:endParaRPr lang="en-US" altLang="en-US">
              <a:latin typeface="Calibri" panose="020F050202020403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a:extLst>
              <a:ext uri="{FF2B5EF4-FFF2-40B4-BE49-F238E27FC236}">
                <a16:creationId xmlns:a16="http://schemas.microsoft.com/office/drawing/2014/main" id="{309FD599-E8F1-F8AE-D381-6B6D1107D2C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Notes Placeholder 2">
            <a:extLst>
              <a:ext uri="{FF2B5EF4-FFF2-40B4-BE49-F238E27FC236}">
                <a16:creationId xmlns:a16="http://schemas.microsoft.com/office/drawing/2014/main" id="{EF158EE8-2241-1B47-382B-45FA38B8B75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Etuple luu mot chuoi da ma hoa tuong ung voi 1 row cua R.</a:t>
            </a:r>
          </a:p>
          <a:p>
            <a:pPr eaLnBrk="1" hangingPunct="1">
              <a:spcBef>
                <a:spcPct val="0"/>
              </a:spcBef>
            </a:pPr>
            <a:r>
              <a:rPr lang="en-US" altLang="en-US">
                <a:ea typeface="ＭＳ Ｐゴシック" panose="020B0600070205080204" pitchFamily="34" charset="-128"/>
              </a:rPr>
              <a:t>Ai(S) tuong ung voi index cua Ai, duoc su dung cho qua trinh truy van o server</a:t>
            </a:r>
          </a:p>
        </p:txBody>
      </p:sp>
      <p:sp>
        <p:nvSpPr>
          <p:cNvPr id="87044" name="Slide Number Placeholder 3">
            <a:extLst>
              <a:ext uri="{FF2B5EF4-FFF2-40B4-BE49-F238E27FC236}">
                <a16:creationId xmlns:a16="http://schemas.microsoft.com/office/drawing/2014/main" id="{2CBCC17A-A136-4639-050E-C7F2E6142A6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E4FFAF1A-8A20-411C-9CA0-778CE9D54C1B}" type="slidenum">
              <a:rPr lang="en-US" altLang="en-US">
                <a:latin typeface="Calibri" panose="020F0502020204030204" pitchFamily="34" charset="0"/>
              </a:rPr>
              <a:pPr eaLnBrk="1" hangingPunct="1"/>
              <a:t>34</a:t>
            </a:fld>
            <a:endParaRPr lang="en-US" altLang="en-US">
              <a:latin typeface="Calibri" panose="020F050202020403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a:extLst>
              <a:ext uri="{FF2B5EF4-FFF2-40B4-BE49-F238E27FC236}">
                <a16:creationId xmlns:a16="http://schemas.microsoft.com/office/drawing/2014/main" id="{B848D237-4DAD-28C4-6530-9729516F269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Notes Placeholder 2">
            <a:extLst>
              <a:ext uri="{FF2B5EF4-FFF2-40B4-BE49-F238E27FC236}">
                <a16:creationId xmlns:a16="http://schemas.microsoft.com/office/drawing/2014/main" id="{C7760317-91E8-C789-878C-7054DB4B92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
        <p:nvSpPr>
          <p:cNvPr id="88068" name="Slide Number Placeholder 3">
            <a:extLst>
              <a:ext uri="{FF2B5EF4-FFF2-40B4-BE49-F238E27FC236}">
                <a16:creationId xmlns:a16="http://schemas.microsoft.com/office/drawing/2014/main" id="{F7336A2E-86CB-F11D-3BC5-E701E2FCD2B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91D6D845-CA03-45EF-84C2-52CB1BF9906D}" type="slidenum">
              <a:rPr lang="en-US" altLang="en-US">
                <a:latin typeface="Calibri" panose="020F0502020204030204" pitchFamily="34" charset="0"/>
              </a:rPr>
              <a:pPr eaLnBrk="1" hangingPunct="1"/>
              <a:t>35</a:t>
            </a:fld>
            <a:endParaRPr lang="en-US" altLang="en-US">
              <a:latin typeface="Calibri" panose="020F050202020403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a:extLst>
              <a:ext uri="{FF2B5EF4-FFF2-40B4-BE49-F238E27FC236}">
                <a16:creationId xmlns:a16="http://schemas.microsoft.com/office/drawing/2014/main" id="{21707531-EF3C-1745-76CB-DD4E646B417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Notes Placeholder 2">
            <a:extLst>
              <a:ext uri="{FF2B5EF4-FFF2-40B4-BE49-F238E27FC236}">
                <a16:creationId xmlns:a16="http://schemas.microsoft.com/office/drawing/2014/main" id="{FFC5B1CF-48FD-5C72-3DF0-4707F089AC3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
        <p:nvSpPr>
          <p:cNvPr id="89092" name="Slide Number Placeholder 3">
            <a:extLst>
              <a:ext uri="{FF2B5EF4-FFF2-40B4-BE49-F238E27FC236}">
                <a16:creationId xmlns:a16="http://schemas.microsoft.com/office/drawing/2014/main" id="{A6535591-0591-09EE-3DB3-452B848E020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C27B80CE-666E-4570-873C-391452FC9C20}" type="slidenum">
              <a:rPr lang="en-US" altLang="en-US">
                <a:latin typeface="Calibri" panose="020F0502020204030204" pitchFamily="34" charset="0"/>
              </a:rPr>
              <a:pPr eaLnBrk="1" hangingPunct="1"/>
              <a:t>38</a:t>
            </a:fld>
            <a:endParaRPr lang="en-US" altLang="en-US">
              <a:latin typeface="Calibri" panose="020F050202020403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a:extLst>
              <a:ext uri="{FF2B5EF4-FFF2-40B4-BE49-F238E27FC236}">
                <a16:creationId xmlns:a16="http://schemas.microsoft.com/office/drawing/2014/main" id="{FD5C490B-B16E-5B52-FD36-DAEEC4F99EF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Notes Placeholder 2">
            <a:extLst>
              <a:ext uri="{FF2B5EF4-FFF2-40B4-BE49-F238E27FC236}">
                <a16:creationId xmlns:a16="http://schemas.microsoft.com/office/drawing/2014/main" id="{C09C3142-3177-22A3-6048-4181067FE9C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Server-side luu lai cac dong ma hoa, va cac indice cua thuoc tinh duoc xac dinh boi mapping function, client luu sieu du lieu ve cac indice nhu thong tin ve mapping function, cac partition cua thuoc tinh		</a:t>
            </a:r>
          </a:p>
        </p:txBody>
      </p:sp>
      <p:sp>
        <p:nvSpPr>
          <p:cNvPr id="90116" name="Slide Number Placeholder 3">
            <a:extLst>
              <a:ext uri="{FF2B5EF4-FFF2-40B4-BE49-F238E27FC236}">
                <a16:creationId xmlns:a16="http://schemas.microsoft.com/office/drawing/2014/main" id="{67342091-FBD0-96C8-EB5E-90B4E05CC81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24DD564A-C466-4940-A9D5-2A5A22171DBD}" type="slidenum">
              <a:rPr lang="en-US" altLang="en-US">
                <a:latin typeface="Calibri" panose="020F0502020204030204" pitchFamily="34" charset="0"/>
              </a:rPr>
              <a:pPr eaLnBrk="1" hangingPunct="1"/>
              <a:t>40</a:t>
            </a:fld>
            <a:endParaRPr lang="en-US" altLang="en-US">
              <a:latin typeface="Calibri" panose="020F050202020403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a:extLst>
              <a:ext uri="{FF2B5EF4-FFF2-40B4-BE49-F238E27FC236}">
                <a16:creationId xmlns:a16="http://schemas.microsoft.com/office/drawing/2014/main" id="{412A412D-F191-EB0E-84F5-816FD773268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Notes Placeholder 2">
            <a:extLst>
              <a:ext uri="{FF2B5EF4-FFF2-40B4-BE49-F238E27FC236}">
                <a16:creationId xmlns:a16="http://schemas.microsoft.com/office/drawing/2014/main" id="{AB34743C-F3FD-6E02-38D6-7BC74AFA62A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Server-side luu lai cac dong ma hoa, va cac indice cua thuoc tinh duoc xac dinh boi mapping function, client luu sieu du lieu ve cac indice nhu thong tin ve mapping function, cac partition cua thuoc tinh		</a:t>
            </a:r>
          </a:p>
        </p:txBody>
      </p:sp>
      <p:sp>
        <p:nvSpPr>
          <p:cNvPr id="91140" name="Slide Number Placeholder 3">
            <a:extLst>
              <a:ext uri="{FF2B5EF4-FFF2-40B4-BE49-F238E27FC236}">
                <a16:creationId xmlns:a16="http://schemas.microsoft.com/office/drawing/2014/main" id="{155AA98A-A880-B21B-6401-93B0067D7B6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AE3AE2F-D5C7-4076-9CE5-BE4FB3332036}" type="slidenum">
              <a:rPr lang="en-US" altLang="en-US">
                <a:latin typeface="Calibri" panose="020F0502020204030204" pitchFamily="34" charset="0"/>
              </a:rPr>
              <a:pPr eaLnBrk="1" hangingPunct="1"/>
              <a:t>42</a:t>
            </a:fld>
            <a:endParaRPr lang="en-US" altLang="en-US">
              <a:latin typeface="Calibri" panose="020F050202020403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a:extLst>
              <a:ext uri="{FF2B5EF4-FFF2-40B4-BE49-F238E27FC236}">
                <a16:creationId xmlns:a16="http://schemas.microsoft.com/office/drawing/2014/main" id="{41682FE9-174C-56DD-D003-F0D46C08748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Notes Placeholder 2">
            <a:extLst>
              <a:ext uri="{FF2B5EF4-FFF2-40B4-BE49-F238E27FC236}">
                <a16:creationId xmlns:a16="http://schemas.microsoft.com/office/drawing/2014/main" id="{B833D31B-85AC-6871-EE29-E0DD5B0B68C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Server-side luu lai cac dong ma hoa, va cac indice cua thuoc tinh duoc xac dinh boi mapping function, client luu sieu du lieu ve cac indice nhu thong tin ve mapping function, cac partition cua thuoc tinh		</a:t>
            </a:r>
          </a:p>
        </p:txBody>
      </p:sp>
      <p:sp>
        <p:nvSpPr>
          <p:cNvPr id="92164" name="Slide Number Placeholder 3">
            <a:extLst>
              <a:ext uri="{FF2B5EF4-FFF2-40B4-BE49-F238E27FC236}">
                <a16:creationId xmlns:a16="http://schemas.microsoft.com/office/drawing/2014/main" id="{1616EF41-1449-77C3-46C4-8006A1A1449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D8FFFED8-7753-4E79-8E4C-7CB801053BC4}" type="slidenum">
              <a:rPr lang="en-US" altLang="en-US">
                <a:latin typeface="Calibri" panose="020F0502020204030204" pitchFamily="34" charset="0"/>
              </a:rPr>
              <a:pPr eaLnBrk="1" hangingPunct="1"/>
              <a:t>43</a:t>
            </a:fld>
            <a:endParaRPr lang="en-US" altLang="en-US">
              <a:latin typeface="Calibri" panose="020F050202020403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D5E6BDB5-8C4F-A3C4-EC1E-20C0C502890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7" name="Notes Placeholder 2">
            <a:extLst>
              <a:ext uri="{FF2B5EF4-FFF2-40B4-BE49-F238E27FC236}">
                <a16:creationId xmlns:a16="http://schemas.microsoft.com/office/drawing/2014/main" id="{F06863AE-7D4C-0DF0-5642-9B283D428F3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Client dich dieu kien C thanh dieu kien C</a:t>
            </a:r>
            <a:r>
              <a:rPr lang="ja-JP" altLang="en-US">
                <a:ea typeface="ＭＳ Ｐゴシック" panose="020B0600070205080204" pitchFamily="34" charset="-128"/>
              </a:rPr>
              <a:t>’</a:t>
            </a:r>
            <a:r>
              <a:rPr lang="en-US" altLang="ja-JP">
                <a:ea typeface="ＭＳ Ｐゴシック" panose="020B0600070205080204" pitchFamily="34" charset="-128"/>
              </a:rPr>
              <a:t> nho vao ham Map Condition va metadat, sau do chuyen cho server va server thuc thi cau lenh select dua tren cac chi so cua thuoc tinh, gui ket qua ve cho client, client sau do loc lai ket qua cuoi cung</a:t>
            </a:r>
            <a:endParaRPr lang="en-US" altLang="en-US">
              <a:ea typeface="ＭＳ Ｐゴシック" panose="020B0600070205080204" pitchFamily="34" charset="-128"/>
            </a:endParaRPr>
          </a:p>
        </p:txBody>
      </p:sp>
      <p:sp>
        <p:nvSpPr>
          <p:cNvPr id="93188" name="Slide Number Placeholder 3">
            <a:extLst>
              <a:ext uri="{FF2B5EF4-FFF2-40B4-BE49-F238E27FC236}">
                <a16:creationId xmlns:a16="http://schemas.microsoft.com/office/drawing/2014/main" id="{3209C5EE-D338-DFF6-C2BB-0C874E8F1C5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A4144124-87CA-435C-A9FB-ECC830141271}" type="slidenum">
              <a:rPr lang="en-US" altLang="en-US">
                <a:latin typeface="Calibri" panose="020F0502020204030204" pitchFamily="34" charset="0"/>
              </a:rPr>
              <a:pPr eaLnBrk="1" hangingPunct="1"/>
              <a:t>45</a:t>
            </a:fld>
            <a:endParaRPr lang="en-US" altLang="en-US">
              <a:latin typeface="Calibri" panose="020F050202020403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a:extLst>
              <a:ext uri="{FF2B5EF4-FFF2-40B4-BE49-F238E27FC236}">
                <a16:creationId xmlns:a16="http://schemas.microsoft.com/office/drawing/2014/main" id="{E7B2EB28-4D52-6507-874C-9C30BFE8238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1" name="Notes Placeholder 2">
            <a:extLst>
              <a:ext uri="{FF2B5EF4-FFF2-40B4-BE49-F238E27FC236}">
                <a16:creationId xmlns:a16="http://schemas.microsoft.com/office/drawing/2014/main" id="{B8D75F9E-185C-179E-CC44-CC50235A2E3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Client dich dieu kien C thanh dieu kien C</a:t>
            </a:r>
            <a:r>
              <a:rPr lang="ja-JP" altLang="en-US">
                <a:ea typeface="ＭＳ Ｐゴシック" panose="020B0600070205080204" pitchFamily="34" charset="-128"/>
              </a:rPr>
              <a:t>’</a:t>
            </a:r>
            <a:r>
              <a:rPr lang="en-US" altLang="ja-JP">
                <a:ea typeface="ＭＳ Ｐゴシック" panose="020B0600070205080204" pitchFamily="34" charset="-128"/>
              </a:rPr>
              <a:t> nho vao ham Map Condition va metadat, sau do chuyen cho server va server thuc thi cau lenh select dua tren cac chi so cua thuoc tinh, gui ket qua ve cho client, client sau do loc lai ket qua cuoi cung</a:t>
            </a:r>
            <a:endParaRPr lang="en-US" altLang="en-US">
              <a:ea typeface="ＭＳ Ｐゴシック" panose="020B0600070205080204" pitchFamily="34" charset="-128"/>
            </a:endParaRPr>
          </a:p>
        </p:txBody>
      </p:sp>
      <p:sp>
        <p:nvSpPr>
          <p:cNvPr id="94212" name="Slide Number Placeholder 3">
            <a:extLst>
              <a:ext uri="{FF2B5EF4-FFF2-40B4-BE49-F238E27FC236}">
                <a16:creationId xmlns:a16="http://schemas.microsoft.com/office/drawing/2014/main" id="{D0639799-DED1-424B-450B-110507658F6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1CDEFC01-E13D-4EAD-BB77-751A1F24583E}" type="slidenum">
              <a:rPr lang="en-US" altLang="en-US">
                <a:latin typeface="Calibri" panose="020F0502020204030204" pitchFamily="34" charset="0"/>
              </a:rPr>
              <a:pPr eaLnBrk="1" hangingPunct="1"/>
              <a:t>46</a:t>
            </a:fld>
            <a:endParaRPr lang="en-US" altLang="en-US">
              <a:latin typeface="Calibri" panose="020F050202020403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a:extLst>
              <a:ext uri="{FF2B5EF4-FFF2-40B4-BE49-F238E27FC236}">
                <a16:creationId xmlns:a16="http://schemas.microsoft.com/office/drawing/2014/main" id="{E7CFAAA9-708D-ACF7-3EDB-8B78A8D590C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a:extLst>
              <a:ext uri="{FF2B5EF4-FFF2-40B4-BE49-F238E27FC236}">
                <a16:creationId xmlns:a16="http://schemas.microsoft.com/office/drawing/2014/main" id="{1A252CD9-D401-7E1E-94AB-5E48D75F5A3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Client dich dieu kien C thanh dieu kien C</a:t>
            </a:r>
            <a:r>
              <a:rPr lang="ja-JP" altLang="en-US">
                <a:ea typeface="ＭＳ Ｐゴシック" panose="020B0600070205080204" pitchFamily="34" charset="-128"/>
              </a:rPr>
              <a:t>’</a:t>
            </a:r>
            <a:r>
              <a:rPr lang="en-US" altLang="ja-JP">
                <a:ea typeface="ＭＳ Ｐゴシック" panose="020B0600070205080204" pitchFamily="34" charset="-128"/>
              </a:rPr>
              <a:t> nho vao ham Map Condition va metadat, sau do chuyen cho server va server thuc thi cau lenh select dua tren cac chi so cua thuoc tinh, gui ket qua ve cho client, client sau do loc lai ket qua cuoi cung</a:t>
            </a:r>
            <a:endParaRPr lang="en-US" altLang="en-US">
              <a:ea typeface="ＭＳ Ｐゴシック" panose="020B0600070205080204" pitchFamily="34" charset="-128"/>
            </a:endParaRPr>
          </a:p>
        </p:txBody>
      </p:sp>
      <p:sp>
        <p:nvSpPr>
          <p:cNvPr id="95236" name="Slide Number Placeholder 3">
            <a:extLst>
              <a:ext uri="{FF2B5EF4-FFF2-40B4-BE49-F238E27FC236}">
                <a16:creationId xmlns:a16="http://schemas.microsoft.com/office/drawing/2014/main" id="{F6066244-3108-8058-0695-65A6CBAA693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C4846189-CA73-45FE-B009-3DD36F00CA65}" type="slidenum">
              <a:rPr lang="en-US" altLang="en-US">
                <a:latin typeface="Calibri" panose="020F0502020204030204" pitchFamily="34" charset="0"/>
              </a:rPr>
              <a:pPr eaLnBrk="1" hangingPunct="1"/>
              <a:t>47</a:t>
            </a:fld>
            <a:endParaRPr lang="en-US" altLang="en-US">
              <a:latin typeface="Calibri" panose="020F050202020403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a:extLst>
              <a:ext uri="{FF2B5EF4-FFF2-40B4-BE49-F238E27FC236}">
                <a16:creationId xmlns:a16="http://schemas.microsoft.com/office/drawing/2014/main" id="{66636B03-9E9D-38F2-46F6-B8B556D627B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9" name="Notes Placeholder 2">
            <a:extLst>
              <a:ext uri="{FF2B5EF4-FFF2-40B4-BE49-F238E27FC236}">
                <a16:creationId xmlns:a16="http://schemas.microsoft.com/office/drawing/2014/main" id="{6AC5B1C0-89A0-032C-56FF-52FF9F844C1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Client dich dieu kien C thanh dieu kien C</a:t>
            </a:r>
            <a:r>
              <a:rPr lang="ja-JP" altLang="en-US">
                <a:ea typeface="ＭＳ Ｐゴシック" panose="020B0600070205080204" pitchFamily="34" charset="-128"/>
              </a:rPr>
              <a:t>’</a:t>
            </a:r>
            <a:r>
              <a:rPr lang="en-US" altLang="ja-JP">
                <a:ea typeface="ＭＳ Ｐゴシック" panose="020B0600070205080204" pitchFamily="34" charset="-128"/>
              </a:rPr>
              <a:t> nho vao ham Map Condition va metadat, sau do chuyen cho server va server thuc thi cau lenh select dua tren cac chi so cua thuoc tinh, gui ket qua ve cho client, client sau do loc lai ket qua cuoi cung</a:t>
            </a:r>
            <a:endParaRPr lang="en-US" altLang="en-US">
              <a:ea typeface="ＭＳ Ｐゴシック" panose="020B0600070205080204" pitchFamily="34" charset="-128"/>
            </a:endParaRPr>
          </a:p>
        </p:txBody>
      </p:sp>
      <p:sp>
        <p:nvSpPr>
          <p:cNvPr id="96260" name="Slide Number Placeholder 3">
            <a:extLst>
              <a:ext uri="{FF2B5EF4-FFF2-40B4-BE49-F238E27FC236}">
                <a16:creationId xmlns:a16="http://schemas.microsoft.com/office/drawing/2014/main" id="{898E6386-B93D-1034-5C21-8A3B9574D6E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B8CA832-DB62-4F3F-99B9-3FF96B81B6C3}" type="slidenum">
              <a:rPr lang="en-US" altLang="en-US">
                <a:latin typeface="Calibri" panose="020F0502020204030204" pitchFamily="34" charset="0"/>
              </a:rPr>
              <a:pPr eaLnBrk="1" hangingPunct="1"/>
              <a:t>48</a:t>
            </a:fld>
            <a:endParaRPr lang="en-US" altLang="en-US">
              <a:latin typeface="Calibri" panose="020F050202020403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a:extLst>
              <a:ext uri="{FF2B5EF4-FFF2-40B4-BE49-F238E27FC236}">
                <a16:creationId xmlns:a16="http://schemas.microsoft.com/office/drawing/2014/main" id="{36400BE1-063D-5F49-40A0-5CFECA46C33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Notes Placeholder 2">
            <a:extLst>
              <a:ext uri="{FF2B5EF4-FFF2-40B4-BE49-F238E27FC236}">
                <a16:creationId xmlns:a16="http://schemas.microsoft.com/office/drawing/2014/main" id="{F8F26F6A-6A76-C8AC-B2FD-0A32DFE488D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Muc dich la chia nho cac tinh toan cua truy van Q giua client va server ,server se thuc thi nhieu nhat cac truy van co the ,sau do se chuyen cac phan tinh toan con lai cho client han che toi thieu cong viec phai lam cho client </a:t>
            </a:r>
          </a:p>
        </p:txBody>
      </p:sp>
      <p:sp>
        <p:nvSpPr>
          <p:cNvPr id="97284" name="Slide Number Placeholder 3">
            <a:extLst>
              <a:ext uri="{FF2B5EF4-FFF2-40B4-BE49-F238E27FC236}">
                <a16:creationId xmlns:a16="http://schemas.microsoft.com/office/drawing/2014/main" id="{039D36D1-9A2B-B97A-2E44-C175CEC24FA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025BD12F-C013-442B-8909-E40341CBC63E}" type="slidenum">
              <a:rPr lang="en-US" altLang="en-US">
                <a:latin typeface="Calibri" panose="020F0502020204030204" pitchFamily="34" charset="0"/>
              </a:rPr>
              <a:pPr eaLnBrk="1" hangingPunct="1"/>
              <a:t>49</a:t>
            </a:fld>
            <a:endParaRPr lang="en-US" altLang="en-US">
              <a:latin typeface="Calibri" panose="020F050202020403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a:extLst>
              <a:ext uri="{FF2B5EF4-FFF2-40B4-BE49-F238E27FC236}">
                <a16:creationId xmlns:a16="http://schemas.microsoft.com/office/drawing/2014/main" id="{7B736BC9-B895-ECB2-1019-BBA61BD8BE7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7" name="Notes Placeholder 2">
            <a:extLst>
              <a:ext uri="{FF2B5EF4-FFF2-40B4-BE49-F238E27FC236}">
                <a16:creationId xmlns:a16="http://schemas.microsoft.com/office/drawing/2014/main" id="{9FFF4159-3C3F-1F5C-457B-30BAC86DDE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Server dua bang emp cho client </a:t>
            </a:r>
          </a:p>
        </p:txBody>
      </p:sp>
      <p:sp>
        <p:nvSpPr>
          <p:cNvPr id="98308" name="Slide Number Placeholder 3">
            <a:extLst>
              <a:ext uri="{FF2B5EF4-FFF2-40B4-BE49-F238E27FC236}">
                <a16:creationId xmlns:a16="http://schemas.microsoft.com/office/drawing/2014/main" id="{DA3812E0-C302-784C-4E88-EDBBC6048D0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64B82FC5-5F3F-4AB2-B91E-9D345ABB5331}" type="slidenum">
              <a:rPr lang="en-US" altLang="en-US">
                <a:latin typeface="Calibri" panose="020F0502020204030204" pitchFamily="34" charset="0"/>
              </a:rPr>
              <a:pPr eaLnBrk="1" hangingPunct="1"/>
              <a:t>51</a:t>
            </a:fld>
            <a:endParaRPr lang="en-US" altLang="en-US">
              <a:latin typeface="Calibri" panose="020F050202020403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a:extLst>
              <a:ext uri="{FF2B5EF4-FFF2-40B4-BE49-F238E27FC236}">
                <a16:creationId xmlns:a16="http://schemas.microsoft.com/office/drawing/2014/main" id="{4F1CE396-9B4D-9D92-337C-648A60052DA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9331" name="Notes Placeholder 2">
            <a:extLst>
              <a:ext uri="{FF2B5EF4-FFF2-40B4-BE49-F238E27FC236}">
                <a16:creationId xmlns:a16="http://schemas.microsoft.com/office/drawing/2014/main" id="{9897BA6E-9BD5-6C12-07F7-48F2532B930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Server dua bang emp cho client </a:t>
            </a:r>
          </a:p>
        </p:txBody>
      </p:sp>
      <p:sp>
        <p:nvSpPr>
          <p:cNvPr id="99332" name="Slide Number Placeholder 3">
            <a:extLst>
              <a:ext uri="{FF2B5EF4-FFF2-40B4-BE49-F238E27FC236}">
                <a16:creationId xmlns:a16="http://schemas.microsoft.com/office/drawing/2014/main" id="{91ACD9CF-734D-C2DF-3F21-8C261E7A6CA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DD43749C-D2C7-4915-A53B-92764D3F7331}" type="slidenum">
              <a:rPr lang="en-US" altLang="en-US">
                <a:latin typeface="Calibri" panose="020F0502020204030204" pitchFamily="34" charset="0"/>
              </a:rPr>
              <a:pPr eaLnBrk="1" hangingPunct="1"/>
              <a:t>52</a:t>
            </a:fld>
            <a:endParaRPr lang="en-US" altLang="en-US">
              <a:latin typeface="Calibri" panose="020F050202020403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a:extLst>
              <a:ext uri="{FF2B5EF4-FFF2-40B4-BE49-F238E27FC236}">
                <a16:creationId xmlns:a16="http://schemas.microsoft.com/office/drawing/2014/main" id="{9FD2883C-1713-BD10-2A1F-0D2EF77E5E1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Notes Placeholder 2">
            <a:extLst>
              <a:ext uri="{FF2B5EF4-FFF2-40B4-BE49-F238E27FC236}">
                <a16:creationId xmlns:a16="http://schemas.microsoft.com/office/drawing/2014/main" id="{2CD42DDF-4E29-BD8C-AB92-AFFF7EB3095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Server xu ly cau truy van ben trong sau do gui ket qua cho client</a:t>
            </a:r>
          </a:p>
        </p:txBody>
      </p:sp>
      <p:sp>
        <p:nvSpPr>
          <p:cNvPr id="100356" name="Slide Number Placeholder 3">
            <a:extLst>
              <a:ext uri="{FF2B5EF4-FFF2-40B4-BE49-F238E27FC236}">
                <a16:creationId xmlns:a16="http://schemas.microsoft.com/office/drawing/2014/main" id="{D42410A8-C6B3-F056-D91E-9F3CAC4668C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57B94EF1-F063-4AA1-88B3-D33095F2EF90}" type="slidenum">
              <a:rPr lang="en-US" altLang="en-US">
                <a:latin typeface="Calibri" panose="020F0502020204030204" pitchFamily="34" charset="0"/>
              </a:rPr>
              <a:pPr eaLnBrk="1" hangingPunct="1"/>
              <a:t>53</a:t>
            </a:fld>
            <a:endParaRPr lang="en-US" altLang="en-US">
              <a:latin typeface="Calibri" panose="020F050202020403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a:extLst>
              <a:ext uri="{FF2B5EF4-FFF2-40B4-BE49-F238E27FC236}">
                <a16:creationId xmlns:a16="http://schemas.microsoft.com/office/drawing/2014/main" id="{3E38E2C1-FA94-2247-AC06-74BC54A1DE2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9" name="Notes Placeholder 2">
            <a:extLst>
              <a:ext uri="{FF2B5EF4-FFF2-40B4-BE49-F238E27FC236}">
                <a16:creationId xmlns:a16="http://schemas.microsoft.com/office/drawing/2014/main" id="{D15B5EBB-6F7E-1AA0-2094-E1831D5DB2D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Server xu ly cau truy van ben trong sau do dua cho client ,client giai ma roi tinh luong trung binh ,ma hoa luong trung binh roi gui cho server ,sau do server thuc hien phep join roi gui tra ve cho client.</a:t>
            </a:r>
          </a:p>
        </p:txBody>
      </p:sp>
      <p:sp>
        <p:nvSpPr>
          <p:cNvPr id="101380" name="Slide Number Placeholder 3">
            <a:extLst>
              <a:ext uri="{FF2B5EF4-FFF2-40B4-BE49-F238E27FC236}">
                <a16:creationId xmlns:a16="http://schemas.microsoft.com/office/drawing/2014/main" id="{8DA38DF3-A25C-6484-1E1F-D7B858446F9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6131E063-15A8-4205-8D7A-E7A505A0AE5B}" type="slidenum">
              <a:rPr lang="en-US" altLang="en-US">
                <a:latin typeface="Calibri" panose="020F0502020204030204" pitchFamily="34" charset="0"/>
              </a:rPr>
              <a:pPr eaLnBrk="1" hangingPunct="1"/>
              <a:t>54</a:t>
            </a:fld>
            <a:endParaRPr lang="en-US" altLang="en-US">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C75E1CCD-A43C-95B3-8645-958821C4F996}"/>
              </a:ext>
            </a:extLst>
          </p:cNvPr>
          <p:cNvSpPr>
            <a:spLocks noGrp="1"/>
          </p:cNvSpPr>
          <p:nvPr>
            <p:ph type="dt" sz="half" idx="10"/>
          </p:nvPr>
        </p:nvSpPr>
        <p:spPr/>
        <p:txBody>
          <a:bodyPr/>
          <a:lstStyle>
            <a:lvl1pPr>
              <a:defRPr/>
            </a:lvl1pPr>
          </a:lstStyle>
          <a:p>
            <a:pPr>
              <a:defRPr/>
            </a:pPr>
            <a:fld id="{A429E24B-A611-4C6C-B7A4-D9B10952C9CD}" type="datetime1">
              <a:rPr lang="en-US"/>
              <a:pPr>
                <a:defRPr/>
              </a:pPr>
              <a:t>11/11/2025</a:t>
            </a:fld>
            <a:endParaRPr lang="en-US"/>
          </a:p>
        </p:txBody>
      </p:sp>
      <p:sp>
        <p:nvSpPr>
          <p:cNvPr id="5" name="Footer Placeholder 4">
            <a:extLst>
              <a:ext uri="{FF2B5EF4-FFF2-40B4-BE49-F238E27FC236}">
                <a16:creationId xmlns:a16="http://schemas.microsoft.com/office/drawing/2014/main" id="{393B0465-BE62-5CE2-F699-89D10215CAD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95BB703-6323-5BC5-DD7B-209821DAD5D1}"/>
              </a:ext>
            </a:extLst>
          </p:cNvPr>
          <p:cNvSpPr>
            <a:spLocks noGrp="1"/>
          </p:cNvSpPr>
          <p:nvPr>
            <p:ph type="sldNum" sz="quarter" idx="12"/>
          </p:nvPr>
        </p:nvSpPr>
        <p:spPr/>
        <p:txBody>
          <a:bodyPr/>
          <a:lstStyle>
            <a:lvl1pPr>
              <a:defRPr/>
            </a:lvl1pPr>
          </a:lstStyle>
          <a:p>
            <a:fld id="{61C982C1-8456-4B40-AB86-5139517E3859}" type="slidenum">
              <a:rPr lang="en-US" altLang="en-US"/>
              <a:pPr/>
              <a:t>‹#›</a:t>
            </a:fld>
            <a:endParaRPr lang="en-US" altLang="en-US"/>
          </a:p>
        </p:txBody>
      </p:sp>
    </p:spTree>
    <p:extLst>
      <p:ext uri="{BB962C8B-B14F-4D97-AF65-F5344CB8AC3E}">
        <p14:creationId xmlns:p14="http://schemas.microsoft.com/office/powerpoint/2010/main" val="3563451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F3A566-3708-22D1-A492-F1046504FD59}"/>
              </a:ext>
            </a:extLst>
          </p:cNvPr>
          <p:cNvSpPr>
            <a:spLocks noGrp="1"/>
          </p:cNvSpPr>
          <p:nvPr>
            <p:ph type="dt" sz="half" idx="10"/>
          </p:nvPr>
        </p:nvSpPr>
        <p:spPr/>
        <p:txBody>
          <a:bodyPr/>
          <a:lstStyle>
            <a:lvl1pPr>
              <a:defRPr/>
            </a:lvl1pPr>
          </a:lstStyle>
          <a:p>
            <a:pPr>
              <a:defRPr/>
            </a:pPr>
            <a:fld id="{03B1B428-B8EF-45DE-9D6D-2005875F2D2B}" type="datetime1">
              <a:rPr lang="en-US"/>
              <a:pPr>
                <a:defRPr/>
              </a:pPr>
              <a:t>11/11/2025</a:t>
            </a:fld>
            <a:endParaRPr lang="en-US"/>
          </a:p>
        </p:txBody>
      </p:sp>
      <p:sp>
        <p:nvSpPr>
          <p:cNvPr id="5" name="Footer Placeholder 4">
            <a:extLst>
              <a:ext uri="{FF2B5EF4-FFF2-40B4-BE49-F238E27FC236}">
                <a16:creationId xmlns:a16="http://schemas.microsoft.com/office/drawing/2014/main" id="{A2120BE9-697C-9904-FEAC-5C41C4F4A55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08C325D-5378-4AFB-76B9-4833B6D5ADA1}"/>
              </a:ext>
            </a:extLst>
          </p:cNvPr>
          <p:cNvSpPr>
            <a:spLocks noGrp="1"/>
          </p:cNvSpPr>
          <p:nvPr>
            <p:ph type="sldNum" sz="quarter" idx="12"/>
          </p:nvPr>
        </p:nvSpPr>
        <p:spPr/>
        <p:txBody>
          <a:bodyPr/>
          <a:lstStyle>
            <a:lvl1pPr>
              <a:defRPr/>
            </a:lvl1pPr>
          </a:lstStyle>
          <a:p>
            <a:fld id="{CF6A8C20-902C-40AB-A7CB-720D5ADA2F34}" type="slidenum">
              <a:rPr lang="en-US" altLang="en-US"/>
              <a:pPr/>
              <a:t>‹#›</a:t>
            </a:fld>
            <a:endParaRPr lang="en-US" altLang="en-US"/>
          </a:p>
        </p:txBody>
      </p:sp>
    </p:spTree>
    <p:extLst>
      <p:ext uri="{BB962C8B-B14F-4D97-AF65-F5344CB8AC3E}">
        <p14:creationId xmlns:p14="http://schemas.microsoft.com/office/powerpoint/2010/main" val="308635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A1C6FE1-58FF-BC34-FA89-E76DC98455F7}"/>
              </a:ext>
            </a:extLst>
          </p:cNvPr>
          <p:cNvSpPr>
            <a:spLocks noGrp="1"/>
          </p:cNvSpPr>
          <p:nvPr>
            <p:ph type="dt" sz="half" idx="10"/>
          </p:nvPr>
        </p:nvSpPr>
        <p:spPr/>
        <p:txBody>
          <a:bodyPr/>
          <a:lstStyle>
            <a:lvl1pPr>
              <a:defRPr/>
            </a:lvl1pPr>
          </a:lstStyle>
          <a:p>
            <a:pPr>
              <a:defRPr/>
            </a:pPr>
            <a:fld id="{205C29FA-F228-4681-B8E1-D6F9EEF986D7}" type="datetime1">
              <a:rPr lang="en-US"/>
              <a:pPr>
                <a:defRPr/>
              </a:pPr>
              <a:t>11/11/2025</a:t>
            </a:fld>
            <a:endParaRPr lang="en-US"/>
          </a:p>
        </p:txBody>
      </p:sp>
      <p:sp>
        <p:nvSpPr>
          <p:cNvPr id="5" name="Footer Placeholder 4">
            <a:extLst>
              <a:ext uri="{FF2B5EF4-FFF2-40B4-BE49-F238E27FC236}">
                <a16:creationId xmlns:a16="http://schemas.microsoft.com/office/drawing/2014/main" id="{654D897C-30A9-63E0-35E0-5D59B32D28E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4C3B13F-6183-D88A-8769-04EB655EA45F}"/>
              </a:ext>
            </a:extLst>
          </p:cNvPr>
          <p:cNvSpPr>
            <a:spLocks noGrp="1"/>
          </p:cNvSpPr>
          <p:nvPr>
            <p:ph type="sldNum" sz="quarter" idx="12"/>
          </p:nvPr>
        </p:nvSpPr>
        <p:spPr/>
        <p:txBody>
          <a:bodyPr/>
          <a:lstStyle>
            <a:lvl1pPr>
              <a:defRPr/>
            </a:lvl1pPr>
          </a:lstStyle>
          <a:p>
            <a:fld id="{1FE911CE-BF46-49A6-B44F-52584F15149D}" type="slidenum">
              <a:rPr lang="en-US" altLang="en-US"/>
              <a:pPr/>
              <a:t>‹#›</a:t>
            </a:fld>
            <a:endParaRPr lang="en-US" altLang="en-US"/>
          </a:p>
        </p:txBody>
      </p:sp>
    </p:spTree>
    <p:extLst>
      <p:ext uri="{BB962C8B-B14F-4D97-AF65-F5344CB8AC3E}">
        <p14:creationId xmlns:p14="http://schemas.microsoft.com/office/powerpoint/2010/main" val="2118307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BC072743-E560-7DE7-3791-0E6CC015E965}"/>
              </a:ext>
            </a:extLst>
          </p:cNvPr>
          <p:cNvSpPr>
            <a:spLocks noGrp="1"/>
          </p:cNvSpPr>
          <p:nvPr>
            <p:ph type="dt" sz="half" idx="10"/>
          </p:nvPr>
        </p:nvSpPr>
        <p:spPr/>
        <p:txBody>
          <a:bodyPr/>
          <a:lstStyle>
            <a:lvl1pPr>
              <a:defRPr/>
            </a:lvl1pPr>
          </a:lstStyle>
          <a:p>
            <a:pPr>
              <a:defRPr/>
            </a:pPr>
            <a:fld id="{79C0750A-6075-473F-B4B2-86E3AB89455B}" type="datetime1">
              <a:rPr lang="en-US"/>
              <a:pPr>
                <a:defRPr/>
              </a:pPr>
              <a:t>11/11/2025</a:t>
            </a:fld>
            <a:endParaRPr lang="en-US"/>
          </a:p>
        </p:txBody>
      </p:sp>
      <p:sp>
        <p:nvSpPr>
          <p:cNvPr id="6" name="Footer Placeholder 4">
            <a:extLst>
              <a:ext uri="{FF2B5EF4-FFF2-40B4-BE49-F238E27FC236}">
                <a16:creationId xmlns:a16="http://schemas.microsoft.com/office/drawing/2014/main" id="{3E7C17A0-734F-03D8-22D5-74110BA8934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20239CF-2B7B-E367-0722-E96CA78DEAD7}"/>
              </a:ext>
            </a:extLst>
          </p:cNvPr>
          <p:cNvSpPr>
            <a:spLocks noGrp="1"/>
          </p:cNvSpPr>
          <p:nvPr>
            <p:ph type="sldNum" sz="quarter" idx="12"/>
          </p:nvPr>
        </p:nvSpPr>
        <p:spPr/>
        <p:txBody>
          <a:bodyPr/>
          <a:lstStyle>
            <a:lvl1pPr>
              <a:defRPr/>
            </a:lvl1pPr>
          </a:lstStyle>
          <a:p>
            <a:fld id="{7875BBDB-9859-4FCE-A067-9469AF4157B1}" type="slidenum">
              <a:rPr lang="en-US" altLang="en-US"/>
              <a:pPr/>
              <a:t>‹#›</a:t>
            </a:fld>
            <a:endParaRPr lang="en-US" altLang="en-US"/>
          </a:p>
        </p:txBody>
      </p:sp>
    </p:spTree>
    <p:extLst>
      <p:ext uri="{BB962C8B-B14F-4D97-AF65-F5344CB8AC3E}">
        <p14:creationId xmlns:p14="http://schemas.microsoft.com/office/powerpoint/2010/main" val="1599271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79B6DE1C-066D-BF55-AE5B-8EE642B4B581}"/>
              </a:ext>
            </a:extLst>
          </p:cNvPr>
          <p:cNvSpPr>
            <a:spLocks noGrp="1"/>
          </p:cNvSpPr>
          <p:nvPr>
            <p:ph type="dt" sz="half" idx="10"/>
          </p:nvPr>
        </p:nvSpPr>
        <p:spPr/>
        <p:txBody>
          <a:bodyPr/>
          <a:lstStyle>
            <a:lvl1pPr>
              <a:defRPr/>
            </a:lvl1pPr>
          </a:lstStyle>
          <a:p>
            <a:pPr>
              <a:defRPr/>
            </a:pPr>
            <a:fld id="{87A1AD91-448A-4D2B-BB03-025220FFDF35}" type="datetime1">
              <a:rPr lang="en-US"/>
              <a:pPr>
                <a:defRPr/>
              </a:pPr>
              <a:t>11/11/2025</a:t>
            </a:fld>
            <a:endParaRPr lang="en-US"/>
          </a:p>
        </p:txBody>
      </p:sp>
      <p:sp>
        <p:nvSpPr>
          <p:cNvPr id="8" name="Footer Placeholder 4">
            <a:extLst>
              <a:ext uri="{FF2B5EF4-FFF2-40B4-BE49-F238E27FC236}">
                <a16:creationId xmlns:a16="http://schemas.microsoft.com/office/drawing/2014/main" id="{5FF359AC-F20E-12C8-362E-273FBDF9EA40}"/>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CF73CF45-FD0A-3EC8-F7D8-6C6439E2E69B}"/>
              </a:ext>
            </a:extLst>
          </p:cNvPr>
          <p:cNvSpPr>
            <a:spLocks noGrp="1"/>
          </p:cNvSpPr>
          <p:nvPr>
            <p:ph type="sldNum" sz="quarter" idx="12"/>
          </p:nvPr>
        </p:nvSpPr>
        <p:spPr/>
        <p:txBody>
          <a:bodyPr/>
          <a:lstStyle>
            <a:lvl1pPr>
              <a:defRPr/>
            </a:lvl1pPr>
          </a:lstStyle>
          <a:p>
            <a:fld id="{9BAC8B49-BF9C-4FC5-AC3A-9EC88F7A9895}" type="slidenum">
              <a:rPr lang="en-US" altLang="en-US"/>
              <a:pPr/>
              <a:t>‹#›</a:t>
            </a:fld>
            <a:endParaRPr lang="en-US" altLang="en-US"/>
          </a:p>
        </p:txBody>
      </p:sp>
    </p:spTree>
    <p:extLst>
      <p:ext uri="{BB962C8B-B14F-4D97-AF65-F5344CB8AC3E}">
        <p14:creationId xmlns:p14="http://schemas.microsoft.com/office/powerpoint/2010/main" val="392747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96A3CCD4-422B-8BE8-9DDB-F2895FFD0582}"/>
              </a:ext>
            </a:extLst>
          </p:cNvPr>
          <p:cNvSpPr>
            <a:spLocks noGrp="1"/>
          </p:cNvSpPr>
          <p:nvPr>
            <p:ph type="dt" sz="half" idx="10"/>
          </p:nvPr>
        </p:nvSpPr>
        <p:spPr/>
        <p:txBody>
          <a:bodyPr/>
          <a:lstStyle>
            <a:lvl1pPr>
              <a:defRPr/>
            </a:lvl1pPr>
          </a:lstStyle>
          <a:p>
            <a:pPr>
              <a:defRPr/>
            </a:pPr>
            <a:fld id="{5FDD9F72-81D3-4B4F-9713-F074E47A0AAD}" type="datetime1">
              <a:rPr lang="en-US"/>
              <a:pPr>
                <a:defRPr/>
              </a:pPr>
              <a:t>11/11/2025</a:t>
            </a:fld>
            <a:endParaRPr lang="en-US"/>
          </a:p>
        </p:txBody>
      </p:sp>
      <p:sp>
        <p:nvSpPr>
          <p:cNvPr id="4" name="Footer Placeholder 4">
            <a:extLst>
              <a:ext uri="{FF2B5EF4-FFF2-40B4-BE49-F238E27FC236}">
                <a16:creationId xmlns:a16="http://schemas.microsoft.com/office/drawing/2014/main" id="{F3BDE68E-22AA-F7AC-5897-9892D5B1F70B}"/>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952A919A-5B10-D4A9-76A8-14CB7CB19407}"/>
              </a:ext>
            </a:extLst>
          </p:cNvPr>
          <p:cNvSpPr>
            <a:spLocks noGrp="1"/>
          </p:cNvSpPr>
          <p:nvPr>
            <p:ph type="sldNum" sz="quarter" idx="12"/>
          </p:nvPr>
        </p:nvSpPr>
        <p:spPr/>
        <p:txBody>
          <a:bodyPr/>
          <a:lstStyle>
            <a:lvl1pPr>
              <a:defRPr/>
            </a:lvl1pPr>
          </a:lstStyle>
          <a:p>
            <a:fld id="{7A894BE7-6CC9-4051-9F09-F092B414FB99}" type="slidenum">
              <a:rPr lang="en-US" altLang="en-US"/>
              <a:pPr/>
              <a:t>‹#›</a:t>
            </a:fld>
            <a:endParaRPr lang="en-US" altLang="en-US"/>
          </a:p>
        </p:txBody>
      </p:sp>
    </p:spTree>
    <p:extLst>
      <p:ext uri="{BB962C8B-B14F-4D97-AF65-F5344CB8AC3E}">
        <p14:creationId xmlns:p14="http://schemas.microsoft.com/office/powerpoint/2010/main" val="2377080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D316734-DFF7-C8AF-4D35-A94803F95A3E}"/>
              </a:ext>
            </a:extLst>
          </p:cNvPr>
          <p:cNvSpPr>
            <a:spLocks noGrp="1"/>
          </p:cNvSpPr>
          <p:nvPr>
            <p:ph type="dt" sz="half" idx="10"/>
          </p:nvPr>
        </p:nvSpPr>
        <p:spPr/>
        <p:txBody>
          <a:bodyPr/>
          <a:lstStyle>
            <a:lvl1pPr>
              <a:defRPr/>
            </a:lvl1pPr>
          </a:lstStyle>
          <a:p>
            <a:pPr>
              <a:defRPr/>
            </a:pPr>
            <a:fld id="{C938D1E1-9C7C-406C-B335-C89CEF7EFA80}" type="datetime1">
              <a:rPr lang="en-US"/>
              <a:pPr>
                <a:defRPr/>
              </a:pPr>
              <a:t>11/11/2025</a:t>
            </a:fld>
            <a:endParaRPr lang="en-US"/>
          </a:p>
        </p:txBody>
      </p:sp>
      <p:sp>
        <p:nvSpPr>
          <p:cNvPr id="3" name="Footer Placeholder 4">
            <a:extLst>
              <a:ext uri="{FF2B5EF4-FFF2-40B4-BE49-F238E27FC236}">
                <a16:creationId xmlns:a16="http://schemas.microsoft.com/office/drawing/2014/main" id="{7699BA87-A307-DC78-FDFD-E82497F9C2F5}"/>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499D4136-B3A7-C31D-029B-7E7AB7BEF03D}"/>
              </a:ext>
            </a:extLst>
          </p:cNvPr>
          <p:cNvSpPr>
            <a:spLocks noGrp="1"/>
          </p:cNvSpPr>
          <p:nvPr>
            <p:ph type="sldNum" sz="quarter" idx="12"/>
          </p:nvPr>
        </p:nvSpPr>
        <p:spPr/>
        <p:txBody>
          <a:bodyPr/>
          <a:lstStyle>
            <a:lvl1pPr>
              <a:defRPr/>
            </a:lvl1pPr>
          </a:lstStyle>
          <a:p>
            <a:fld id="{2C0C6A73-EFE5-4837-BA81-55FC2F595251}" type="slidenum">
              <a:rPr lang="en-US" altLang="en-US"/>
              <a:pPr/>
              <a:t>‹#›</a:t>
            </a:fld>
            <a:endParaRPr lang="en-US" altLang="en-US"/>
          </a:p>
        </p:txBody>
      </p:sp>
    </p:spTree>
    <p:extLst>
      <p:ext uri="{BB962C8B-B14F-4D97-AF65-F5344CB8AC3E}">
        <p14:creationId xmlns:p14="http://schemas.microsoft.com/office/powerpoint/2010/main" val="621222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80881D96-6B59-48BC-23DE-C085E87F356D}"/>
              </a:ext>
            </a:extLst>
          </p:cNvPr>
          <p:cNvSpPr>
            <a:spLocks noGrp="1"/>
          </p:cNvSpPr>
          <p:nvPr>
            <p:ph type="dt" sz="half" idx="10"/>
          </p:nvPr>
        </p:nvSpPr>
        <p:spPr/>
        <p:txBody>
          <a:bodyPr/>
          <a:lstStyle>
            <a:lvl1pPr>
              <a:defRPr/>
            </a:lvl1pPr>
          </a:lstStyle>
          <a:p>
            <a:pPr>
              <a:defRPr/>
            </a:pPr>
            <a:fld id="{386E4E49-4BD9-4E38-91BC-F881953A94FB}" type="datetime1">
              <a:rPr lang="en-US"/>
              <a:pPr>
                <a:defRPr/>
              </a:pPr>
              <a:t>11/11/2025</a:t>
            </a:fld>
            <a:endParaRPr lang="en-US"/>
          </a:p>
        </p:txBody>
      </p:sp>
      <p:sp>
        <p:nvSpPr>
          <p:cNvPr id="6" name="Footer Placeholder 4">
            <a:extLst>
              <a:ext uri="{FF2B5EF4-FFF2-40B4-BE49-F238E27FC236}">
                <a16:creationId xmlns:a16="http://schemas.microsoft.com/office/drawing/2014/main" id="{5FBCB36C-61B9-C235-D655-4B2A5EB56F7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D65CA1F3-5806-B025-0130-5DED17F9E0E1}"/>
              </a:ext>
            </a:extLst>
          </p:cNvPr>
          <p:cNvSpPr>
            <a:spLocks noGrp="1"/>
          </p:cNvSpPr>
          <p:nvPr>
            <p:ph type="sldNum" sz="quarter" idx="12"/>
          </p:nvPr>
        </p:nvSpPr>
        <p:spPr/>
        <p:txBody>
          <a:bodyPr/>
          <a:lstStyle>
            <a:lvl1pPr>
              <a:defRPr/>
            </a:lvl1pPr>
          </a:lstStyle>
          <a:p>
            <a:fld id="{D46D9F54-0FA5-4CB4-B56D-60F330E08F63}" type="slidenum">
              <a:rPr lang="en-US" altLang="en-US"/>
              <a:pPr/>
              <a:t>‹#›</a:t>
            </a:fld>
            <a:endParaRPr lang="en-US" altLang="en-US"/>
          </a:p>
        </p:txBody>
      </p:sp>
    </p:spTree>
    <p:extLst>
      <p:ext uri="{BB962C8B-B14F-4D97-AF65-F5344CB8AC3E}">
        <p14:creationId xmlns:p14="http://schemas.microsoft.com/office/powerpoint/2010/main" val="2101461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EFAC3EED-5E73-9BBB-1FC1-DE6B44C92E9C}"/>
              </a:ext>
            </a:extLst>
          </p:cNvPr>
          <p:cNvSpPr>
            <a:spLocks noGrp="1"/>
          </p:cNvSpPr>
          <p:nvPr>
            <p:ph type="dt" sz="half" idx="10"/>
          </p:nvPr>
        </p:nvSpPr>
        <p:spPr/>
        <p:txBody>
          <a:bodyPr/>
          <a:lstStyle>
            <a:lvl1pPr>
              <a:defRPr/>
            </a:lvl1pPr>
          </a:lstStyle>
          <a:p>
            <a:pPr>
              <a:defRPr/>
            </a:pPr>
            <a:fld id="{A76A3443-66EF-4F31-B0B5-D75EC6E6526F}" type="datetime1">
              <a:rPr lang="en-US"/>
              <a:pPr>
                <a:defRPr/>
              </a:pPr>
              <a:t>11/11/2025</a:t>
            </a:fld>
            <a:endParaRPr lang="en-US"/>
          </a:p>
        </p:txBody>
      </p:sp>
      <p:sp>
        <p:nvSpPr>
          <p:cNvPr id="6" name="Footer Placeholder 4">
            <a:extLst>
              <a:ext uri="{FF2B5EF4-FFF2-40B4-BE49-F238E27FC236}">
                <a16:creationId xmlns:a16="http://schemas.microsoft.com/office/drawing/2014/main" id="{0F729DB8-F21F-CA2C-8A1E-3872DE705FE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3109406-8497-917A-C2C6-566890650580}"/>
              </a:ext>
            </a:extLst>
          </p:cNvPr>
          <p:cNvSpPr>
            <a:spLocks noGrp="1"/>
          </p:cNvSpPr>
          <p:nvPr>
            <p:ph type="sldNum" sz="quarter" idx="12"/>
          </p:nvPr>
        </p:nvSpPr>
        <p:spPr/>
        <p:txBody>
          <a:bodyPr/>
          <a:lstStyle>
            <a:lvl1pPr>
              <a:defRPr/>
            </a:lvl1pPr>
          </a:lstStyle>
          <a:p>
            <a:fld id="{4CCC5251-FDCD-4D9A-B485-2050BE497E5E}" type="slidenum">
              <a:rPr lang="en-US" altLang="en-US"/>
              <a:pPr/>
              <a:t>‹#›</a:t>
            </a:fld>
            <a:endParaRPr lang="en-US" altLang="en-US"/>
          </a:p>
        </p:txBody>
      </p:sp>
    </p:spTree>
    <p:extLst>
      <p:ext uri="{BB962C8B-B14F-4D97-AF65-F5344CB8AC3E}">
        <p14:creationId xmlns:p14="http://schemas.microsoft.com/office/powerpoint/2010/main" val="413839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1E6C79-48BF-E4EE-6DF3-96EC232A3A4A}"/>
              </a:ext>
            </a:extLst>
          </p:cNvPr>
          <p:cNvSpPr>
            <a:spLocks noGrp="1"/>
          </p:cNvSpPr>
          <p:nvPr>
            <p:ph type="dt" sz="half" idx="10"/>
          </p:nvPr>
        </p:nvSpPr>
        <p:spPr/>
        <p:txBody>
          <a:bodyPr/>
          <a:lstStyle>
            <a:lvl1pPr>
              <a:defRPr/>
            </a:lvl1pPr>
          </a:lstStyle>
          <a:p>
            <a:pPr>
              <a:defRPr/>
            </a:pPr>
            <a:fld id="{D512922C-8A06-40E8-887A-81563FCD83D2}" type="datetime1">
              <a:rPr lang="en-US"/>
              <a:pPr>
                <a:defRPr/>
              </a:pPr>
              <a:t>11/11/2025</a:t>
            </a:fld>
            <a:endParaRPr lang="en-US"/>
          </a:p>
        </p:txBody>
      </p:sp>
      <p:sp>
        <p:nvSpPr>
          <p:cNvPr id="5" name="Footer Placeholder 4">
            <a:extLst>
              <a:ext uri="{FF2B5EF4-FFF2-40B4-BE49-F238E27FC236}">
                <a16:creationId xmlns:a16="http://schemas.microsoft.com/office/drawing/2014/main" id="{35735046-BD3C-0136-72EF-139EDD886C3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A197369-ED41-81AE-5412-F978CA0545BF}"/>
              </a:ext>
            </a:extLst>
          </p:cNvPr>
          <p:cNvSpPr>
            <a:spLocks noGrp="1"/>
          </p:cNvSpPr>
          <p:nvPr>
            <p:ph type="sldNum" sz="quarter" idx="12"/>
          </p:nvPr>
        </p:nvSpPr>
        <p:spPr/>
        <p:txBody>
          <a:bodyPr/>
          <a:lstStyle>
            <a:lvl1pPr>
              <a:defRPr/>
            </a:lvl1pPr>
          </a:lstStyle>
          <a:p>
            <a:fld id="{49183DE4-FDE6-4375-BCF3-647C469631B3}" type="slidenum">
              <a:rPr lang="en-US" altLang="en-US"/>
              <a:pPr/>
              <a:t>‹#›</a:t>
            </a:fld>
            <a:endParaRPr lang="en-US" altLang="en-US"/>
          </a:p>
        </p:txBody>
      </p:sp>
    </p:spTree>
    <p:extLst>
      <p:ext uri="{BB962C8B-B14F-4D97-AF65-F5344CB8AC3E}">
        <p14:creationId xmlns:p14="http://schemas.microsoft.com/office/powerpoint/2010/main" val="3214132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9F46C3-DD7F-712F-7CAD-A03FF1B09E99}"/>
              </a:ext>
            </a:extLst>
          </p:cNvPr>
          <p:cNvSpPr>
            <a:spLocks noGrp="1"/>
          </p:cNvSpPr>
          <p:nvPr>
            <p:ph type="dt" sz="half" idx="10"/>
          </p:nvPr>
        </p:nvSpPr>
        <p:spPr/>
        <p:txBody>
          <a:bodyPr/>
          <a:lstStyle>
            <a:lvl1pPr>
              <a:defRPr/>
            </a:lvl1pPr>
          </a:lstStyle>
          <a:p>
            <a:pPr>
              <a:defRPr/>
            </a:pPr>
            <a:fld id="{6D6161C9-CBF2-4526-A545-BFD578F8F035}" type="datetime1">
              <a:rPr lang="en-US"/>
              <a:pPr>
                <a:defRPr/>
              </a:pPr>
              <a:t>11/11/2025</a:t>
            </a:fld>
            <a:endParaRPr lang="en-US"/>
          </a:p>
        </p:txBody>
      </p:sp>
      <p:sp>
        <p:nvSpPr>
          <p:cNvPr id="5" name="Footer Placeholder 4">
            <a:extLst>
              <a:ext uri="{FF2B5EF4-FFF2-40B4-BE49-F238E27FC236}">
                <a16:creationId xmlns:a16="http://schemas.microsoft.com/office/drawing/2014/main" id="{B8271873-3A66-8FBB-FBE9-C0D08929497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10051E6-63A8-9AFD-5164-5E8B848A501C}"/>
              </a:ext>
            </a:extLst>
          </p:cNvPr>
          <p:cNvSpPr>
            <a:spLocks noGrp="1"/>
          </p:cNvSpPr>
          <p:nvPr>
            <p:ph type="sldNum" sz="quarter" idx="12"/>
          </p:nvPr>
        </p:nvSpPr>
        <p:spPr/>
        <p:txBody>
          <a:bodyPr/>
          <a:lstStyle>
            <a:lvl1pPr>
              <a:defRPr/>
            </a:lvl1pPr>
          </a:lstStyle>
          <a:p>
            <a:fld id="{1393CCE9-BBC1-448D-AC81-ACDBD0FE958D}" type="slidenum">
              <a:rPr lang="en-US" altLang="en-US"/>
              <a:pPr/>
              <a:t>‹#›</a:t>
            </a:fld>
            <a:endParaRPr lang="en-US" altLang="en-US"/>
          </a:p>
        </p:txBody>
      </p:sp>
    </p:spTree>
    <p:extLst>
      <p:ext uri="{BB962C8B-B14F-4D97-AF65-F5344CB8AC3E}">
        <p14:creationId xmlns:p14="http://schemas.microsoft.com/office/powerpoint/2010/main" val="1902669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8B7B96F5-E4DF-9D20-FA96-979F54FD6034}"/>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B61E408C-450F-F149-73F2-577700281F2A}"/>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E191732B-9895-FFD1-7B75-C3703CE01827}"/>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smtClean="0">
                <a:solidFill>
                  <a:schemeClr val="tx1">
                    <a:tint val="75000"/>
                  </a:schemeClr>
                </a:solidFill>
                <a:latin typeface="Arial" charset="0"/>
              </a:defRPr>
            </a:lvl1pPr>
          </a:lstStyle>
          <a:p>
            <a:pPr>
              <a:defRPr/>
            </a:pPr>
            <a:fld id="{31B05F06-0009-4834-AAB2-620BBA55E43E}" type="datetime1">
              <a:rPr lang="en-US"/>
              <a:pPr>
                <a:defRPr/>
              </a:pPr>
              <a:t>11/11/2025</a:t>
            </a:fld>
            <a:endParaRPr lang="en-US"/>
          </a:p>
        </p:txBody>
      </p:sp>
      <p:sp>
        <p:nvSpPr>
          <p:cNvPr id="5" name="Footer Placeholder 4">
            <a:extLst>
              <a:ext uri="{FF2B5EF4-FFF2-40B4-BE49-F238E27FC236}">
                <a16:creationId xmlns:a16="http://schemas.microsoft.com/office/drawing/2014/main" id="{C19BA9A7-D822-0A95-09A4-DC161EED7973}"/>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defRPr>
            </a:lvl1pPr>
          </a:lstStyle>
          <a:p>
            <a:pPr>
              <a:defRPr/>
            </a:pPr>
            <a:endParaRPr lang="en-US"/>
          </a:p>
        </p:txBody>
      </p:sp>
      <p:sp>
        <p:nvSpPr>
          <p:cNvPr id="6" name="Slide Number Placeholder 5">
            <a:extLst>
              <a:ext uri="{FF2B5EF4-FFF2-40B4-BE49-F238E27FC236}">
                <a16:creationId xmlns:a16="http://schemas.microsoft.com/office/drawing/2014/main" id="{D5560946-6C72-244A-4F06-5408F48E2280}"/>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46CF22D0-2B15-41FF-BA26-935D471FE2D6}"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a:extLst>
              <a:ext uri="{FF2B5EF4-FFF2-40B4-BE49-F238E27FC236}">
                <a16:creationId xmlns:a16="http://schemas.microsoft.com/office/drawing/2014/main" id="{F16972F9-6363-8F8D-7524-017A5F746831}"/>
              </a:ext>
            </a:extLst>
          </p:cNvPr>
          <p:cNvSpPr>
            <a:spLocks noGrp="1"/>
          </p:cNvSpPr>
          <p:nvPr>
            <p:ph type="ctrTitle"/>
          </p:nvPr>
        </p:nvSpPr>
        <p:spPr/>
        <p:txBody>
          <a:bodyPr/>
          <a:lstStyle/>
          <a:p>
            <a:r>
              <a:rPr lang="en-US" altLang="en-US"/>
              <a:t>Database &amp; Storage Security</a:t>
            </a:r>
          </a:p>
        </p:txBody>
      </p:sp>
      <p:sp>
        <p:nvSpPr>
          <p:cNvPr id="4" name="Subtitle 3">
            <a:extLst>
              <a:ext uri="{FF2B5EF4-FFF2-40B4-BE49-F238E27FC236}">
                <a16:creationId xmlns:a16="http://schemas.microsoft.com/office/drawing/2014/main" id="{31ABA7D1-62C6-6310-0469-D3BA721F860C}"/>
              </a:ext>
            </a:extLst>
          </p:cNvPr>
          <p:cNvSpPr>
            <a:spLocks noGrp="1"/>
          </p:cNvSpPr>
          <p:nvPr>
            <p:ph type="subTitle" idx="1"/>
          </p:nvPr>
        </p:nvSpPr>
        <p:spPr/>
        <p:txBody>
          <a:bodyPr/>
          <a:lstStyle/>
          <a:p>
            <a:pPr>
              <a:buFont typeface="Arial" charset="0"/>
              <a:buNone/>
              <a:defRPr/>
            </a:pPr>
            <a:r>
              <a:rPr lang="en-US" dirty="0"/>
              <a:t>Dr. Mohammad Abu </a:t>
            </a:r>
            <a:r>
              <a:rPr lang="en-US" dirty="0" err="1"/>
              <a:t>Yousuf</a:t>
            </a:r>
            <a:endParaRPr lang="en-US" dirty="0"/>
          </a:p>
          <a:p>
            <a:pPr>
              <a:buFont typeface="Arial" charset="0"/>
              <a:buNone/>
              <a:defRPr/>
            </a:pPr>
            <a:r>
              <a:rPr lang="en-US" dirty="0"/>
              <a:t>yousuf@juniv.edu</a:t>
            </a:r>
          </a:p>
        </p:txBody>
      </p:sp>
      <p:sp>
        <p:nvSpPr>
          <p:cNvPr id="5" name="Slide Number Placeholder 4">
            <a:extLst>
              <a:ext uri="{FF2B5EF4-FFF2-40B4-BE49-F238E27FC236}">
                <a16:creationId xmlns:a16="http://schemas.microsoft.com/office/drawing/2014/main" id="{EAD25AAD-6DCA-1AD2-1A2F-984CBA19360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DA42FAAB-C258-4A7E-912F-27390C7D2A63}" type="slidenum">
              <a:rPr lang="en-US" altLang="en-US">
                <a:solidFill>
                  <a:srgbClr val="898989"/>
                </a:solidFill>
              </a:rPr>
              <a:pPr eaLnBrk="1" hangingPunct="1"/>
              <a:t>1</a:t>
            </a:fld>
            <a:endParaRPr lang="en-US" altLang="en-US">
              <a:solidFill>
                <a:srgbClr val="898989"/>
              </a:solidFill>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a:extLst>
              <a:ext uri="{FF2B5EF4-FFF2-40B4-BE49-F238E27FC236}">
                <a16:creationId xmlns:a16="http://schemas.microsoft.com/office/drawing/2014/main" id="{9E4139F0-8CD7-0D7B-65C5-B4D8D3EA1098}"/>
              </a:ext>
            </a:extLst>
          </p:cNvPr>
          <p:cNvSpPr>
            <a:spLocks noGrp="1"/>
          </p:cNvSpPr>
          <p:nvPr>
            <p:ph type="ctrTitle"/>
          </p:nvPr>
        </p:nvSpPr>
        <p:spPr>
          <a:xfrm>
            <a:off x="457200" y="2819400"/>
            <a:ext cx="7924800" cy="993775"/>
          </a:xfrm>
        </p:spPr>
        <p:txBody>
          <a:bodyPr rtlCol="0">
            <a:normAutofit fontScale="90000"/>
          </a:bodyPr>
          <a:lstStyle/>
          <a:p>
            <a:pPr eaLnBrk="1" fontAlgn="auto" hangingPunct="1">
              <a:spcAft>
                <a:spcPts val="0"/>
              </a:spcAft>
              <a:defRPr/>
            </a:pPr>
            <a:r>
              <a:rPr lang="en-US" sz="3600" b="1" dirty="0">
                <a:latin typeface="Arial" charset="0"/>
                <a:cs typeface="Arial" charset="0"/>
              </a:rPr>
              <a:t>Managing and Querying Encrypted Data</a:t>
            </a:r>
          </a:p>
        </p:txBody>
      </p:sp>
      <p:sp>
        <p:nvSpPr>
          <p:cNvPr id="3" name="Slide Number Placeholder 2">
            <a:extLst>
              <a:ext uri="{FF2B5EF4-FFF2-40B4-BE49-F238E27FC236}">
                <a16:creationId xmlns:a16="http://schemas.microsoft.com/office/drawing/2014/main" id="{A31C9F40-3D15-119F-4CFF-59B99F12D9E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FD96B2D7-D767-4759-B72B-EDD1A7009B9E}" type="slidenum">
              <a:rPr lang="en-US" altLang="en-US">
                <a:solidFill>
                  <a:srgbClr val="898989"/>
                </a:solidFill>
              </a:rPr>
              <a:pPr eaLnBrk="1" hangingPunct="1"/>
              <a:t>2</a:t>
            </a:fld>
            <a:endParaRPr lang="en-US" altLang="en-US">
              <a:solidFill>
                <a:srgbClr val="89898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A7B28CF6-A5C3-5BBB-C89B-51528C0B31C4}"/>
              </a:ext>
            </a:extLst>
          </p:cNvPr>
          <p:cNvSpPr>
            <a:spLocks noGrp="1"/>
          </p:cNvSpPr>
          <p:nvPr>
            <p:ph type="title"/>
          </p:nvPr>
        </p:nvSpPr>
        <p:spPr/>
        <p:txBody>
          <a:bodyPr/>
          <a:lstStyle/>
          <a:p>
            <a:pPr eaLnBrk="1" hangingPunct="1"/>
            <a:r>
              <a:rPr lang="en-US" altLang="en-US" sz="3600" b="1">
                <a:latin typeface="Arial" panose="020B0604020202020204" pitchFamily="34" charset="0"/>
                <a:cs typeface="Arial" panose="020B0604020202020204" pitchFamily="34" charset="0"/>
              </a:rPr>
              <a:t>Introduction</a:t>
            </a:r>
          </a:p>
        </p:txBody>
      </p:sp>
      <p:sp>
        <p:nvSpPr>
          <p:cNvPr id="4099" name="Content Placeholder 2">
            <a:extLst>
              <a:ext uri="{FF2B5EF4-FFF2-40B4-BE49-F238E27FC236}">
                <a16:creationId xmlns:a16="http://schemas.microsoft.com/office/drawing/2014/main" id="{A653A009-8C4E-EBEE-B38A-CF481B8A0E3A}"/>
              </a:ext>
            </a:extLst>
          </p:cNvPr>
          <p:cNvSpPr>
            <a:spLocks noGrp="1"/>
          </p:cNvSpPr>
          <p:nvPr>
            <p:ph idx="1"/>
          </p:nvPr>
        </p:nvSpPr>
        <p:spPr>
          <a:xfrm>
            <a:off x="457200" y="1371600"/>
            <a:ext cx="8229600" cy="5410200"/>
          </a:xfrm>
        </p:spPr>
        <p:txBody>
          <a:bodyPr/>
          <a:lstStyle/>
          <a:p>
            <a:pPr lvl="1" eaLnBrk="1" hangingPunct="1">
              <a:spcBef>
                <a:spcPts val="600"/>
              </a:spcBef>
              <a:spcAft>
                <a:spcPts val="600"/>
              </a:spcAft>
              <a:buFont typeface="Courier New" panose="02070309020205020404" pitchFamily="49" charset="0"/>
              <a:buChar char="o"/>
            </a:pPr>
            <a:r>
              <a:rPr lang="en-US" altLang="en-US" sz="2400">
                <a:latin typeface="Arial" panose="020B0604020202020204" pitchFamily="34" charset="0"/>
                <a:cs typeface="Arial" panose="020B0604020202020204" pitchFamily="34" charset="0"/>
              </a:rPr>
              <a:t>Encryption ensures confidentiality</a:t>
            </a:r>
          </a:p>
          <a:p>
            <a:pPr lvl="1" eaLnBrk="1" hangingPunct="1">
              <a:spcBef>
                <a:spcPts val="600"/>
              </a:spcBef>
              <a:spcAft>
                <a:spcPts val="600"/>
              </a:spcAft>
              <a:buFont typeface="Courier New" panose="02070309020205020404" pitchFamily="49" charset="0"/>
              <a:buChar char="o"/>
            </a:pPr>
            <a:r>
              <a:rPr lang="en-US" altLang="en-US" sz="2400">
                <a:latin typeface="Arial" panose="020B0604020202020204" pitchFamily="34" charset="0"/>
                <a:cs typeface="Arial" panose="020B0604020202020204" pitchFamily="34" charset="0"/>
              </a:rPr>
              <a:t>It has overhead</a:t>
            </a:r>
          </a:p>
          <a:p>
            <a:pPr lvl="2" eaLnBrk="1" hangingPunct="1">
              <a:spcBef>
                <a:spcPts val="600"/>
              </a:spcBef>
              <a:spcAft>
                <a:spcPts val="600"/>
              </a:spcAft>
              <a:buFont typeface="Courier New" panose="02070309020205020404" pitchFamily="49" charset="0"/>
              <a:buChar char="o"/>
            </a:pPr>
            <a:r>
              <a:rPr lang="en-US" altLang="en-US" sz="2200">
                <a:latin typeface="Arial" panose="020B0604020202020204" pitchFamily="34" charset="0"/>
                <a:cs typeface="Arial" panose="020B0604020202020204" pitchFamily="34" charset="0"/>
              </a:rPr>
              <a:t>Selection of appropriate algorithm</a:t>
            </a:r>
          </a:p>
          <a:p>
            <a:pPr lvl="2" eaLnBrk="1" hangingPunct="1">
              <a:spcBef>
                <a:spcPts val="600"/>
              </a:spcBef>
              <a:spcAft>
                <a:spcPts val="600"/>
              </a:spcAft>
              <a:buFont typeface="Courier New" panose="02070309020205020404" pitchFamily="49" charset="0"/>
              <a:buChar char="o"/>
            </a:pPr>
            <a:r>
              <a:rPr lang="en-US" altLang="en-US" sz="2200">
                <a:latin typeface="Arial" panose="020B0604020202020204" pitchFamily="34" charset="0"/>
                <a:cs typeface="Arial" panose="020B0604020202020204" pitchFamily="34" charset="0"/>
              </a:rPr>
              <a:t>Key management</a:t>
            </a:r>
          </a:p>
          <a:p>
            <a:pPr lvl="2" eaLnBrk="1" hangingPunct="1">
              <a:spcBef>
                <a:spcPts val="600"/>
              </a:spcBef>
              <a:spcAft>
                <a:spcPts val="600"/>
              </a:spcAft>
              <a:buFont typeface="Courier New" panose="02070309020205020404" pitchFamily="49" charset="0"/>
              <a:buChar char="o"/>
            </a:pPr>
            <a:r>
              <a:rPr lang="en-US" altLang="en-US" sz="2200">
                <a:latin typeface="Arial" panose="020B0604020202020204" pitchFamily="34" charset="0"/>
                <a:cs typeface="Arial" panose="020B0604020202020204" pitchFamily="34" charset="0"/>
              </a:rPr>
              <a:t>Query on encrypted data</a:t>
            </a:r>
          </a:p>
          <a:p>
            <a:pPr lvl="3" eaLnBrk="1" hangingPunct="1">
              <a:spcBef>
                <a:spcPts val="600"/>
              </a:spcBef>
              <a:spcAft>
                <a:spcPts val="600"/>
              </a:spcAft>
              <a:buFont typeface="Courier New" panose="02070309020205020404" pitchFamily="49" charset="0"/>
              <a:buChar char="o"/>
            </a:pPr>
            <a:r>
              <a:rPr lang="en-US" altLang="en-US">
                <a:latin typeface="Arial" panose="020B0604020202020204" pitchFamily="34" charset="0"/>
                <a:cs typeface="Arial" panose="020B0604020202020204" pitchFamily="34" charset="0"/>
              </a:rPr>
              <a:t>Comparison operation</a:t>
            </a:r>
          </a:p>
          <a:p>
            <a:pPr lvl="3" eaLnBrk="1" hangingPunct="1">
              <a:spcBef>
                <a:spcPts val="600"/>
              </a:spcBef>
              <a:spcAft>
                <a:spcPts val="600"/>
              </a:spcAft>
              <a:buFont typeface="Courier New" panose="02070309020205020404" pitchFamily="49" charset="0"/>
              <a:buChar char="o"/>
            </a:pPr>
            <a:r>
              <a:rPr lang="en-US" altLang="en-US">
                <a:latin typeface="Arial" panose="020B0604020202020204" pitchFamily="34" charset="0"/>
                <a:cs typeface="Arial" panose="020B0604020202020204" pitchFamily="34" charset="0"/>
              </a:rPr>
              <a:t>Arithmetic operation</a:t>
            </a:r>
          </a:p>
          <a:p>
            <a:pPr lvl="3" eaLnBrk="1" hangingPunct="1">
              <a:spcBef>
                <a:spcPts val="600"/>
              </a:spcBef>
              <a:spcAft>
                <a:spcPts val="600"/>
              </a:spcAft>
              <a:buFont typeface="Courier New" panose="02070309020205020404" pitchFamily="49" charset="0"/>
              <a:buChar char="o"/>
            </a:pPr>
            <a:r>
              <a:rPr lang="en-US" altLang="en-US">
                <a:latin typeface="Arial" panose="020B0604020202020204" pitchFamily="34" charset="0"/>
                <a:cs typeface="Arial" panose="020B0604020202020204" pitchFamily="34" charset="0"/>
              </a:rPr>
              <a:t>Keyword matching over encrypted data.</a:t>
            </a:r>
          </a:p>
          <a:p>
            <a:pPr lvl="1" eaLnBrk="1" hangingPunct="1">
              <a:spcBef>
                <a:spcPts val="600"/>
              </a:spcBef>
              <a:spcAft>
                <a:spcPts val="600"/>
              </a:spcAft>
              <a:buFont typeface="Courier New" panose="02070309020205020404" pitchFamily="49" charset="0"/>
              <a:buChar char="o"/>
            </a:pPr>
            <a:r>
              <a:rPr lang="en-US" altLang="en-US" sz="2400">
                <a:latin typeface="Arial" panose="020B0604020202020204" pitchFamily="34" charset="0"/>
                <a:cs typeface="Arial" panose="020B0604020202020204" pitchFamily="34" charset="0"/>
              </a:rPr>
              <a:t>Only the encryption techniques can not work well.</a:t>
            </a:r>
          </a:p>
          <a:p>
            <a:pPr lvl="1" eaLnBrk="1" hangingPunct="1">
              <a:spcBef>
                <a:spcPts val="600"/>
              </a:spcBef>
              <a:spcAft>
                <a:spcPts val="600"/>
              </a:spcAft>
              <a:buFont typeface="Arial" panose="020B0604020202020204" pitchFamily="34" charset="0"/>
              <a:buNone/>
            </a:pPr>
            <a:r>
              <a:rPr lang="en-US" altLang="en-US" sz="2400">
                <a:latin typeface="Arial" panose="020B0604020202020204" pitchFamily="34" charset="0"/>
                <a:cs typeface="Arial" panose="020B0604020202020204" pitchFamily="34" charset="0"/>
              </a:rPr>
              <a:t>	</a:t>
            </a:r>
          </a:p>
        </p:txBody>
      </p:sp>
      <p:sp>
        <p:nvSpPr>
          <p:cNvPr id="4" name="Slide Number Placeholder 3">
            <a:extLst>
              <a:ext uri="{FF2B5EF4-FFF2-40B4-BE49-F238E27FC236}">
                <a16:creationId xmlns:a16="http://schemas.microsoft.com/office/drawing/2014/main" id="{3F3F57D7-EDDF-1EA7-4254-F620ACDD06E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E5B527D3-1A2F-4EAA-A87A-F7EF3F1C3EBF}" type="slidenum">
              <a:rPr lang="en-US" altLang="en-US">
                <a:solidFill>
                  <a:srgbClr val="898989"/>
                </a:solidFill>
              </a:rPr>
              <a:pPr eaLnBrk="1" hangingPunct="1"/>
              <a:t>3</a:t>
            </a:fld>
            <a:endParaRPr lang="en-US" altLang="en-US">
              <a:solidFill>
                <a:srgbClr val="89898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47F9D93E-9466-C0B8-3ECF-5081945CF753}"/>
              </a:ext>
            </a:extLst>
          </p:cNvPr>
          <p:cNvSpPr>
            <a:spLocks noGrp="1"/>
          </p:cNvSpPr>
          <p:nvPr>
            <p:ph type="title"/>
          </p:nvPr>
        </p:nvSpPr>
        <p:spPr/>
        <p:txBody>
          <a:bodyPr/>
          <a:lstStyle/>
          <a:p>
            <a:pPr eaLnBrk="1" hangingPunct="1"/>
            <a:r>
              <a:rPr lang="en-US" altLang="en-US" sz="3600" b="1">
                <a:latin typeface="Arial" panose="020B0604020202020204" pitchFamily="34" charset="0"/>
                <a:cs typeface="Arial" panose="020B0604020202020204" pitchFamily="34" charset="0"/>
              </a:rPr>
              <a:t>Introduction</a:t>
            </a:r>
          </a:p>
        </p:txBody>
      </p:sp>
      <p:sp>
        <p:nvSpPr>
          <p:cNvPr id="5123" name="Content Placeholder 2">
            <a:extLst>
              <a:ext uri="{FF2B5EF4-FFF2-40B4-BE49-F238E27FC236}">
                <a16:creationId xmlns:a16="http://schemas.microsoft.com/office/drawing/2014/main" id="{04A5E22A-3FC9-6354-D0D4-1FFDDF96628D}"/>
              </a:ext>
            </a:extLst>
          </p:cNvPr>
          <p:cNvSpPr>
            <a:spLocks noGrp="1"/>
          </p:cNvSpPr>
          <p:nvPr>
            <p:ph idx="1"/>
          </p:nvPr>
        </p:nvSpPr>
        <p:spPr>
          <a:xfrm>
            <a:off x="457200" y="1447800"/>
            <a:ext cx="8229600" cy="762000"/>
          </a:xfrm>
        </p:spPr>
        <p:txBody>
          <a:bodyPr/>
          <a:lstStyle/>
          <a:p>
            <a:pPr eaLnBrk="1" hangingPunct="1">
              <a:spcBef>
                <a:spcPts val="600"/>
              </a:spcBef>
              <a:spcAft>
                <a:spcPts val="600"/>
              </a:spcAft>
              <a:buFont typeface="Arial" panose="020B0604020202020204" pitchFamily="34" charset="0"/>
              <a:buNone/>
            </a:pPr>
            <a:r>
              <a:rPr lang="en-US" altLang="en-US" sz="2600">
                <a:latin typeface="Arial" panose="020B0604020202020204" pitchFamily="34" charset="0"/>
                <a:ea typeface="ＭＳ Ｐゴシック" panose="020B0600070205080204" pitchFamily="34" charset="-128"/>
                <a:cs typeface="Arial" panose="020B0604020202020204" pitchFamily="34" charset="0"/>
              </a:rPr>
              <a:t>Data As a Service (DAS) model:</a:t>
            </a:r>
          </a:p>
        </p:txBody>
      </p:sp>
      <p:sp>
        <p:nvSpPr>
          <p:cNvPr id="4" name="Cloud">
            <a:extLst>
              <a:ext uri="{FF2B5EF4-FFF2-40B4-BE49-F238E27FC236}">
                <a16:creationId xmlns:a16="http://schemas.microsoft.com/office/drawing/2014/main" id="{F608A3AC-6068-8030-C27A-BDB0AB1EFA76}"/>
              </a:ext>
            </a:extLst>
          </p:cNvPr>
          <p:cNvSpPr>
            <a:spLocks noChangeAspect="1" noEditPoints="1" noChangeArrowheads="1"/>
          </p:cNvSpPr>
          <p:nvPr/>
        </p:nvSpPr>
        <p:spPr bwMode="auto">
          <a:xfrm>
            <a:off x="2743200" y="2438400"/>
            <a:ext cx="2743200" cy="1838325"/>
          </a:xfrm>
          <a:custGeom>
            <a:avLst/>
            <a:gdLst>
              <a:gd name="T0" fmla="*/ 8509 w 21600"/>
              <a:gd name="T1" fmla="*/ 919163 h 21600"/>
              <a:gd name="T2" fmla="*/ 1371600 w 21600"/>
              <a:gd name="T3" fmla="*/ 1836368 h 21600"/>
              <a:gd name="T4" fmla="*/ 2740914 w 21600"/>
              <a:gd name="T5" fmla="*/ 919163 h 21600"/>
              <a:gd name="T6" fmla="*/ 1371600 w 21600"/>
              <a:gd name="T7" fmla="*/ 105108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1" y="8613"/>
                  <a:pt x="-1" y="10137"/>
                </a:cubicBezTo>
                <a:cubicBezTo>
                  <a:pt x="-1" y="11192"/>
                  <a:pt x="409" y="12169"/>
                  <a:pt x="1074" y="12702"/>
                </a:cubicBezTo>
                <a:lnTo>
                  <a:pt x="1063" y="12668"/>
                </a:lnTo>
                <a:cubicBezTo>
                  <a:pt x="685" y="13217"/>
                  <a:pt x="474" y="13940"/>
                  <a:pt x="474" y="14690"/>
                </a:cubicBezTo>
                <a:cubicBezTo>
                  <a:pt x="475" y="16325"/>
                  <a:pt x="1451" y="17650"/>
                  <a:pt x="2655" y="17650"/>
                </a:cubicBezTo>
                <a:cubicBezTo>
                  <a:pt x="2739" y="17650"/>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1"/>
                  <a:pt x="16758" y="-1"/>
                </a:cubicBezTo>
                <a:cubicBezTo>
                  <a:pt x="16044" y="-1"/>
                  <a:pt x="15367" y="426"/>
                  <a:pt x="14905" y="1165"/>
                </a:cubicBezTo>
                <a:lnTo>
                  <a:pt x="14909" y="1170"/>
                </a:lnTo>
                <a:cubicBezTo>
                  <a:pt x="14497" y="432"/>
                  <a:pt x="13855" y="-1"/>
                  <a:pt x="13174" y="-1"/>
                </a:cubicBezTo>
                <a:cubicBezTo>
                  <a:pt x="12347" y="-1"/>
                  <a:pt x="11590" y="637"/>
                  <a:pt x="11221" y="1645"/>
                </a:cubicBezTo>
                <a:lnTo>
                  <a:pt x="11229" y="1694"/>
                </a:lnTo>
                <a:cubicBezTo>
                  <a:pt x="10730" y="1024"/>
                  <a:pt x="10058" y="649"/>
                  <a:pt x="9358" y="649"/>
                </a:cubicBezTo>
                <a:cubicBezTo>
                  <a:pt x="8372" y="649"/>
                  <a:pt x="7466" y="1391"/>
                  <a:pt x="7003" y="2578"/>
                </a:cubicBezTo>
                <a:lnTo>
                  <a:pt x="6995" y="2602"/>
                </a:lnTo>
                <a:cubicBezTo>
                  <a:pt x="6477" y="2189"/>
                  <a:pt x="5888" y="1971"/>
                  <a:pt x="5288" y="1971"/>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DDDDDD"/>
          </a:solidFill>
          <a:ln w="9525">
            <a:solidFill>
              <a:srgbClr val="000000"/>
            </a:solidFill>
            <a:miter lim="800000"/>
            <a:headEnd/>
            <a:tailEnd/>
          </a:ln>
          <a:effectLst>
            <a:outerShdw dist="107763" dir="2700000" algn="ctr" rotWithShape="0">
              <a:srgbClr val="000000">
                <a:alpha val="74997"/>
              </a:srgbClr>
            </a:outerShdw>
          </a:effectLst>
        </p:spPr>
        <p:txBody>
          <a:bodyPr/>
          <a:lstStyle/>
          <a:p>
            <a:pPr>
              <a:defRPr/>
            </a:pPr>
            <a:endParaRPr lang="en-US"/>
          </a:p>
        </p:txBody>
      </p:sp>
      <p:pic>
        <p:nvPicPr>
          <p:cNvPr id="5125" name="Picture 1">
            <a:extLst>
              <a:ext uri="{FF2B5EF4-FFF2-40B4-BE49-F238E27FC236}">
                <a16:creationId xmlns:a16="http://schemas.microsoft.com/office/drawing/2014/main" id="{881A44E6-00ED-307E-20F4-4678D63D0FA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2133600"/>
            <a:ext cx="22479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6" name="Picture 2">
            <a:extLst>
              <a:ext uri="{FF2B5EF4-FFF2-40B4-BE49-F238E27FC236}">
                <a16:creationId xmlns:a16="http://schemas.microsoft.com/office/drawing/2014/main" id="{E594032A-5F3A-247B-A636-DA4CB247819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286000"/>
            <a:ext cx="1706563"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7" name="Picture 4">
            <a:extLst>
              <a:ext uri="{FF2B5EF4-FFF2-40B4-BE49-F238E27FC236}">
                <a16:creationId xmlns:a16="http://schemas.microsoft.com/office/drawing/2014/main" id="{863064B2-0A81-8813-B50B-5E6BB8C896E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5105400"/>
            <a:ext cx="26797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Straight Connector 6">
            <a:extLst>
              <a:ext uri="{FF2B5EF4-FFF2-40B4-BE49-F238E27FC236}">
                <a16:creationId xmlns:a16="http://schemas.microsoft.com/office/drawing/2014/main" id="{0C34D8A3-8F8B-1381-FEE8-28913C728287}"/>
              </a:ext>
            </a:extLst>
          </p:cNvPr>
          <p:cNvCxnSpPr>
            <a:endCxn id="4" idx="0"/>
          </p:cNvCxnSpPr>
          <p:nvPr/>
        </p:nvCxnSpPr>
        <p:spPr>
          <a:xfrm>
            <a:off x="1828800" y="3352800"/>
            <a:ext cx="922338" cy="4763"/>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E5C9FCB-74EA-226A-4DEB-D58C794EC175}"/>
              </a:ext>
            </a:extLst>
          </p:cNvPr>
          <p:cNvCxnSpPr/>
          <p:nvPr/>
        </p:nvCxnSpPr>
        <p:spPr>
          <a:xfrm>
            <a:off x="5478463" y="3352800"/>
            <a:ext cx="922337" cy="4763"/>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A3B7518-FF9D-94DE-970D-005EB8A41FB7}"/>
              </a:ext>
            </a:extLst>
          </p:cNvPr>
          <p:cNvCxnSpPr>
            <a:stCxn id="4" idx="1"/>
          </p:cNvCxnSpPr>
          <p:nvPr/>
        </p:nvCxnSpPr>
        <p:spPr>
          <a:xfrm>
            <a:off x="4114800" y="4275138"/>
            <a:ext cx="0" cy="1211262"/>
          </a:xfrm>
          <a:prstGeom prst="line">
            <a:avLst/>
          </a:prstGeom>
        </p:spPr>
        <p:style>
          <a:lnRef idx="2">
            <a:schemeClr val="accent1"/>
          </a:lnRef>
          <a:fillRef idx="0">
            <a:schemeClr val="accent1"/>
          </a:fillRef>
          <a:effectRef idx="1">
            <a:schemeClr val="accent1"/>
          </a:effectRef>
          <a:fontRef idx="minor">
            <a:schemeClr val="tx1"/>
          </a:fontRef>
        </p:style>
      </p:cxnSp>
      <p:sp>
        <p:nvSpPr>
          <p:cNvPr id="5131" name="TextBox 11">
            <a:extLst>
              <a:ext uri="{FF2B5EF4-FFF2-40B4-BE49-F238E27FC236}">
                <a16:creationId xmlns:a16="http://schemas.microsoft.com/office/drawing/2014/main" id="{BB6071F2-C36D-2301-F9AF-B492EB3E81D5}"/>
              </a:ext>
            </a:extLst>
          </p:cNvPr>
          <p:cNvSpPr txBox="1">
            <a:spLocks noChangeArrowheads="1"/>
          </p:cNvSpPr>
          <p:nvPr/>
        </p:nvSpPr>
        <p:spPr bwMode="auto">
          <a:xfrm>
            <a:off x="6858000" y="4495800"/>
            <a:ext cx="1600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t>Data Service Provider</a:t>
            </a:r>
          </a:p>
        </p:txBody>
      </p:sp>
      <p:sp>
        <p:nvSpPr>
          <p:cNvPr id="5132" name="TextBox 12">
            <a:extLst>
              <a:ext uri="{FF2B5EF4-FFF2-40B4-BE49-F238E27FC236}">
                <a16:creationId xmlns:a16="http://schemas.microsoft.com/office/drawing/2014/main" id="{F76ACF46-8516-110E-745C-CB5698761E9F}"/>
              </a:ext>
            </a:extLst>
          </p:cNvPr>
          <p:cNvSpPr txBox="1">
            <a:spLocks noChangeArrowheads="1"/>
          </p:cNvSpPr>
          <p:nvPr/>
        </p:nvSpPr>
        <p:spPr bwMode="auto">
          <a:xfrm>
            <a:off x="1447800" y="6324600"/>
            <a:ext cx="1524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t>client</a:t>
            </a:r>
          </a:p>
        </p:txBody>
      </p:sp>
      <p:sp>
        <p:nvSpPr>
          <p:cNvPr id="5133" name="TextBox 13">
            <a:extLst>
              <a:ext uri="{FF2B5EF4-FFF2-40B4-BE49-F238E27FC236}">
                <a16:creationId xmlns:a16="http://schemas.microsoft.com/office/drawing/2014/main" id="{9E8D40B6-9EB2-DF27-BBAC-B899262C53DF}"/>
              </a:ext>
            </a:extLst>
          </p:cNvPr>
          <p:cNvSpPr txBox="1">
            <a:spLocks noChangeArrowheads="1"/>
          </p:cNvSpPr>
          <p:nvPr/>
        </p:nvSpPr>
        <p:spPr bwMode="auto">
          <a:xfrm>
            <a:off x="533400" y="4191000"/>
            <a:ext cx="2514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t>Application Service Provider</a:t>
            </a:r>
          </a:p>
        </p:txBody>
      </p:sp>
      <p:sp>
        <p:nvSpPr>
          <p:cNvPr id="14" name="Slide Number Placeholder 13">
            <a:extLst>
              <a:ext uri="{FF2B5EF4-FFF2-40B4-BE49-F238E27FC236}">
                <a16:creationId xmlns:a16="http://schemas.microsoft.com/office/drawing/2014/main" id="{0D0D6E9B-72BE-0C15-C29D-EE14709A602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AF6F0FD4-8712-4992-AB5B-743419C2D706}" type="slidenum">
              <a:rPr lang="en-US" altLang="en-US">
                <a:solidFill>
                  <a:srgbClr val="898989"/>
                </a:solidFill>
              </a:rPr>
              <a:pPr eaLnBrk="1" hangingPunct="1"/>
              <a:t>4</a:t>
            </a:fld>
            <a:endParaRPr lang="en-US" altLang="en-US">
              <a:solidFill>
                <a:srgbClr val="89898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C3593303-44C1-5712-4BCF-9132A6839EEE}"/>
              </a:ext>
            </a:extLst>
          </p:cNvPr>
          <p:cNvSpPr>
            <a:spLocks noGrp="1"/>
          </p:cNvSpPr>
          <p:nvPr>
            <p:ph type="title"/>
          </p:nvPr>
        </p:nvSpPr>
        <p:spPr/>
        <p:txBody>
          <a:bodyPr/>
          <a:lstStyle/>
          <a:p>
            <a:pPr eaLnBrk="1" hangingPunct="1"/>
            <a:r>
              <a:rPr lang="en-US" altLang="en-US" sz="3600" b="1">
                <a:latin typeface="Arial" panose="020B0604020202020204" pitchFamily="34" charset="0"/>
                <a:cs typeface="Arial" panose="020B0604020202020204" pitchFamily="34" charset="0"/>
              </a:rPr>
              <a:t>Introduction</a:t>
            </a:r>
          </a:p>
        </p:txBody>
      </p:sp>
      <p:sp>
        <p:nvSpPr>
          <p:cNvPr id="6147" name="Content Placeholder 2">
            <a:extLst>
              <a:ext uri="{FF2B5EF4-FFF2-40B4-BE49-F238E27FC236}">
                <a16:creationId xmlns:a16="http://schemas.microsoft.com/office/drawing/2014/main" id="{93EAA5FA-4647-96DE-54E7-C7A245DA12F3}"/>
              </a:ext>
            </a:extLst>
          </p:cNvPr>
          <p:cNvSpPr>
            <a:spLocks noGrp="1"/>
          </p:cNvSpPr>
          <p:nvPr>
            <p:ph idx="1"/>
          </p:nvPr>
        </p:nvSpPr>
        <p:spPr>
          <a:xfrm>
            <a:off x="457200" y="1447800"/>
            <a:ext cx="8229600" cy="5105400"/>
          </a:xfrm>
        </p:spPr>
        <p:txBody>
          <a:bodyPr/>
          <a:lstStyle/>
          <a:p>
            <a:pPr eaLnBrk="1" hangingPunct="1">
              <a:spcBef>
                <a:spcPts val="600"/>
              </a:spcBef>
              <a:spcAft>
                <a:spcPts val="600"/>
              </a:spcAft>
              <a:buFont typeface="Arial" panose="020B0604020202020204" pitchFamily="34" charset="0"/>
              <a:buNone/>
            </a:pPr>
            <a:r>
              <a:rPr lang="en-US" altLang="en-US" sz="2800">
                <a:latin typeface="Arial" panose="020B0604020202020204" pitchFamily="34" charset="0"/>
                <a:ea typeface="ＭＳ Ｐゴシック" panose="020B0600070205080204" pitchFamily="34" charset="-128"/>
                <a:cs typeface="Arial" panose="020B0604020202020204" pitchFamily="34" charset="0"/>
              </a:rPr>
              <a:t>Data As a Service (DAS) model:</a:t>
            </a:r>
          </a:p>
          <a:p>
            <a:pPr lvl="1" eaLnBrk="1" hangingPunct="1">
              <a:spcBef>
                <a:spcPts val="600"/>
              </a:spcBef>
              <a:spcAft>
                <a:spcPts val="600"/>
              </a:spcAft>
              <a:buFont typeface="Courier New" panose="02070309020205020404" pitchFamily="49" charset="0"/>
              <a:buChar char="o"/>
            </a:pPr>
            <a:r>
              <a:rPr lang="en-US" altLang="en-US" sz="2400">
                <a:latin typeface="Arial" panose="020B0604020202020204" pitchFamily="34" charset="0"/>
                <a:ea typeface="ＭＳ Ｐゴシック" panose="020B0600070205080204" pitchFamily="34" charset="-128"/>
                <a:cs typeface="Arial" panose="020B0604020202020204" pitchFamily="34" charset="0"/>
              </a:rPr>
              <a:t>Data owned by a client is hosted on a third-party server. </a:t>
            </a:r>
          </a:p>
          <a:p>
            <a:pPr lvl="1" eaLnBrk="1" hangingPunct="1">
              <a:spcBef>
                <a:spcPts val="600"/>
              </a:spcBef>
              <a:spcAft>
                <a:spcPts val="600"/>
              </a:spcAft>
              <a:buFont typeface="Courier New" panose="02070309020205020404" pitchFamily="49" charset="0"/>
              <a:buChar char="o"/>
            </a:pPr>
            <a:r>
              <a:rPr lang="en-US" altLang="en-US" sz="2400">
                <a:latin typeface="Arial" panose="020B0604020202020204" pitchFamily="34" charset="0"/>
                <a:ea typeface="ＭＳ Ｐゴシック" panose="020B0600070205080204" pitchFamily="34" charset="-128"/>
                <a:cs typeface="Arial" panose="020B0604020202020204" pitchFamily="34" charset="0"/>
              </a:rPr>
              <a:t>Third Party Service Provider maintains the availability of the system. </a:t>
            </a:r>
          </a:p>
          <a:p>
            <a:pPr lvl="1" eaLnBrk="1" hangingPunct="1">
              <a:spcBef>
                <a:spcPts val="600"/>
              </a:spcBef>
              <a:spcAft>
                <a:spcPts val="600"/>
              </a:spcAft>
              <a:buFont typeface="Courier New" panose="02070309020205020404" pitchFamily="49" charset="0"/>
              <a:buChar char="o"/>
            </a:pPr>
            <a:r>
              <a:rPr lang="en-US" altLang="en-US" sz="2400">
                <a:latin typeface="Arial" panose="020B0604020202020204" pitchFamily="34" charset="0"/>
                <a:ea typeface="ＭＳ Ｐゴシック" panose="020B0600070205080204" pitchFamily="34" charset="-128"/>
                <a:cs typeface="Arial" panose="020B0604020202020204" pitchFamily="34" charset="0"/>
              </a:rPr>
              <a:t>Client will have access to the data as and when required.</a:t>
            </a:r>
          </a:p>
          <a:p>
            <a:pPr lvl="1" eaLnBrk="1" hangingPunct="1">
              <a:spcBef>
                <a:spcPts val="600"/>
              </a:spcBef>
              <a:spcAft>
                <a:spcPts val="600"/>
              </a:spcAft>
              <a:buFont typeface="Courier New" panose="02070309020205020404" pitchFamily="49" charset="0"/>
              <a:buChar char="o"/>
            </a:pPr>
            <a:r>
              <a:rPr lang="en-US" altLang="en-US" sz="2400">
                <a:latin typeface="Arial" panose="020B0604020202020204" pitchFamily="34" charset="0"/>
                <a:ea typeface="ＭＳ Ｐゴシック" panose="020B0600070205080204" pitchFamily="34" charset="-128"/>
                <a:cs typeface="Arial" panose="020B0604020202020204" pitchFamily="34" charset="0"/>
              </a:rPr>
              <a:t>Client will only use the system on rental basis.</a:t>
            </a:r>
          </a:p>
          <a:p>
            <a:pPr lvl="1" eaLnBrk="1" hangingPunct="1">
              <a:spcBef>
                <a:spcPts val="600"/>
              </a:spcBef>
              <a:spcAft>
                <a:spcPts val="600"/>
              </a:spcAft>
              <a:buFont typeface="Arial" panose="020B0604020202020204" pitchFamily="34" charset="0"/>
              <a:buNone/>
            </a:pPr>
            <a:r>
              <a:rPr lang="en-US" altLang="en-US" sz="2400">
                <a:latin typeface="Arial" panose="020B0604020202020204" pitchFamily="34" charset="0"/>
                <a:ea typeface="ＭＳ Ｐゴシック" panose="020B0600070205080204" pitchFamily="34" charset="-128"/>
                <a:cs typeface="Arial" panose="020B0604020202020204" pitchFamily="34" charset="0"/>
              </a:rPr>
              <a:t>	</a:t>
            </a:r>
          </a:p>
        </p:txBody>
      </p:sp>
      <p:sp>
        <p:nvSpPr>
          <p:cNvPr id="4" name="Slide Number Placeholder 3">
            <a:extLst>
              <a:ext uri="{FF2B5EF4-FFF2-40B4-BE49-F238E27FC236}">
                <a16:creationId xmlns:a16="http://schemas.microsoft.com/office/drawing/2014/main" id="{A86F2663-0F47-7CE5-74E3-1BA4112420A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1C34D6BE-0796-4C68-86D0-FC9C9EE7DD9D}" type="slidenum">
              <a:rPr lang="en-US" altLang="en-US">
                <a:solidFill>
                  <a:srgbClr val="898989"/>
                </a:solidFill>
              </a:rPr>
              <a:pPr eaLnBrk="1" hangingPunct="1"/>
              <a:t>5</a:t>
            </a:fld>
            <a:endParaRPr lang="en-US" altLang="en-US">
              <a:solidFill>
                <a:srgbClr val="89898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7878A532-3393-94CB-3C05-AD17D22D0541}"/>
              </a:ext>
            </a:extLst>
          </p:cNvPr>
          <p:cNvSpPr>
            <a:spLocks noGrp="1"/>
          </p:cNvSpPr>
          <p:nvPr>
            <p:ph type="title"/>
          </p:nvPr>
        </p:nvSpPr>
        <p:spPr/>
        <p:txBody>
          <a:bodyPr/>
          <a:lstStyle/>
          <a:p>
            <a:pPr eaLnBrk="1" hangingPunct="1"/>
            <a:r>
              <a:rPr lang="en-US" altLang="en-US" sz="3600" b="1">
                <a:latin typeface="Arial" panose="020B0604020202020204" pitchFamily="34" charset="0"/>
                <a:cs typeface="Arial" panose="020B0604020202020204" pitchFamily="34" charset="0"/>
              </a:rPr>
              <a:t>Introduction</a:t>
            </a:r>
          </a:p>
        </p:txBody>
      </p:sp>
      <p:sp>
        <p:nvSpPr>
          <p:cNvPr id="7171" name="Content Placeholder 2">
            <a:extLst>
              <a:ext uri="{FF2B5EF4-FFF2-40B4-BE49-F238E27FC236}">
                <a16:creationId xmlns:a16="http://schemas.microsoft.com/office/drawing/2014/main" id="{DD189741-CBE5-DD6C-7F75-5A80254F429C}"/>
              </a:ext>
            </a:extLst>
          </p:cNvPr>
          <p:cNvSpPr>
            <a:spLocks noGrp="1"/>
          </p:cNvSpPr>
          <p:nvPr>
            <p:ph idx="1"/>
          </p:nvPr>
        </p:nvSpPr>
        <p:spPr>
          <a:xfrm>
            <a:off x="457200" y="1447800"/>
            <a:ext cx="8229600" cy="5105400"/>
          </a:xfrm>
        </p:spPr>
        <p:txBody>
          <a:bodyPr/>
          <a:lstStyle/>
          <a:p>
            <a:pPr eaLnBrk="1" hangingPunct="1">
              <a:spcBef>
                <a:spcPts val="600"/>
              </a:spcBef>
              <a:spcAft>
                <a:spcPts val="600"/>
              </a:spcAft>
              <a:buFont typeface="Arial" panose="020B0604020202020204" pitchFamily="34" charset="0"/>
              <a:buNone/>
            </a:pPr>
            <a:r>
              <a:rPr lang="en-US" altLang="en-US" sz="2800">
                <a:latin typeface="Arial" panose="020B0604020202020204" pitchFamily="34" charset="0"/>
                <a:ea typeface="ＭＳ Ｐゴシック" panose="020B0600070205080204" pitchFamily="34" charset="-128"/>
                <a:cs typeface="Arial" panose="020B0604020202020204" pitchFamily="34" charset="0"/>
              </a:rPr>
              <a:t>Data As a Service (DAS) model:</a:t>
            </a:r>
          </a:p>
          <a:p>
            <a:pPr lvl="1" eaLnBrk="1" hangingPunct="1">
              <a:spcBef>
                <a:spcPts val="600"/>
              </a:spcBef>
              <a:spcAft>
                <a:spcPts val="600"/>
              </a:spcAft>
              <a:buFont typeface="Courier New" panose="02070309020205020404" pitchFamily="49" charset="0"/>
              <a:buChar char="o"/>
            </a:pPr>
            <a:r>
              <a:rPr lang="en-US" altLang="en-US" sz="2400">
                <a:latin typeface="Arial" panose="020B0604020202020204" pitchFamily="34" charset="0"/>
                <a:ea typeface="ＭＳ Ｐゴシック" panose="020B0600070205080204" pitchFamily="34" charset="-128"/>
                <a:cs typeface="Arial" panose="020B0604020202020204" pitchFamily="34" charset="0"/>
              </a:rPr>
              <a:t>Confidentiality for sensitive data to be ensured.</a:t>
            </a:r>
          </a:p>
          <a:p>
            <a:pPr lvl="1" eaLnBrk="1" hangingPunct="1">
              <a:spcBef>
                <a:spcPts val="600"/>
              </a:spcBef>
              <a:spcAft>
                <a:spcPts val="600"/>
              </a:spcAft>
              <a:buFont typeface="Courier New" panose="02070309020205020404" pitchFamily="49" charset="0"/>
              <a:buChar char="o"/>
            </a:pPr>
            <a:r>
              <a:rPr lang="en-US" altLang="en-US" sz="2400">
                <a:latin typeface="Arial" panose="020B0604020202020204" pitchFamily="34" charset="0"/>
                <a:ea typeface="ＭＳ Ｐゴシック" panose="020B0600070205080204" pitchFamily="34" charset="-128"/>
                <a:cs typeface="Arial" panose="020B0604020202020204" pitchFamily="34" charset="0"/>
              </a:rPr>
              <a:t>Client hides the sensitive portion of the data at the server side.</a:t>
            </a:r>
          </a:p>
          <a:p>
            <a:pPr lvl="1" eaLnBrk="1" hangingPunct="1">
              <a:spcBef>
                <a:spcPts val="600"/>
              </a:spcBef>
              <a:spcAft>
                <a:spcPts val="600"/>
              </a:spcAft>
              <a:buFont typeface="Courier New" panose="02070309020205020404" pitchFamily="49" charset="0"/>
              <a:buChar char="o"/>
            </a:pPr>
            <a:r>
              <a:rPr lang="en-US" altLang="en-US" sz="2400">
                <a:latin typeface="Arial" panose="020B0604020202020204" pitchFamily="34" charset="0"/>
                <a:ea typeface="ＭＳ Ｐゴシック" panose="020B0600070205080204" pitchFamily="34" charset="-128"/>
                <a:cs typeface="Arial" panose="020B0604020202020204" pitchFamily="34" charset="0"/>
              </a:rPr>
              <a:t>Server side DBA will not get access to these sensitive &amp; confidential data in plaintext form.</a:t>
            </a:r>
          </a:p>
        </p:txBody>
      </p:sp>
      <p:sp>
        <p:nvSpPr>
          <p:cNvPr id="4" name="Slide Number Placeholder 3">
            <a:extLst>
              <a:ext uri="{FF2B5EF4-FFF2-40B4-BE49-F238E27FC236}">
                <a16:creationId xmlns:a16="http://schemas.microsoft.com/office/drawing/2014/main" id="{FC2F17F7-0A82-F05A-A3D2-B95A4130A40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A9DB917E-3EDC-4EF9-A4C1-67FE2FC8F828}" type="slidenum">
              <a:rPr lang="en-US" altLang="en-US">
                <a:solidFill>
                  <a:srgbClr val="898989"/>
                </a:solidFill>
              </a:rPr>
              <a:pPr eaLnBrk="1" hangingPunct="1"/>
              <a:t>6</a:t>
            </a:fld>
            <a:endParaRPr lang="en-US" altLang="en-US">
              <a:solidFill>
                <a:srgbClr val="89898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79169ED8-6E7E-C38F-4AEF-1A4EB0406908}"/>
              </a:ext>
            </a:extLst>
          </p:cNvPr>
          <p:cNvSpPr>
            <a:spLocks noGrp="1"/>
          </p:cNvSpPr>
          <p:nvPr>
            <p:ph type="title"/>
          </p:nvPr>
        </p:nvSpPr>
        <p:spPr/>
        <p:txBody>
          <a:bodyPr/>
          <a:lstStyle/>
          <a:p>
            <a:pPr eaLnBrk="1" hangingPunct="1"/>
            <a:r>
              <a:rPr lang="en-US" altLang="en-US" sz="3600" b="1">
                <a:latin typeface="Arial" panose="020B0604020202020204" pitchFamily="34" charset="0"/>
                <a:cs typeface="Arial" panose="020B0604020202020204" pitchFamily="34" charset="0"/>
              </a:rPr>
              <a:t>Introduction</a:t>
            </a:r>
          </a:p>
        </p:txBody>
      </p:sp>
      <p:sp>
        <p:nvSpPr>
          <p:cNvPr id="8195" name="Content Placeholder 2">
            <a:extLst>
              <a:ext uri="{FF2B5EF4-FFF2-40B4-BE49-F238E27FC236}">
                <a16:creationId xmlns:a16="http://schemas.microsoft.com/office/drawing/2014/main" id="{7A397026-D09A-8C08-3701-8ED5844AB7C1}"/>
              </a:ext>
            </a:extLst>
          </p:cNvPr>
          <p:cNvSpPr>
            <a:spLocks noGrp="1"/>
          </p:cNvSpPr>
          <p:nvPr>
            <p:ph idx="1"/>
          </p:nvPr>
        </p:nvSpPr>
        <p:spPr>
          <a:xfrm>
            <a:off x="609600" y="1371600"/>
            <a:ext cx="7848600" cy="2895600"/>
          </a:xfrm>
        </p:spPr>
        <p:txBody>
          <a:bodyPr/>
          <a:lstStyle/>
          <a:p>
            <a:pPr eaLnBrk="1" hangingPunct="1">
              <a:spcBef>
                <a:spcPts val="600"/>
              </a:spcBef>
              <a:spcAft>
                <a:spcPts val="600"/>
              </a:spcAft>
              <a:buFont typeface="Arial" panose="020B0604020202020204" pitchFamily="34" charset="0"/>
              <a:buNone/>
            </a:pPr>
            <a:r>
              <a:rPr lang="en-US" altLang="en-US" sz="2800">
                <a:latin typeface="Arial" panose="020B0604020202020204" pitchFamily="34" charset="0"/>
                <a:ea typeface="ＭＳ Ｐゴシック" panose="020B0600070205080204" pitchFamily="34" charset="-128"/>
                <a:cs typeface="Arial" panose="020B0604020202020204" pitchFamily="34" charset="0"/>
              </a:rPr>
              <a:t>Two new challenges emerge:</a:t>
            </a:r>
          </a:p>
          <a:p>
            <a:pPr lvl="1" eaLnBrk="1" hangingPunct="1">
              <a:spcBef>
                <a:spcPts val="600"/>
              </a:spcBef>
              <a:spcAft>
                <a:spcPts val="600"/>
              </a:spcAft>
              <a:buFont typeface="Courier New" panose="02070309020205020404" pitchFamily="49" charset="0"/>
              <a:buChar char="o"/>
            </a:pPr>
            <a:r>
              <a:rPr lang="en-US" altLang="en-US" sz="2400">
                <a:latin typeface="Arial" panose="020B0604020202020204" pitchFamily="34" charset="0"/>
                <a:ea typeface="ＭＳ Ｐゴシック" panose="020B0600070205080204" pitchFamily="34" charset="-128"/>
                <a:cs typeface="Arial" panose="020B0604020202020204" pitchFamily="34" charset="0"/>
              </a:rPr>
              <a:t>Efficient encryption algorithms for relational data</a:t>
            </a:r>
          </a:p>
          <a:p>
            <a:pPr lvl="1" eaLnBrk="1" hangingPunct="1">
              <a:spcBef>
                <a:spcPts val="600"/>
              </a:spcBef>
              <a:spcAft>
                <a:spcPts val="600"/>
              </a:spcAft>
              <a:buFont typeface="Courier New" panose="02070309020205020404" pitchFamily="49" charset="0"/>
              <a:buChar char="o"/>
            </a:pPr>
            <a:r>
              <a:rPr lang="en-US" altLang="en-US" sz="2400">
                <a:latin typeface="Arial" panose="020B0604020202020204" pitchFamily="34" charset="0"/>
                <a:ea typeface="ＭＳ Ｐゴシック" panose="020B0600070205080204" pitchFamily="34" charset="-128"/>
                <a:cs typeface="Arial" panose="020B0604020202020204" pitchFamily="34" charset="0"/>
              </a:rPr>
              <a:t>Supporting query on the encrypted relational data. </a:t>
            </a:r>
          </a:p>
          <a:p>
            <a:pPr lvl="1" eaLnBrk="1" hangingPunct="1">
              <a:spcBef>
                <a:spcPts val="600"/>
              </a:spcBef>
              <a:spcAft>
                <a:spcPts val="600"/>
              </a:spcAft>
              <a:buFont typeface="Arial" panose="020B0604020202020204" pitchFamily="34" charset="0"/>
              <a:buNone/>
            </a:pPr>
            <a:r>
              <a:rPr lang="en-US" altLang="en-US" sz="2400">
                <a:latin typeface="Arial" panose="020B0604020202020204" pitchFamily="34" charset="0"/>
                <a:ea typeface="ＭＳ Ｐゴシック" panose="020B0600070205080204" pitchFamily="34" charset="-128"/>
                <a:cs typeface="Arial" panose="020B0604020202020204" pitchFamily="34" charset="0"/>
              </a:rPr>
              <a:t>	</a:t>
            </a:r>
          </a:p>
        </p:txBody>
      </p:sp>
      <p:sp>
        <p:nvSpPr>
          <p:cNvPr id="4" name="Slide Number Placeholder 3">
            <a:extLst>
              <a:ext uri="{FF2B5EF4-FFF2-40B4-BE49-F238E27FC236}">
                <a16:creationId xmlns:a16="http://schemas.microsoft.com/office/drawing/2014/main" id="{4F5D9D19-F7D8-CF66-1F84-77334CEF5D0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133A8396-8028-4E14-B8A6-B7DED8FD85C1}" type="slidenum">
              <a:rPr lang="en-US" altLang="en-US">
                <a:solidFill>
                  <a:srgbClr val="898989"/>
                </a:solidFill>
              </a:rPr>
              <a:pPr eaLnBrk="1" hangingPunct="1"/>
              <a:t>7</a:t>
            </a:fld>
            <a:endParaRPr lang="en-US" altLang="en-US">
              <a:solidFill>
                <a:srgbClr val="898989"/>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05593239-2EB1-76EE-DC12-97BB944F18EC}"/>
              </a:ext>
            </a:extLst>
          </p:cNvPr>
          <p:cNvSpPr>
            <a:spLocks noGrp="1"/>
          </p:cNvSpPr>
          <p:nvPr>
            <p:ph type="title"/>
          </p:nvPr>
        </p:nvSpPr>
        <p:spPr/>
        <p:txBody>
          <a:bodyPr/>
          <a:lstStyle/>
          <a:p>
            <a:pPr eaLnBrk="1" hangingPunct="1"/>
            <a:r>
              <a:rPr lang="en-US" altLang="en-US" sz="3600" b="1">
                <a:latin typeface="Arial" panose="020B0604020202020204" pitchFamily="34" charset="0"/>
                <a:cs typeface="Arial" panose="020B0604020202020204" pitchFamily="34" charset="0"/>
              </a:rPr>
              <a:t>Introduction</a:t>
            </a:r>
          </a:p>
        </p:txBody>
      </p:sp>
      <p:sp>
        <p:nvSpPr>
          <p:cNvPr id="8195" name="Content Placeholder 2">
            <a:extLst>
              <a:ext uri="{FF2B5EF4-FFF2-40B4-BE49-F238E27FC236}">
                <a16:creationId xmlns:a16="http://schemas.microsoft.com/office/drawing/2014/main" id="{F4500A01-EC41-95C8-BE08-A233952DB456}"/>
              </a:ext>
            </a:extLst>
          </p:cNvPr>
          <p:cNvSpPr>
            <a:spLocks noGrp="1"/>
          </p:cNvSpPr>
          <p:nvPr>
            <p:ph idx="1"/>
          </p:nvPr>
        </p:nvSpPr>
        <p:spPr>
          <a:xfrm>
            <a:off x="304800" y="1371600"/>
            <a:ext cx="7848600" cy="4800600"/>
          </a:xfrm>
        </p:spPr>
        <p:txBody>
          <a:bodyPr rtlCol="0">
            <a:noAutofit/>
          </a:bodyPr>
          <a:lstStyle/>
          <a:p>
            <a:pPr algn="just" eaLnBrk="1" fontAlgn="auto" hangingPunct="1">
              <a:spcAft>
                <a:spcPts val="0"/>
              </a:spcAft>
              <a:defRPr/>
            </a:pPr>
            <a:r>
              <a:rPr lang="en-US" sz="2600" dirty="0">
                <a:latin typeface="+mj-lt"/>
              </a:rPr>
              <a:t>An application that has driven a lot of research in the cryptographic community is that of keyword-matching over encrypted text data.</a:t>
            </a:r>
          </a:p>
          <a:p>
            <a:pPr algn="just" eaLnBrk="1" fontAlgn="auto" hangingPunct="1">
              <a:spcAft>
                <a:spcPts val="0"/>
              </a:spcAft>
              <a:defRPr/>
            </a:pPr>
            <a:r>
              <a:rPr lang="en-US" sz="2600" dirty="0">
                <a:solidFill>
                  <a:srgbClr val="FF0000"/>
                </a:solidFill>
                <a:latin typeface="+mj-lt"/>
                <a:ea typeface="ＭＳ Ｐゴシック" pitchFamily="34" charset="-128"/>
                <a:cs typeface="Arial" charset="0"/>
              </a:rPr>
              <a:t>Example : Secure email Service</a:t>
            </a:r>
          </a:p>
          <a:p>
            <a:pPr lvl="2" algn="just" eaLnBrk="1" fontAlgn="auto" hangingPunct="1">
              <a:spcBef>
                <a:spcPts val="600"/>
              </a:spcBef>
              <a:spcAft>
                <a:spcPts val="600"/>
              </a:spcAft>
              <a:buFont typeface="Courier New" pitchFamily="49" charset="0"/>
              <a:buChar char="o"/>
              <a:defRPr/>
            </a:pPr>
            <a:r>
              <a:rPr lang="en-US" sz="2600" dirty="0">
                <a:latin typeface="+mj-lt"/>
                <a:ea typeface="ＭＳ Ｐゴシック" pitchFamily="34" charset="-128"/>
                <a:cs typeface="Arial" charset="0"/>
              </a:rPr>
              <a:t>Email server stores emails of Account holders in encrypted format.</a:t>
            </a:r>
          </a:p>
          <a:p>
            <a:pPr lvl="2" algn="just" eaLnBrk="1" fontAlgn="auto" hangingPunct="1">
              <a:spcBef>
                <a:spcPts val="600"/>
              </a:spcBef>
              <a:spcAft>
                <a:spcPts val="600"/>
              </a:spcAft>
              <a:buFont typeface="Courier New" pitchFamily="49" charset="0"/>
              <a:buChar char="o"/>
              <a:defRPr/>
            </a:pPr>
            <a:r>
              <a:rPr lang="en-US" sz="2600" dirty="0">
                <a:latin typeface="+mj-lt"/>
                <a:ea typeface="ＭＳ Ｐゴシック" pitchFamily="34" charset="-128"/>
                <a:cs typeface="Arial" charset="0"/>
              </a:rPr>
              <a:t>It allows users to search emails based on keywords without having to decrypt the documents on the server.</a:t>
            </a:r>
          </a:p>
          <a:p>
            <a:pPr lvl="2" algn="just" eaLnBrk="1" fontAlgn="auto" hangingPunct="1">
              <a:spcBef>
                <a:spcPts val="600"/>
              </a:spcBef>
              <a:spcAft>
                <a:spcPts val="600"/>
              </a:spcAft>
              <a:buFont typeface="Courier New" pitchFamily="49" charset="0"/>
              <a:buChar char="o"/>
              <a:defRPr/>
            </a:pPr>
            <a:r>
              <a:rPr lang="en-US" sz="2600" dirty="0">
                <a:latin typeface="+mj-lt"/>
                <a:ea typeface="ＭＳ Ｐゴシック" pitchFamily="34" charset="-128"/>
                <a:cs typeface="Arial" charset="0"/>
              </a:rPr>
              <a:t>The returned email then can be decrypted at the client</a:t>
            </a:r>
            <a:r>
              <a:rPr lang="en-US" altLang="en-US" sz="2600" dirty="0">
                <a:latin typeface="+mj-lt"/>
                <a:ea typeface="ＭＳ Ｐゴシック" pitchFamily="34" charset="-128"/>
                <a:cs typeface="Arial" charset="0"/>
              </a:rPr>
              <a:t>’</a:t>
            </a:r>
            <a:r>
              <a:rPr lang="en-US" sz="2600" dirty="0">
                <a:latin typeface="+mj-lt"/>
                <a:ea typeface="ＭＳ Ｐゴシック" pitchFamily="34" charset="-128"/>
                <a:cs typeface="Arial" charset="0"/>
              </a:rPr>
              <a:t>s machine.</a:t>
            </a:r>
          </a:p>
        </p:txBody>
      </p:sp>
      <p:sp>
        <p:nvSpPr>
          <p:cNvPr id="4" name="Slide Number Placeholder 3">
            <a:extLst>
              <a:ext uri="{FF2B5EF4-FFF2-40B4-BE49-F238E27FC236}">
                <a16:creationId xmlns:a16="http://schemas.microsoft.com/office/drawing/2014/main" id="{53372D7D-AD6C-3E3E-788D-09C43CCA52F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CAD925BD-EBC2-4F2B-9F85-D462E0581B92}" type="slidenum">
              <a:rPr lang="en-US" altLang="en-US">
                <a:solidFill>
                  <a:srgbClr val="898989"/>
                </a:solidFill>
              </a:rPr>
              <a:pPr eaLnBrk="1" hangingPunct="1"/>
              <a:t>8</a:t>
            </a:fld>
            <a:endParaRPr lang="en-US" altLang="en-US">
              <a:solidFill>
                <a:srgbClr val="89898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2C15DFF9-FA37-B528-B27F-47E5CACD0D8D}"/>
              </a:ext>
            </a:extLst>
          </p:cNvPr>
          <p:cNvSpPr>
            <a:spLocks noGrp="1"/>
          </p:cNvSpPr>
          <p:nvPr>
            <p:ph type="title"/>
          </p:nvPr>
        </p:nvSpPr>
        <p:spPr/>
        <p:txBody>
          <a:bodyPr/>
          <a:lstStyle/>
          <a:p>
            <a:pPr eaLnBrk="1" hangingPunct="1"/>
            <a:r>
              <a:rPr lang="en-US" altLang="en-US" sz="3600" b="1">
                <a:latin typeface="Arial" panose="020B0604020202020204" pitchFamily="34" charset="0"/>
                <a:cs typeface="Arial" panose="020B0604020202020204" pitchFamily="34" charset="0"/>
              </a:rPr>
              <a:t>Introduction</a:t>
            </a:r>
          </a:p>
        </p:txBody>
      </p:sp>
      <p:sp>
        <p:nvSpPr>
          <p:cNvPr id="10243" name="Content Placeholder 2">
            <a:extLst>
              <a:ext uri="{FF2B5EF4-FFF2-40B4-BE49-F238E27FC236}">
                <a16:creationId xmlns:a16="http://schemas.microsoft.com/office/drawing/2014/main" id="{871E4F87-4539-7B9F-1E6F-43B7DE28DB1F}"/>
              </a:ext>
            </a:extLst>
          </p:cNvPr>
          <p:cNvSpPr>
            <a:spLocks noGrp="1"/>
          </p:cNvSpPr>
          <p:nvPr>
            <p:ph idx="1"/>
          </p:nvPr>
        </p:nvSpPr>
        <p:spPr>
          <a:xfrm>
            <a:off x="304800" y="1371600"/>
            <a:ext cx="8153400" cy="5257800"/>
          </a:xfrm>
        </p:spPr>
        <p:txBody>
          <a:bodyPr/>
          <a:lstStyle/>
          <a:p>
            <a:pPr algn="just" eaLnBrk="1" hangingPunct="1">
              <a:spcBef>
                <a:spcPts val="600"/>
              </a:spcBef>
              <a:spcAft>
                <a:spcPts val="600"/>
              </a:spcAft>
              <a:buFont typeface="Arial" charset="0"/>
              <a:buNone/>
              <a:defRPr/>
            </a:pPr>
            <a:r>
              <a:rPr lang="en-US" sz="2600" dirty="0">
                <a:latin typeface="+mj-lt"/>
                <a:cs typeface="Arial" charset="0"/>
              </a:rPr>
              <a:t>Examples: Secure Personal Storage Service</a:t>
            </a:r>
          </a:p>
          <a:p>
            <a:pPr marL="639763" lvl="1" algn="just" eaLnBrk="1" hangingPunct="1">
              <a:spcBef>
                <a:spcPts val="600"/>
              </a:spcBef>
              <a:spcAft>
                <a:spcPts val="600"/>
              </a:spcAft>
              <a:buFont typeface="Courier New" pitchFamily="49" charset="0"/>
              <a:buChar char="o"/>
              <a:defRPr/>
            </a:pPr>
            <a:r>
              <a:rPr lang="en-US" sz="2600" dirty="0">
                <a:latin typeface="+mj-lt"/>
                <a:cs typeface="Arial" charset="0"/>
              </a:rPr>
              <a:t>Applications have been developed to let individuals store a variety of data on remote servers and</a:t>
            </a:r>
          </a:p>
          <a:p>
            <a:pPr marL="639763" lvl="1" algn="just" eaLnBrk="1" hangingPunct="1">
              <a:spcBef>
                <a:spcPts val="600"/>
              </a:spcBef>
              <a:spcAft>
                <a:spcPts val="600"/>
              </a:spcAft>
              <a:buFont typeface="Courier New" pitchFamily="49" charset="0"/>
              <a:buChar char="o"/>
              <a:defRPr/>
            </a:pPr>
            <a:r>
              <a:rPr lang="en-US" sz="2600" dirty="0">
                <a:latin typeface="+mj-lt"/>
                <a:cs typeface="Arial" charset="0"/>
              </a:rPr>
              <a:t>Access them over the network securely from any place.</a:t>
            </a:r>
          </a:p>
        </p:txBody>
      </p:sp>
      <p:sp>
        <p:nvSpPr>
          <p:cNvPr id="4" name="Slide Number Placeholder 3">
            <a:extLst>
              <a:ext uri="{FF2B5EF4-FFF2-40B4-BE49-F238E27FC236}">
                <a16:creationId xmlns:a16="http://schemas.microsoft.com/office/drawing/2014/main" id="{8ADFA485-6767-4383-D486-D3FD2B0724F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5A83FCA4-0C1C-4DC2-B037-98CDAFD1E5B8}" type="slidenum">
              <a:rPr lang="en-US" altLang="en-US">
                <a:solidFill>
                  <a:srgbClr val="898989"/>
                </a:solidFill>
              </a:rPr>
              <a:pPr eaLnBrk="1" hangingPunct="1"/>
              <a:t>9</a:t>
            </a:fld>
            <a:endParaRPr lang="en-US" altLang="en-US">
              <a:solidFill>
                <a:srgbClr val="898989"/>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3DE67A4A-AC69-BDBC-3BA0-9412D60F0339}"/>
              </a:ext>
            </a:extLst>
          </p:cNvPr>
          <p:cNvSpPr>
            <a:spLocks noGrp="1"/>
          </p:cNvSpPr>
          <p:nvPr>
            <p:ph type="title"/>
          </p:nvPr>
        </p:nvSpPr>
        <p:spPr/>
        <p:txBody>
          <a:bodyPr/>
          <a:lstStyle/>
          <a:p>
            <a:pPr eaLnBrk="1" hangingPunct="1"/>
            <a:r>
              <a:rPr lang="en-US" altLang="en-US" sz="3600" b="1">
                <a:latin typeface="Arial" panose="020B0604020202020204" pitchFamily="34" charset="0"/>
                <a:cs typeface="Arial" panose="020B0604020202020204" pitchFamily="34" charset="0"/>
              </a:rPr>
              <a:t>Introduction</a:t>
            </a:r>
          </a:p>
        </p:txBody>
      </p:sp>
      <p:sp>
        <p:nvSpPr>
          <p:cNvPr id="16386" name="Content Placeholder 2">
            <a:extLst>
              <a:ext uri="{FF2B5EF4-FFF2-40B4-BE49-F238E27FC236}">
                <a16:creationId xmlns:a16="http://schemas.microsoft.com/office/drawing/2014/main" id="{216B16A4-1612-21B8-8D9E-5CFBC38B67C6}"/>
              </a:ext>
            </a:extLst>
          </p:cNvPr>
          <p:cNvSpPr>
            <a:spLocks noGrp="1"/>
          </p:cNvSpPr>
          <p:nvPr>
            <p:ph idx="1"/>
          </p:nvPr>
        </p:nvSpPr>
        <p:spPr>
          <a:xfrm>
            <a:off x="304800" y="1371600"/>
            <a:ext cx="8153400" cy="5257800"/>
          </a:xfrm>
        </p:spPr>
        <p:txBody>
          <a:bodyPr rtlCol="0">
            <a:normAutofit/>
          </a:bodyPr>
          <a:lstStyle/>
          <a:p>
            <a:pPr eaLnBrk="1" fontAlgn="auto" hangingPunct="1">
              <a:spcAft>
                <a:spcPts val="0"/>
              </a:spcAft>
              <a:buFont typeface="Arial" charset="0"/>
              <a:buNone/>
              <a:defRPr/>
            </a:pPr>
            <a:r>
              <a:rPr lang="en-US" sz="2600" dirty="0">
                <a:latin typeface="+mj-lt"/>
                <a:cs typeface="Arial" charset="0"/>
              </a:rPr>
              <a:t>Examples: Secure Personal Storage Service</a:t>
            </a:r>
          </a:p>
          <a:p>
            <a:pPr marL="640080" lvl="1" eaLnBrk="1" fontAlgn="auto" hangingPunct="1">
              <a:spcAft>
                <a:spcPts val="0"/>
              </a:spcAft>
              <a:buFont typeface="Courier New" charset="0"/>
              <a:buChar char="o"/>
              <a:defRPr/>
            </a:pPr>
            <a:r>
              <a:rPr lang="en-US" sz="2600" dirty="0" err="1">
                <a:latin typeface="+mj-lt"/>
                <a:cs typeface="Arial" charset="0"/>
              </a:rPr>
              <a:t>pVault</a:t>
            </a:r>
            <a:r>
              <a:rPr lang="en-US" sz="2600" dirty="0">
                <a:latin typeface="+mj-lt"/>
                <a:cs typeface="Arial" charset="0"/>
              </a:rPr>
              <a:t> </a:t>
            </a:r>
          </a:p>
          <a:p>
            <a:pPr marL="1005205" lvl="2" algn="just" eaLnBrk="1" fontAlgn="auto" hangingPunct="1">
              <a:spcAft>
                <a:spcPts val="0"/>
              </a:spcAft>
              <a:buFont typeface="Courier New" charset="0"/>
              <a:buChar char="o"/>
              <a:defRPr/>
            </a:pPr>
            <a:r>
              <a:rPr lang="en-US" sz="2600" dirty="0">
                <a:latin typeface="+mj-lt"/>
                <a:cs typeface="Arial" charset="0"/>
              </a:rPr>
              <a:t>stores and manages an individuals passwords for his online accounts.</a:t>
            </a:r>
          </a:p>
          <a:p>
            <a:pPr marL="1005205" lvl="2" algn="just" eaLnBrk="1" fontAlgn="auto" hangingPunct="1">
              <a:spcAft>
                <a:spcPts val="0"/>
              </a:spcAft>
              <a:buFont typeface="Courier New" charset="0"/>
              <a:buChar char="o"/>
              <a:defRPr/>
            </a:pPr>
            <a:r>
              <a:rPr lang="en-US" sz="2600" dirty="0">
                <a:latin typeface="+mj-lt"/>
                <a:cs typeface="Arial" charset="0"/>
              </a:rPr>
              <a:t>Supports password generation and mobile access.</a:t>
            </a:r>
          </a:p>
          <a:p>
            <a:pPr marL="640080" lvl="1" eaLnBrk="1" fontAlgn="auto" hangingPunct="1">
              <a:spcAft>
                <a:spcPts val="0"/>
              </a:spcAft>
              <a:buFont typeface="Courier New" charset="0"/>
              <a:buChar char="o"/>
              <a:defRPr/>
            </a:pPr>
            <a:r>
              <a:rPr lang="en-US" sz="2600" dirty="0" err="1">
                <a:latin typeface="+mj-lt"/>
                <a:cs typeface="Arial" charset="0"/>
              </a:rPr>
              <a:t>DataVault</a:t>
            </a:r>
            <a:endParaRPr lang="en-US" sz="2600" dirty="0">
              <a:latin typeface="+mj-lt"/>
              <a:cs typeface="Arial" charset="0"/>
            </a:endParaRPr>
          </a:p>
          <a:p>
            <a:pPr marL="1005840" lvl="2" algn="just" eaLnBrk="1" fontAlgn="auto" hangingPunct="1">
              <a:spcAft>
                <a:spcPts val="0"/>
              </a:spcAft>
              <a:buClr>
                <a:schemeClr val="accent3"/>
              </a:buClr>
              <a:buFont typeface="Courier New" charset="0"/>
              <a:buChar char="o"/>
              <a:defRPr/>
            </a:pPr>
            <a:r>
              <a:rPr lang="en-US" sz="2600" dirty="0">
                <a:latin typeface="+mj-lt"/>
                <a:cs typeface="Arial" charset="0"/>
              </a:rPr>
              <a:t>works as a secure network drive available online for individuals</a:t>
            </a:r>
          </a:p>
          <a:p>
            <a:pPr marL="1005840" lvl="2" algn="just" eaLnBrk="1" fontAlgn="auto" hangingPunct="1">
              <a:spcAft>
                <a:spcPts val="0"/>
              </a:spcAft>
              <a:buClr>
                <a:schemeClr val="accent3"/>
              </a:buClr>
              <a:buFont typeface="Courier New" charset="0"/>
              <a:buChar char="o"/>
              <a:defRPr/>
            </a:pPr>
            <a:r>
              <a:rPr lang="en-US" sz="2600" dirty="0">
                <a:latin typeface="+mj-lt"/>
                <a:cs typeface="Arial" charset="0"/>
              </a:rPr>
              <a:t>Google drive</a:t>
            </a:r>
          </a:p>
        </p:txBody>
      </p:sp>
      <p:sp>
        <p:nvSpPr>
          <p:cNvPr id="4" name="Slide Number Placeholder 3">
            <a:extLst>
              <a:ext uri="{FF2B5EF4-FFF2-40B4-BE49-F238E27FC236}">
                <a16:creationId xmlns:a16="http://schemas.microsoft.com/office/drawing/2014/main" id="{D2D50E30-0B46-FC10-7F83-7F7870FAEF8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99445AF7-A20E-47F5-8A06-5166292E82A7}" type="slidenum">
              <a:rPr lang="en-US" altLang="en-US">
                <a:solidFill>
                  <a:srgbClr val="898989"/>
                </a:solidFill>
              </a:rPr>
              <a:pPr eaLnBrk="1" hangingPunct="1"/>
              <a:t>10</a:t>
            </a:fld>
            <a:endParaRPr lang="en-US" altLang="en-US">
              <a:solidFill>
                <a:srgbClr val="89898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94046B04-F470-3098-B57E-4726D857F65E}"/>
              </a:ext>
            </a:extLst>
          </p:cNvPr>
          <p:cNvSpPr>
            <a:spLocks noGrp="1"/>
          </p:cNvSpPr>
          <p:nvPr>
            <p:ph type="title"/>
          </p:nvPr>
        </p:nvSpPr>
        <p:spPr/>
        <p:txBody>
          <a:bodyPr/>
          <a:lstStyle/>
          <a:p>
            <a:pPr eaLnBrk="1" hangingPunct="1"/>
            <a:r>
              <a:rPr lang="en-US" altLang="en-US" sz="3600">
                <a:latin typeface="Arial" panose="020B0604020202020204" pitchFamily="34" charset="0"/>
                <a:cs typeface="Arial" panose="020B0604020202020204" pitchFamily="34" charset="0"/>
              </a:rPr>
              <a:t>Introduction</a:t>
            </a:r>
          </a:p>
        </p:txBody>
      </p:sp>
      <p:sp>
        <p:nvSpPr>
          <p:cNvPr id="16386" name="Content Placeholder 2">
            <a:extLst>
              <a:ext uri="{FF2B5EF4-FFF2-40B4-BE49-F238E27FC236}">
                <a16:creationId xmlns:a16="http://schemas.microsoft.com/office/drawing/2014/main" id="{5978774B-60AA-A219-B379-59DD4CA4EC86}"/>
              </a:ext>
            </a:extLst>
          </p:cNvPr>
          <p:cNvSpPr>
            <a:spLocks noGrp="1"/>
          </p:cNvSpPr>
          <p:nvPr>
            <p:ph idx="1"/>
          </p:nvPr>
        </p:nvSpPr>
        <p:spPr>
          <a:xfrm>
            <a:off x="304800" y="1371600"/>
            <a:ext cx="8153400" cy="5257800"/>
          </a:xfrm>
        </p:spPr>
        <p:txBody>
          <a:bodyPr rtlCol="0">
            <a:normAutofit/>
          </a:bodyPr>
          <a:lstStyle/>
          <a:p>
            <a:pPr marL="0" lvl="1" indent="0" eaLnBrk="1" fontAlgn="auto" hangingPunct="1">
              <a:spcBef>
                <a:spcPts val="600"/>
              </a:spcBef>
              <a:spcAft>
                <a:spcPts val="600"/>
              </a:spcAft>
              <a:buFont typeface="Arial" charset="0"/>
              <a:buNone/>
              <a:defRPr/>
            </a:pPr>
            <a:r>
              <a:rPr lang="en-US" sz="2600" dirty="0">
                <a:latin typeface="+mj-lt"/>
                <a:cs typeface="Arial" charset="0"/>
              </a:rPr>
              <a:t>Applications for securing XML data</a:t>
            </a:r>
          </a:p>
          <a:p>
            <a:pPr lvl="2" algn="just" eaLnBrk="1" fontAlgn="auto" hangingPunct="1">
              <a:spcAft>
                <a:spcPts val="0"/>
              </a:spcAft>
              <a:defRPr/>
            </a:pPr>
            <a:r>
              <a:rPr lang="en-US" sz="2600" dirty="0">
                <a:latin typeface="+mj-lt"/>
                <a:cs typeface="Arial" pitchFamily="34" charset="0"/>
              </a:rPr>
              <a:t>In case of XML, not only the data but structure is also important, which brings up new kinds of challenges.</a:t>
            </a:r>
          </a:p>
          <a:p>
            <a:pPr lvl="2" algn="just" eaLnBrk="1" fontAlgn="auto" hangingPunct="1">
              <a:spcAft>
                <a:spcPts val="0"/>
              </a:spcAft>
              <a:defRPr/>
            </a:pPr>
            <a:r>
              <a:rPr lang="en-US" sz="2600" dirty="0">
                <a:latin typeface="+mj-lt"/>
                <a:cs typeface="Arial" charset="0"/>
              </a:rPr>
              <a:t>XML text and data travel over the insecure Internet.</a:t>
            </a:r>
          </a:p>
          <a:p>
            <a:pPr lvl="2" algn="just" eaLnBrk="1" fontAlgn="auto" hangingPunct="1">
              <a:spcAft>
                <a:spcPts val="0"/>
              </a:spcAft>
              <a:defRPr/>
            </a:pPr>
            <a:r>
              <a:rPr lang="en-US" sz="2600" dirty="0">
                <a:latin typeface="+mj-lt"/>
                <a:cs typeface="Arial" charset="0"/>
              </a:rPr>
              <a:t>As a result, both Data and structure should be protected.</a:t>
            </a:r>
          </a:p>
          <a:p>
            <a:pPr marL="1005840" lvl="2" eaLnBrk="1" fontAlgn="auto" hangingPunct="1">
              <a:spcAft>
                <a:spcPts val="0"/>
              </a:spcAft>
              <a:buClr>
                <a:schemeClr val="accent3"/>
              </a:buClr>
              <a:buFont typeface="Courier New" charset="0"/>
              <a:buChar char="o"/>
              <a:defRPr/>
            </a:pPr>
            <a:endParaRPr lang="en-US" sz="2600" dirty="0">
              <a:latin typeface="+mj-lt"/>
              <a:cs typeface="Arial" charset="0"/>
            </a:endParaRPr>
          </a:p>
          <a:p>
            <a:pPr marL="914400" lvl="2" indent="0" eaLnBrk="1" fontAlgn="auto" hangingPunct="1">
              <a:spcAft>
                <a:spcPts val="0"/>
              </a:spcAft>
              <a:buClr>
                <a:schemeClr val="accent3"/>
              </a:buClr>
              <a:buFont typeface="Arial" charset="0"/>
              <a:buNone/>
              <a:defRPr/>
            </a:pPr>
            <a:r>
              <a:rPr lang="en-US" sz="2600" b="1" dirty="0">
                <a:solidFill>
                  <a:srgbClr val="FF0000"/>
                </a:solidFill>
                <a:latin typeface="+mj-lt"/>
                <a:cs typeface="Arial" charset="0"/>
              </a:rPr>
              <a:t>All these bring a new challenge</a:t>
            </a:r>
          </a:p>
        </p:txBody>
      </p:sp>
      <p:sp>
        <p:nvSpPr>
          <p:cNvPr id="4" name="Slide Number Placeholder 3">
            <a:extLst>
              <a:ext uri="{FF2B5EF4-FFF2-40B4-BE49-F238E27FC236}">
                <a16:creationId xmlns:a16="http://schemas.microsoft.com/office/drawing/2014/main" id="{72CD139B-2014-6448-A61F-6BE6D423225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7F87C8E-F53D-434B-8B73-68C295C8AEEF}" type="slidenum">
              <a:rPr lang="en-US" altLang="en-US">
                <a:solidFill>
                  <a:srgbClr val="898989"/>
                </a:solidFill>
              </a:rPr>
              <a:pPr eaLnBrk="1" hangingPunct="1"/>
              <a:t>11</a:t>
            </a:fld>
            <a:endParaRPr lang="en-US" altLang="en-US">
              <a:solidFill>
                <a:srgbClr val="89898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936FE4F4-009B-C3F2-D076-4B4D70D3BD98}"/>
              </a:ext>
            </a:extLst>
          </p:cNvPr>
          <p:cNvSpPr>
            <a:spLocks noGrp="1"/>
          </p:cNvSpPr>
          <p:nvPr>
            <p:ph type="title"/>
          </p:nvPr>
        </p:nvSpPr>
        <p:spPr/>
        <p:txBody>
          <a:bodyPr/>
          <a:lstStyle/>
          <a:p>
            <a:pPr eaLnBrk="1" hangingPunct="1"/>
            <a:r>
              <a:rPr lang="en-US" altLang="en-US" sz="3600" b="1">
                <a:latin typeface="Arial" panose="020B0604020202020204" pitchFamily="34" charset="0"/>
                <a:cs typeface="Arial" panose="020B0604020202020204" pitchFamily="34" charset="0"/>
              </a:rPr>
              <a:t>Encrypted Data Management</a:t>
            </a:r>
          </a:p>
        </p:txBody>
      </p:sp>
      <p:sp>
        <p:nvSpPr>
          <p:cNvPr id="13315" name="Content Placeholder 2">
            <a:extLst>
              <a:ext uri="{FF2B5EF4-FFF2-40B4-BE49-F238E27FC236}">
                <a16:creationId xmlns:a16="http://schemas.microsoft.com/office/drawing/2014/main" id="{9F477B74-FEF0-6880-C00F-467FC6EBBD44}"/>
              </a:ext>
            </a:extLst>
          </p:cNvPr>
          <p:cNvSpPr>
            <a:spLocks noGrp="1"/>
          </p:cNvSpPr>
          <p:nvPr>
            <p:ph idx="1"/>
          </p:nvPr>
        </p:nvSpPr>
        <p:spPr>
          <a:xfrm>
            <a:off x="457200" y="1600200"/>
            <a:ext cx="8077200" cy="4525963"/>
          </a:xfrm>
        </p:spPr>
        <p:txBody>
          <a:bodyPr/>
          <a:lstStyle/>
          <a:p>
            <a:pPr algn="just" eaLnBrk="1" hangingPunct="1">
              <a:spcBef>
                <a:spcPts val="600"/>
              </a:spcBef>
              <a:spcAft>
                <a:spcPts val="600"/>
              </a:spcAft>
              <a:buFont typeface="Arial" charset="0"/>
              <a:buNone/>
              <a:defRPr/>
            </a:pPr>
            <a:r>
              <a:rPr lang="en-US" sz="2600" dirty="0">
                <a:latin typeface="+mj-lt"/>
                <a:ea typeface="ＭＳ Ｐゴシック" pitchFamily="34" charset="-128"/>
                <a:cs typeface="Arial" charset="0"/>
              </a:rPr>
              <a:t>Key concern:</a:t>
            </a:r>
          </a:p>
          <a:p>
            <a:pPr algn="just" eaLnBrk="1" hangingPunct="1">
              <a:spcBef>
                <a:spcPts val="600"/>
              </a:spcBef>
              <a:spcAft>
                <a:spcPts val="600"/>
              </a:spcAft>
              <a:buFont typeface="Arial" charset="0"/>
              <a:buChar char="•"/>
              <a:defRPr/>
            </a:pPr>
            <a:r>
              <a:rPr lang="en-US" sz="2600" dirty="0">
                <a:latin typeface="+mj-lt"/>
                <a:ea typeface="ＭＳ Ｐゴシック" pitchFamily="34" charset="-128"/>
                <a:cs typeface="Arial" charset="0"/>
              </a:rPr>
              <a:t>Confidentiality of the sensitive information in the DB residing on the server.</a:t>
            </a:r>
          </a:p>
          <a:p>
            <a:pPr lvl="2" algn="just" eaLnBrk="1" hangingPunct="1">
              <a:spcBef>
                <a:spcPct val="0"/>
              </a:spcBef>
              <a:buFont typeface="Arial" charset="0"/>
              <a:buChar char="•"/>
              <a:defRPr/>
            </a:pPr>
            <a:r>
              <a:rPr lang="en-US" sz="2600" dirty="0">
                <a:latin typeface="+mj-lt"/>
                <a:ea typeface="ＭＳ Ｐゴシック" pitchFamily="34" charset="-128"/>
                <a:cs typeface="Arial" charset="0"/>
              </a:rPr>
              <a:t>From outside hackers</a:t>
            </a:r>
          </a:p>
          <a:p>
            <a:pPr lvl="2" algn="just" eaLnBrk="1" hangingPunct="1">
              <a:spcBef>
                <a:spcPct val="0"/>
              </a:spcBef>
              <a:buFont typeface="Arial" charset="0"/>
              <a:buChar char="•"/>
              <a:defRPr/>
            </a:pPr>
            <a:r>
              <a:rPr lang="en-US" sz="2600" dirty="0">
                <a:latin typeface="+mj-lt"/>
                <a:ea typeface="ＭＳ Ｐゴシック" pitchFamily="34" charset="-128"/>
                <a:cs typeface="Arial" charset="0"/>
              </a:rPr>
              <a:t>From malicious insiders (DBA).</a:t>
            </a:r>
          </a:p>
          <a:p>
            <a:pPr algn="just" eaLnBrk="1" hangingPunct="1">
              <a:spcBef>
                <a:spcPts val="600"/>
              </a:spcBef>
              <a:spcAft>
                <a:spcPts val="600"/>
              </a:spcAft>
              <a:buFont typeface="Arial" charset="0"/>
              <a:buNone/>
              <a:defRPr/>
            </a:pPr>
            <a:r>
              <a:rPr lang="en-US" sz="2600" dirty="0">
                <a:latin typeface="+mj-lt"/>
                <a:ea typeface="ＭＳ Ｐゴシック" pitchFamily="34" charset="-128"/>
                <a:cs typeface="Arial" charset="0"/>
              </a:rPr>
              <a:t>Solution:</a:t>
            </a:r>
          </a:p>
          <a:p>
            <a:pPr algn="just" eaLnBrk="1" hangingPunct="1">
              <a:spcBef>
                <a:spcPts val="600"/>
              </a:spcBef>
              <a:spcAft>
                <a:spcPts val="600"/>
              </a:spcAft>
              <a:buFont typeface="Arial" charset="0"/>
              <a:buChar char="•"/>
              <a:defRPr/>
            </a:pPr>
            <a:r>
              <a:rPr lang="en-US" sz="2600" dirty="0">
                <a:latin typeface="+mj-lt"/>
                <a:ea typeface="ＭＳ Ｐゴシック" pitchFamily="34" charset="-128"/>
                <a:cs typeface="Arial" charset="0"/>
              </a:rPr>
              <a:t>Encrypt the sensitive portions of data where only the client has access to the key.</a:t>
            </a:r>
          </a:p>
        </p:txBody>
      </p:sp>
      <p:sp>
        <p:nvSpPr>
          <p:cNvPr id="4" name="Slide Number Placeholder 3">
            <a:extLst>
              <a:ext uri="{FF2B5EF4-FFF2-40B4-BE49-F238E27FC236}">
                <a16:creationId xmlns:a16="http://schemas.microsoft.com/office/drawing/2014/main" id="{6747B560-6591-CE35-8C3F-8FC71E7415D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E0345E5C-C75D-4A22-93E6-AA72A1EFCBAA}" type="slidenum">
              <a:rPr lang="en-US" altLang="en-US">
                <a:solidFill>
                  <a:srgbClr val="898989"/>
                </a:solidFill>
              </a:rPr>
              <a:pPr eaLnBrk="1" hangingPunct="1"/>
              <a:t>12</a:t>
            </a:fld>
            <a:endParaRPr lang="en-US" altLang="en-US">
              <a:solidFill>
                <a:srgbClr val="89898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630AA395-0E13-11AF-722D-6295DB883CD2}"/>
              </a:ext>
            </a:extLst>
          </p:cNvPr>
          <p:cNvSpPr>
            <a:spLocks noGrp="1"/>
          </p:cNvSpPr>
          <p:nvPr>
            <p:ph type="title"/>
          </p:nvPr>
        </p:nvSpPr>
        <p:spPr/>
        <p:txBody>
          <a:bodyPr/>
          <a:lstStyle/>
          <a:p>
            <a:pPr eaLnBrk="1" hangingPunct="1"/>
            <a:r>
              <a:rPr lang="en-US" altLang="en-US" sz="3600" b="1">
                <a:latin typeface="Arial" panose="020B0604020202020204" pitchFamily="34" charset="0"/>
                <a:cs typeface="Arial" panose="020B0604020202020204" pitchFamily="34" charset="0"/>
              </a:rPr>
              <a:t>Encrypted Data Management</a:t>
            </a:r>
          </a:p>
        </p:txBody>
      </p:sp>
      <p:sp>
        <p:nvSpPr>
          <p:cNvPr id="11266" name="Content Placeholder 2">
            <a:extLst>
              <a:ext uri="{FF2B5EF4-FFF2-40B4-BE49-F238E27FC236}">
                <a16:creationId xmlns:a16="http://schemas.microsoft.com/office/drawing/2014/main" id="{D5223249-1992-6958-720A-87558699EC8E}"/>
              </a:ext>
            </a:extLst>
          </p:cNvPr>
          <p:cNvSpPr>
            <a:spLocks noGrp="1"/>
          </p:cNvSpPr>
          <p:nvPr>
            <p:ph idx="1"/>
          </p:nvPr>
        </p:nvSpPr>
        <p:spPr>
          <a:xfrm>
            <a:off x="762000" y="1600200"/>
            <a:ext cx="7467600" cy="4525963"/>
          </a:xfrm>
        </p:spPr>
        <p:txBody>
          <a:bodyPr rtlCol="0">
            <a:normAutofit/>
          </a:bodyPr>
          <a:lstStyle/>
          <a:p>
            <a:pPr marL="0" indent="0" eaLnBrk="1" fontAlgn="auto" hangingPunct="1">
              <a:spcBef>
                <a:spcPts val="1200"/>
              </a:spcBef>
              <a:spcAft>
                <a:spcPts val="1200"/>
              </a:spcAft>
              <a:buFont typeface="Arial" charset="0"/>
              <a:buNone/>
              <a:defRPr/>
            </a:pPr>
            <a:r>
              <a:rPr lang="en-US" sz="2600" dirty="0">
                <a:latin typeface="+mj-lt"/>
                <a:cs typeface="Arial" charset="0"/>
              </a:rPr>
              <a:t>Issues related to encrypted data management:</a:t>
            </a:r>
          </a:p>
          <a:p>
            <a:pPr eaLnBrk="1" fontAlgn="auto" hangingPunct="1">
              <a:spcBef>
                <a:spcPts val="600"/>
              </a:spcBef>
              <a:spcAft>
                <a:spcPts val="600"/>
              </a:spcAft>
              <a:defRPr/>
            </a:pPr>
            <a:r>
              <a:rPr lang="en-US" sz="2600" dirty="0">
                <a:latin typeface="+mj-lt"/>
                <a:cs typeface="Arial" charset="0"/>
              </a:rPr>
              <a:t>Support for encryption algorithm</a:t>
            </a:r>
          </a:p>
          <a:p>
            <a:pPr eaLnBrk="1" fontAlgn="auto" hangingPunct="1">
              <a:spcBef>
                <a:spcPts val="600"/>
              </a:spcBef>
              <a:spcAft>
                <a:spcPts val="600"/>
              </a:spcAft>
              <a:defRPr/>
            </a:pPr>
            <a:r>
              <a:rPr lang="en-US" sz="2600" dirty="0">
                <a:latin typeface="+mj-lt"/>
                <a:cs typeface="Arial" charset="0"/>
              </a:rPr>
              <a:t>Key management</a:t>
            </a:r>
          </a:p>
          <a:p>
            <a:pPr eaLnBrk="1" fontAlgn="auto" hangingPunct="1">
              <a:spcBef>
                <a:spcPts val="600"/>
              </a:spcBef>
              <a:spcAft>
                <a:spcPts val="600"/>
              </a:spcAft>
              <a:defRPr/>
            </a:pPr>
            <a:r>
              <a:rPr lang="en-US" sz="2600" dirty="0">
                <a:latin typeface="+mj-lt"/>
                <a:cs typeface="Arial" charset="0"/>
              </a:rPr>
              <a:t>Query execution on encrypted data</a:t>
            </a:r>
          </a:p>
        </p:txBody>
      </p:sp>
      <p:sp>
        <p:nvSpPr>
          <p:cNvPr id="4" name="Slide Number Placeholder 3">
            <a:extLst>
              <a:ext uri="{FF2B5EF4-FFF2-40B4-BE49-F238E27FC236}">
                <a16:creationId xmlns:a16="http://schemas.microsoft.com/office/drawing/2014/main" id="{024B0FE6-BD38-0FD5-A9C7-A145C02A78F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72B1C01F-8D33-4945-AE18-D8BDB8AFC031}" type="slidenum">
              <a:rPr lang="en-US" altLang="en-US">
                <a:solidFill>
                  <a:srgbClr val="898989"/>
                </a:solidFill>
              </a:rPr>
              <a:pPr eaLnBrk="1" hangingPunct="1"/>
              <a:t>13</a:t>
            </a:fld>
            <a:endParaRPr lang="en-US" altLang="en-US">
              <a:solidFill>
                <a:srgbClr val="898989"/>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9DC3F652-28CF-DD1A-111F-4C676A30B536}"/>
              </a:ext>
            </a:extLst>
          </p:cNvPr>
          <p:cNvSpPr>
            <a:spLocks noGrp="1"/>
          </p:cNvSpPr>
          <p:nvPr>
            <p:ph idx="1"/>
          </p:nvPr>
        </p:nvSpPr>
        <p:spPr/>
        <p:txBody>
          <a:bodyPr/>
          <a:lstStyle/>
          <a:p>
            <a:pPr algn="just" eaLnBrk="1" hangingPunct="1"/>
            <a:r>
              <a:rPr lang="en-US" altLang="en-US" sz="2400"/>
              <a:t>The DAS model offers a variety of </a:t>
            </a:r>
            <a:r>
              <a:rPr lang="en-US" altLang="en-US" sz="2400">
                <a:solidFill>
                  <a:srgbClr val="FF0000"/>
                </a:solidFill>
              </a:rPr>
              <a:t>data management functionalities in the form of service to clients</a:t>
            </a:r>
            <a:r>
              <a:rPr lang="en-US" altLang="en-US" sz="2400"/>
              <a:t>.</a:t>
            </a:r>
          </a:p>
          <a:p>
            <a:pPr algn="just" eaLnBrk="1" hangingPunct="1"/>
            <a:r>
              <a:rPr lang="en-US" altLang="en-US" sz="2400"/>
              <a:t>A key concern in such an application is that </a:t>
            </a:r>
            <a:r>
              <a:rPr lang="en-US" altLang="en-US" sz="2400">
                <a:solidFill>
                  <a:srgbClr val="FF0000"/>
                </a:solidFill>
              </a:rPr>
              <a:t>of confidentiality of the sensitive information</a:t>
            </a:r>
            <a:r>
              <a:rPr lang="en-US" altLang="en-US" sz="2400"/>
              <a:t> in the database residing on the server.</a:t>
            </a:r>
          </a:p>
          <a:p>
            <a:pPr algn="just" eaLnBrk="1" hangingPunct="1"/>
            <a:r>
              <a:rPr lang="en-US" altLang="en-US" sz="2400"/>
              <a:t>In many cases, </a:t>
            </a:r>
            <a:r>
              <a:rPr lang="en-US" altLang="en-US" sz="2400">
                <a:solidFill>
                  <a:srgbClr val="FF0000"/>
                </a:solidFill>
              </a:rPr>
              <a:t>some or all of the data might be considered sensitive </a:t>
            </a:r>
            <a:r>
              <a:rPr lang="en-US" altLang="en-US" sz="2400"/>
              <a:t>and needs to be protected from any kind of unauthorized access on the server side.</a:t>
            </a:r>
          </a:p>
          <a:p>
            <a:pPr algn="just" eaLnBrk="1" hangingPunct="1"/>
            <a:r>
              <a:rPr lang="en-US" altLang="en-US" sz="2400">
                <a:solidFill>
                  <a:srgbClr val="FF0000"/>
                </a:solidFill>
              </a:rPr>
              <a:t>“Unauthorized access” could refer to a break-in by hackers or an access by a legitimate, but malicious insider</a:t>
            </a:r>
            <a:r>
              <a:rPr lang="en-US" altLang="en-US" sz="2400"/>
              <a:t>, for example a database administrator.</a:t>
            </a:r>
          </a:p>
        </p:txBody>
      </p:sp>
      <p:sp>
        <p:nvSpPr>
          <p:cNvPr id="15363" name="Title 1">
            <a:extLst>
              <a:ext uri="{FF2B5EF4-FFF2-40B4-BE49-F238E27FC236}">
                <a16:creationId xmlns:a16="http://schemas.microsoft.com/office/drawing/2014/main" id="{651F6B58-0E87-3B26-7039-556CE507C891}"/>
              </a:ext>
            </a:extLst>
          </p:cNvPr>
          <p:cNvSpPr>
            <a:spLocks noGrp="1"/>
          </p:cNvSpPr>
          <p:nvPr>
            <p:ph type="title"/>
          </p:nvPr>
        </p:nvSpPr>
        <p:spPr>
          <a:xfrm>
            <a:off x="228600" y="274638"/>
            <a:ext cx="8686800" cy="1143000"/>
          </a:xfrm>
        </p:spPr>
        <p:txBody>
          <a:bodyPr/>
          <a:lstStyle/>
          <a:p>
            <a:pPr eaLnBrk="1" hangingPunct="1"/>
            <a:r>
              <a:rPr lang="en-US" altLang="en-US" sz="3200" b="1">
                <a:cs typeface="Arial" panose="020B0604020202020204" pitchFamily="34" charset="0"/>
              </a:rPr>
              <a:t>Architecture of a typical DAS system:</a:t>
            </a:r>
            <a:br>
              <a:rPr lang="en-US" altLang="en-US" sz="3200" b="1">
                <a:cs typeface="Arial" panose="020B0604020202020204" pitchFamily="34" charset="0"/>
              </a:rPr>
            </a:br>
            <a:r>
              <a:rPr lang="en-US" altLang="en-US" sz="3200" b="1">
                <a:cs typeface="Arial" panose="020B0604020202020204" pitchFamily="34" charset="0"/>
              </a:rPr>
              <a:t>DAS  -  Storing and querying encrypted data</a:t>
            </a:r>
          </a:p>
        </p:txBody>
      </p:sp>
      <p:sp>
        <p:nvSpPr>
          <p:cNvPr id="4" name="Slide Number Placeholder 3">
            <a:extLst>
              <a:ext uri="{FF2B5EF4-FFF2-40B4-BE49-F238E27FC236}">
                <a16:creationId xmlns:a16="http://schemas.microsoft.com/office/drawing/2014/main" id="{0F1C1099-4A36-2A6C-2065-E723239764E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B3DF3938-1980-4333-AA78-F4CBA4EA6DD9}" type="slidenum">
              <a:rPr lang="en-US" altLang="en-US">
                <a:solidFill>
                  <a:srgbClr val="898989"/>
                </a:solidFill>
              </a:rPr>
              <a:pPr eaLnBrk="1" hangingPunct="1"/>
              <a:t>14</a:t>
            </a:fld>
            <a:endParaRPr lang="en-US" altLang="en-US">
              <a:solidFill>
                <a:srgbClr val="898989"/>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DAF79DB8-0EA4-E759-2A82-AFD662F2FF20}"/>
              </a:ext>
            </a:extLst>
          </p:cNvPr>
          <p:cNvSpPr>
            <a:spLocks noGrp="1"/>
          </p:cNvSpPr>
          <p:nvPr>
            <p:ph type="title"/>
          </p:nvPr>
        </p:nvSpPr>
        <p:spPr>
          <a:xfrm>
            <a:off x="228600" y="274638"/>
            <a:ext cx="8686800" cy="1143000"/>
          </a:xfrm>
        </p:spPr>
        <p:txBody>
          <a:bodyPr/>
          <a:lstStyle/>
          <a:p>
            <a:pPr eaLnBrk="1" hangingPunct="1"/>
            <a:r>
              <a:rPr lang="en-US" altLang="en-US" sz="3200" b="1">
                <a:cs typeface="Arial" panose="020B0604020202020204" pitchFamily="34" charset="0"/>
              </a:rPr>
              <a:t>Architecture of a typical DAS system:</a:t>
            </a:r>
            <a:br>
              <a:rPr lang="en-US" altLang="en-US" sz="3200" b="1">
                <a:cs typeface="Arial" panose="020B0604020202020204" pitchFamily="34" charset="0"/>
              </a:rPr>
            </a:br>
            <a:r>
              <a:rPr lang="en-US" altLang="en-US" sz="3200" b="1">
                <a:cs typeface="Arial" panose="020B0604020202020204" pitchFamily="34" charset="0"/>
              </a:rPr>
              <a:t>DAS  -  Storing and querying encrypted data</a:t>
            </a:r>
          </a:p>
        </p:txBody>
      </p:sp>
      <p:sp>
        <p:nvSpPr>
          <p:cNvPr id="16387" name="Content Placeholder 2">
            <a:extLst>
              <a:ext uri="{FF2B5EF4-FFF2-40B4-BE49-F238E27FC236}">
                <a16:creationId xmlns:a16="http://schemas.microsoft.com/office/drawing/2014/main" id="{663A170F-2508-F66B-7FB1-53CAE9CFB1DD}"/>
              </a:ext>
            </a:extLst>
          </p:cNvPr>
          <p:cNvSpPr>
            <a:spLocks noGrp="1"/>
          </p:cNvSpPr>
          <p:nvPr>
            <p:ph idx="1"/>
          </p:nvPr>
        </p:nvSpPr>
        <p:spPr>
          <a:xfrm>
            <a:off x="838200" y="1752600"/>
            <a:ext cx="7620000" cy="4800600"/>
          </a:xfrm>
        </p:spPr>
        <p:txBody>
          <a:bodyPr/>
          <a:lstStyle/>
          <a:p>
            <a:pPr eaLnBrk="1" hangingPunct="1">
              <a:spcBef>
                <a:spcPts val="1200"/>
              </a:spcBef>
              <a:spcAft>
                <a:spcPts val="1200"/>
              </a:spcAft>
              <a:buFont typeface="Arial" charset="0"/>
              <a:buChar char="•"/>
              <a:defRPr/>
            </a:pPr>
            <a:r>
              <a:rPr lang="en-US" sz="2600" dirty="0">
                <a:latin typeface="+mj-lt"/>
                <a:ea typeface="ＭＳ Ｐゴシック" pitchFamily="34" charset="-128"/>
                <a:cs typeface="Arial" charset="0"/>
              </a:rPr>
              <a:t>DAS set up and security model</a:t>
            </a:r>
          </a:p>
          <a:p>
            <a:pPr eaLnBrk="1" hangingPunct="1">
              <a:spcBef>
                <a:spcPts val="1200"/>
              </a:spcBef>
              <a:spcAft>
                <a:spcPts val="1200"/>
              </a:spcAft>
              <a:buFont typeface="Arial" charset="0"/>
              <a:buChar char="•"/>
              <a:defRPr/>
            </a:pPr>
            <a:r>
              <a:rPr lang="en-US" sz="2600" dirty="0">
                <a:latin typeface="+mj-lt"/>
                <a:ea typeface="ＭＳ Ｐゴシック" pitchFamily="34" charset="-128"/>
                <a:cs typeface="Arial" charset="0"/>
              </a:rPr>
              <a:t>Querying encrypted relational data</a:t>
            </a:r>
          </a:p>
          <a:p>
            <a:pPr eaLnBrk="1" hangingPunct="1">
              <a:spcBef>
                <a:spcPts val="1200"/>
              </a:spcBef>
              <a:spcAft>
                <a:spcPts val="1200"/>
              </a:spcAft>
              <a:buFont typeface="Arial" charset="0"/>
              <a:buChar char="•"/>
              <a:defRPr/>
            </a:pPr>
            <a:r>
              <a:rPr lang="en-US" sz="2600" dirty="0">
                <a:latin typeface="+mj-lt"/>
                <a:ea typeface="ＭＳ Ｐゴシック" pitchFamily="34" charset="-128"/>
                <a:cs typeface="Arial" charset="0"/>
              </a:rPr>
              <a:t>Relational encryption and storage model</a:t>
            </a:r>
          </a:p>
          <a:p>
            <a:pPr eaLnBrk="1" hangingPunct="1">
              <a:spcBef>
                <a:spcPts val="1200"/>
              </a:spcBef>
              <a:spcAft>
                <a:spcPts val="1200"/>
              </a:spcAft>
              <a:buFont typeface="Arial" charset="0"/>
              <a:buChar char="•"/>
              <a:defRPr/>
            </a:pPr>
            <a:r>
              <a:rPr lang="en-US" sz="2600" dirty="0">
                <a:latin typeface="+mj-lt"/>
                <a:ea typeface="ＭＳ Ｐゴシック" pitchFamily="34" charset="-128"/>
                <a:cs typeface="Arial" charset="0"/>
              </a:rPr>
              <a:t>Keyword search on encrypted text data</a:t>
            </a:r>
          </a:p>
          <a:p>
            <a:pPr eaLnBrk="1" hangingPunct="1">
              <a:spcBef>
                <a:spcPts val="1200"/>
              </a:spcBef>
              <a:spcAft>
                <a:spcPts val="1200"/>
              </a:spcAft>
              <a:buFont typeface="Arial" charset="0"/>
              <a:buChar char="•"/>
              <a:defRPr/>
            </a:pPr>
            <a:r>
              <a:rPr lang="en-US" sz="2600" dirty="0">
                <a:latin typeface="+mj-lt"/>
                <a:ea typeface="ＭＳ Ｐゴシック" pitchFamily="34" charset="-128"/>
                <a:cs typeface="Arial" charset="0"/>
              </a:rPr>
              <a:t>Search over encrypted XML data</a:t>
            </a:r>
          </a:p>
          <a:p>
            <a:pPr eaLnBrk="1" hangingPunct="1">
              <a:buFont typeface="Arial" charset="0"/>
              <a:buChar char="•"/>
              <a:defRPr/>
            </a:pPr>
            <a:endParaRPr lang="en-US" sz="2600" dirty="0">
              <a:latin typeface="+mj-lt"/>
              <a:ea typeface="ＭＳ Ｐゴシック" pitchFamily="34" charset="-128"/>
              <a:cs typeface="Arial" charset="0"/>
            </a:endParaRPr>
          </a:p>
        </p:txBody>
      </p:sp>
      <p:sp>
        <p:nvSpPr>
          <p:cNvPr id="4" name="Slide Number Placeholder 3">
            <a:extLst>
              <a:ext uri="{FF2B5EF4-FFF2-40B4-BE49-F238E27FC236}">
                <a16:creationId xmlns:a16="http://schemas.microsoft.com/office/drawing/2014/main" id="{35622DE4-12F4-A254-8FC6-F99A8F3AC4B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7D87925F-43F2-4187-9B51-2A8C23A5DB61}" type="slidenum">
              <a:rPr lang="en-US" altLang="en-US">
                <a:solidFill>
                  <a:srgbClr val="898989"/>
                </a:solidFill>
              </a:rPr>
              <a:pPr eaLnBrk="1" hangingPunct="1"/>
              <a:t>15</a:t>
            </a:fld>
            <a:endParaRPr lang="en-US" altLang="en-US">
              <a:solidFill>
                <a:srgbClr val="89898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C3CC6AB2-2F02-4352-7C19-0B50493597FB}"/>
              </a:ext>
            </a:extLst>
          </p:cNvPr>
          <p:cNvSpPr>
            <a:spLocks noGrp="1"/>
          </p:cNvSpPr>
          <p:nvPr>
            <p:ph type="title"/>
          </p:nvPr>
        </p:nvSpPr>
        <p:spPr/>
        <p:txBody>
          <a:bodyPr/>
          <a:lstStyle/>
          <a:p>
            <a:pPr eaLnBrk="1" hangingPunct="1"/>
            <a:r>
              <a:rPr lang="en-US" altLang="en-US" sz="3600" b="1">
                <a:cs typeface="Arial" panose="020B0604020202020204" pitchFamily="34" charset="0"/>
              </a:rPr>
              <a:t>DAS setup and security model</a:t>
            </a:r>
          </a:p>
        </p:txBody>
      </p:sp>
      <p:sp>
        <p:nvSpPr>
          <p:cNvPr id="17411" name="Content Placeholder 2">
            <a:extLst>
              <a:ext uri="{FF2B5EF4-FFF2-40B4-BE49-F238E27FC236}">
                <a16:creationId xmlns:a16="http://schemas.microsoft.com/office/drawing/2014/main" id="{AB47C3CF-A34F-A5C9-F851-7447A09D5A68}"/>
              </a:ext>
            </a:extLst>
          </p:cNvPr>
          <p:cNvSpPr>
            <a:spLocks noGrp="1"/>
          </p:cNvSpPr>
          <p:nvPr>
            <p:ph idx="1"/>
          </p:nvPr>
        </p:nvSpPr>
        <p:spPr/>
        <p:txBody>
          <a:bodyPr/>
          <a:lstStyle/>
          <a:p>
            <a:pPr algn="just" eaLnBrk="1" hangingPunct="1">
              <a:spcBef>
                <a:spcPts val="600"/>
              </a:spcBef>
              <a:spcAft>
                <a:spcPts val="600"/>
              </a:spcAft>
              <a:buFont typeface="Arial" charset="0"/>
              <a:buChar char="•"/>
              <a:defRPr/>
            </a:pPr>
            <a:r>
              <a:rPr lang="en-US" sz="2600" dirty="0">
                <a:solidFill>
                  <a:srgbClr val="FF0000"/>
                </a:solidFill>
                <a:latin typeface="+mj-lt"/>
                <a:ea typeface="ＭＳ Ｐゴシック" pitchFamily="34" charset="-128"/>
                <a:cs typeface="Arial" charset="0"/>
              </a:rPr>
              <a:t>Data-owner</a:t>
            </a:r>
          </a:p>
          <a:p>
            <a:pPr lvl="1" algn="just" eaLnBrk="1" hangingPunct="1">
              <a:spcBef>
                <a:spcPts val="600"/>
              </a:spcBef>
              <a:spcAft>
                <a:spcPts val="600"/>
              </a:spcAft>
              <a:buFont typeface="Arial" charset="0"/>
              <a:buChar char="–"/>
              <a:defRPr/>
            </a:pPr>
            <a:r>
              <a:rPr lang="en-US" sz="2600" dirty="0">
                <a:latin typeface="+mj-lt"/>
                <a:ea typeface="ＭＳ Ｐゴシック" pitchFamily="34" charset="-128"/>
                <a:cs typeface="Arial" charset="0"/>
              </a:rPr>
              <a:t>One or more clients.</a:t>
            </a:r>
          </a:p>
          <a:p>
            <a:pPr algn="just" eaLnBrk="1" hangingPunct="1">
              <a:spcBef>
                <a:spcPts val="600"/>
              </a:spcBef>
              <a:spcAft>
                <a:spcPts val="600"/>
              </a:spcAft>
              <a:buFont typeface="Arial" charset="0"/>
              <a:buChar char="•"/>
              <a:defRPr/>
            </a:pPr>
            <a:r>
              <a:rPr lang="en-US" sz="2600" dirty="0">
                <a:solidFill>
                  <a:srgbClr val="FF0000"/>
                </a:solidFill>
                <a:latin typeface="+mj-lt"/>
                <a:ea typeface="ＭＳ Ｐゴシック" pitchFamily="34" charset="-128"/>
                <a:cs typeface="Arial" charset="0"/>
              </a:rPr>
              <a:t>Server</a:t>
            </a:r>
            <a:r>
              <a:rPr lang="en-US" sz="2600" dirty="0">
                <a:latin typeface="+mj-lt"/>
                <a:ea typeface="ＭＳ Ｐゴシック" pitchFamily="34" charset="-128"/>
                <a:cs typeface="Arial" charset="0"/>
              </a:rPr>
              <a:t>: owner stores the data on the server.</a:t>
            </a:r>
          </a:p>
          <a:p>
            <a:pPr algn="just" eaLnBrk="1" hangingPunct="1">
              <a:spcBef>
                <a:spcPts val="600"/>
              </a:spcBef>
              <a:spcAft>
                <a:spcPts val="600"/>
              </a:spcAft>
              <a:buFont typeface="Arial" charset="0"/>
              <a:buChar char="•"/>
              <a:defRPr/>
            </a:pPr>
            <a:r>
              <a:rPr lang="en-US" sz="2600" dirty="0">
                <a:latin typeface="+mj-lt"/>
                <a:ea typeface="ＭＳ Ｐゴシック" pitchFamily="34" charset="-128"/>
                <a:cs typeface="Arial" charset="0"/>
              </a:rPr>
              <a:t>Clients may query/modify parts of the data remotely according to their access rights.</a:t>
            </a:r>
          </a:p>
          <a:p>
            <a:pPr algn="just" eaLnBrk="1" hangingPunct="1">
              <a:spcBef>
                <a:spcPts val="600"/>
              </a:spcBef>
              <a:spcAft>
                <a:spcPts val="600"/>
              </a:spcAft>
              <a:buFont typeface="Arial" charset="0"/>
              <a:buChar char="•"/>
              <a:defRPr/>
            </a:pPr>
            <a:r>
              <a:rPr lang="en-US" sz="2600" dirty="0">
                <a:latin typeface="+mj-lt"/>
                <a:ea typeface="ＭＳ Ｐゴシック" pitchFamily="34" charset="-128"/>
                <a:cs typeface="Arial" charset="0"/>
              </a:rPr>
              <a:t>Data  must be encrypted on the server and only decrypted on the client-side.</a:t>
            </a:r>
          </a:p>
          <a:p>
            <a:pPr algn="just" eaLnBrk="1" hangingPunct="1">
              <a:buFont typeface="Arial" charset="0"/>
              <a:buChar char="•"/>
              <a:defRPr/>
            </a:pPr>
            <a:endParaRPr lang="en-US" sz="2600" dirty="0">
              <a:latin typeface="+mj-lt"/>
              <a:ea typeface="ＭＳ Ｐゴシック" pitchFamily="34" charset="-128"/>
              <a:cs typeface="Arial" charset="0"/>
            </a:endParaRPr>
          </a:p>
        </p:txBody>
      </p:sp>
      <p:sp>
        <p:nvSpPr>
          <p:cNvPr id="4" name="Slide Number Placeholder 3">
            <a:extLst>
              <a:ext uri="{FF2B5EF4-FFF2-40B4-BE49-F238E27FC236}">
                <a16:creationId xmlns:a16="http://schemas.microsoft.com/office/drawing/2014/main" id="{1A065684-1BED-EAF4-4CD6-69CC82E1408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CA85FB6D-23BC-44F4-922D-25602012763C}" type="slidenum">
              <a:rPr lang="en-US" altLang="en-US">
                <a:solidFill>
                  <a:srgbClr val="898989"/>
                </a:solidFill>
              </a:rPr>
              <a:pPr eaLnBrk="1" hangingPunct="1"/>
              <a:t>16</a:t>
            </a:fld>
            <a:endParaRPr lang="en-US" altLang="en-US">
              <a:solidFill>
                <a:srgbClr val="898989"/>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3CAD2344-8820-F73E-FB8D-FA7517506952}"/>
              </a:ext>
            </a:extLst>
          </p:cNvPr>
          <p:cNvSpPr>
            <a:spLocks noGrp="1"/>
          </p:cNvSpPr>
          <p:nvPr>
            <p:ph type="title"/>
          </p:nvPr>
        </p:nvSpPr>
        <p:spPr/>
        <p:txBody>
          <a:bodyPr/>
          <a:lstStyle/>
          <a:p>
            <a:pPr eaLnBrk="1" hangingPunct="1"/>
            <a:r>
              <a:rPr lang="en-US" altLang="en-US" sz="3600" b="1"/>
              <a:t>DAS setup and security model</a:t>
            </a:r>
          </a:p>
        </p:txBody>
      </p:sp>
      <p:sp>
        <p:nvSpPr>
          <p:cNvPr id="18435" name="Content Placeholder 2">
            <a:extLst>
              <a:ext uri="{FF2B5EF4-FFF2-40B4-BE49-F238E27FC236}">
                <a16:creationId xmlns:a16="http://schemas.microsoft.com/office/drawing/2014/main" id="{355A458F-BCFF-6500-A1BE-7FEB65068709}"/>
              </a:ext>
            </a:extLst>
          </p:cNvPr>
          <p:cNvSpPr>
            <a:spLocks noGrp="1"/>
          </p:cNvSpPr>
          <p:nvPr>
            <p:ph idx="1"/>
          </p:nvPr>
        </p:nvSpPr>
        <p:spPr>
          <a:xfrm>
            <a:off x="457200" y="1600200"/>
            <a:ext cx="8229600" cy="5029200"/>
          </a:xfrm>
        </p:spPr>
        <p:txBody>
          <a:bodyPr/>
          <a:lstStyle/>
          <a:p>
            <a:pPr algn="just" eaLnBrk="1" hangingPunct="1">
              <a:spcBef>
                <a:spcPts val="600"/>
              </a:spcBef>
              <a:spcAft>
                <a:spcPts val="600"/>
              </a:spcAft>
              <a:buFont typeface="Arial" charset="0"/>
              <a:buChar char="•"/>
              <a:defRPr/>
            </a:pPr>
            <a:r>
              <a:rPr lang="en-US" sz="2600" dirty="0">
                <a:latin typeface="+mj-lt"/>
                <a:ea typeface="ＭＳ Ｐゴシック" pitchFamily="34" charset="-128"/>
                <a:cs typeface="Arial" charset="0"/>
              </a:rPr>
              <a:t>In DAS Application, the client/owner side environment is assumed to be secure and trusted.</a:t>
            </a:r>
          </a:p>
          <a:p>
            <a:pPr algn="just" eaLnBrk="1" hangingPunct="1">
              <a:spcBef>
                <a:spcPts val="600"/>
              </a:spcBef>
              <a:spcAft>
                <a:spcPts val="600"/>
              </a:spcAft>
              <a:buFont typeface="Arial" charset="0"/>
              <a:buChar char="•"/>
              <a:defRPr/>
            </a:pPr>
            <a:r>
              <a:rPr lang="en-US" sz="2600" dirty="0">
                <a:solidFill>
                  <a:srgbClr val="FF0000"/>
                </a:solidFill>
                <a:latin typeface="+mj-lt"/>
                <a:ea typeface="ＭＳ Ｐゴシック" pitchFamily="34" charset="-128"/>
                <a:cs typeface="Arial" charset="0"/>
              </a:rPr>
              <a:t>Main problem from server side </a:t>
            </a:r>
            <a:r>
              <a:rPr lang="en-US" sz="2600" dirty="0">
                <a:latin typeface="+mj-lt"/>
                <a:ea typeface="ＭＳ Ｐゴシック" pitchFamily="34" charset="-128"/>
                <a:cs typeface="Arial" charset="0"/>
              </a:rPr>
              <a:t>adversaries</a:t>
            </a:r>
          </a:p>
          <a:p>
            <a:pPr lvl="1" algn="just" eaLnBrk="1" hangingPunct="1">
              <a:spcBef>
                <a:spcPts val="600"/>
              </a:spcBef>
              <a:spcAft>
                <a:spcPts val="600"/>
              </a:spcAft>
              <a:buFont typeface="Arial" charset="0"/>
              <a:buChar char="–"/>
              <a:defRPr/>
            </a:pPr>
            <a:r>
              <a:rPr lang="en-US" sz="2600" dirty="0">
                <a:latin typeface="+mj-lt"/>
                <a:ea typeface="ＭＳ Ｐゴシック" pitchFamily="34" charset="-128"/>
                <a:cs typeface="Arial" charset="0"/>
              </a:rPr>
              <a:t>A malicious DBA can harm the data owner.</a:t>
            </a:r>
          </a:p>
          <a:p>
            <a:pPr lvl="1" algn="just" eaLnBrk="1" hangingPunct="1">
              <a:spcBef>
                <a:spcPts val="600"/>
              </a:spcBef>
              <a:spcAft>
                <a:spcPts val="600"/>
              </a:spcAft>
              <a:buFont typeface="Arial" charset="0"/>
              <a:buChar char="–"/>
              <a:defRPr/>
            </a:pPr>
            <a:r>
              <a:rPr lang="en-US" sz="2600" dirty="0">
                <a:latin typeface="+mj-lt"/>
                <a:ea typeface="ＭＳ Ｐゴシック" pitchFamily="34" charset="-128"/>
                <a:cs typeface="Arial" charset="0"/>
              </a:rPr>
              <a:t>Sensitive portion of the data must be in encrypted format on the server at all the time.</a:t>
            </a:r>
          </a:p>
          <a:p>
            <a:pPr lvl="1" algn="just" eaLnBrk="1" hangingPunct="1">
              <a:spcBef>
                <a:spcPts val="600"/>
              </a:spcBef>
              <a:spcAft>
                <a:spcPts val="600"/>
              </a:spcAft>
              <a:buFont typeface="Arial" charset="0"/>
              <a:buChar char="–"/>
              <a:defRPr/>
            </a:pPr>
            <a:r>
              <a:rPr lang="en-US" sz="2600" dirty="0">
                <a:latin typeface="+mj-lt"/>
                <a:ea typeface="ＭＳ Ｐゴシック" pitchFamily="34" charset="-128"/>
                <a:cs typeface="Arial" charset="0"/>
              </a:rPr>
              <a:t>Secret encryption key should remain with the client.</a:t>
            </a:r>
          </a:p>
          <a:p>
            <a:pPr lvl="1" algn="just" eaLnBrk="1" hangingPunct="1">
              <a:spcBef>
                <a:spcPts val="600"/>
              </a:spcBef>
              <a:spcAft>
                <a:spcPts val="600"/>
              </a:spcAft>
              <a:buFont typeface="Arial" charset="0"/>
              <a:buChar char="–"/>
              <a:defRPr/>
            </a:pPr>
            <a:r>
              <a:rPr lang="en-US" sz="2600" dirty="0">
                <a:latin typeface="+mj-lt"/>
                <a:ea typeface="ＭＳ Ｐゴシック" pitchFamily="34" charset="-128"/>
                <a:cs typeface="Arial" charset="0"/>
              </a:rPr>
              <a:t>Data is only decrypted on the client side.</a:t>
            </a:r>
          </a:p>
        </p:txBody>
      </p:sp>
      <p:sp>
        <p:nvSpPr>
          <p:cNvPr id="4" name="Slide Number Placeholder 3">
            <a:extLst>
              <a:ext uri="{FF2B5EF4-FFF2-40B4-BE49-F238E27FC236}">
                <a16:creationId xmlns:a16="http://schemas.microsoft.com/office/drawing/2014/main" id="{0FFCF447-54FD-EC1B-ABBA-0FBB5657E5B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FB1F5257-102D-4BEF-9F6A-8B2248A3A7A5}" type="slidenum">
              <a:rPr lang="en-US" altLang="en-US">
                <a:solidFill>
                  <a:srgbClr val="898989"/>
                </a:solidFill>
              </a:rPr>
              <a:pPr eaLnBrk="1" hangingPunct="1"/>
              <a:t>17</a:t>
            </a:fld>
            <a:endParaRPr lang="en-US" altLang="en-US">
              <a:solidFill>
                <a:srgbClr val="89898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6D7ACA2C-3652-8A3F-3662-996127BB8FBC}"/>
              </a:ext>
            </a:extLst>
          </p:cNvPr>
          <p:cNvSpPr>
            <a:spLocks noGrp="1"/>
          </p:cNvSpPr>
          <p:nvPr>
            <p:ph type="title"/>
          </p:nvPr>
        </p:nvSpPr>
        <p:spPr/>
        <p:txBody>
          <a:bodyPr/>
          <a:lstStyle/>
          <a:p>
            <a:pPr eaLnBrk="1" hangingPunct="1"/>
            <a:r>
              <a:rPr lang="en-US" altLang="en-US" sz="3600" b="1">
                <a:cs typeface="Arial" panose="020B0604020202020204" pitchFamily="34" charset="0"/>
              </a:rPr>
              <a:t>Querying Encrypted Relational Data </a:t>
            </a:r>
          </a:p>
        </p:txBody>
      </p:sp>
      <p:sp>
        <p:nvSpPr>
          <p:cNvPr id="17410" name="Content Placeholder 2">
            <a:extLst>
              <a:ext uri="{FF2B5EF4-FFF2-40B4-BE49-F238E27FC236}">
                <a16:creationId xmlns:a16="http://schemas.microsoft.com/office/drawing/2014/main" id="{5A10182C-7230-8820-A30C-E2FEFD0F732C}"/>
              </a:ext>
            </a:extLst>
          </p:cNvPr>
          <p:cNvSpPr>
            <a:spLocks noGrp="1"/>
          </p:cNvSpPr>
          <p:nvPr>
            <p:ph idx="1"/>
          </p:nvPr>
        </p:nvSpPr>
        <p:spPr>
          <a:xfrm>
            <a:off x="457200" y="1524000"/>
            <a:ext cx="8305800" cy="5105400"/>
          </a:xfrm>
        </p:spPr>
        <p:txBody>
          <a:bodyPr rtlCol="0">
            <a:normAutofit/>
          </a:bodyPr>
          <a:lstStyle/>
          <a:p>
            <a:pPr marL="114300" indent="0" eaLnBrk="1" fontAlgn="auto" hangingPunct="1">
              <a:spcBef>
                <a:spcPts val="1200"/>
              </a:spcBef>
              <a:spcAft>
                <a:spcPts val="1200"/>
              </a:spcAft>
              <a:buFont typeface="Arial" charset="0"/>
              <a:buNone/>
              <a:defRPr/>
            </a:pPr>
            <a:r>
              <a:rPr lang="en-US" sz="2600" dirty="0">
                <a:latin typeface="+mj-lt"/>
                <a:cs typeface="Arial"/>
              </a:rPr>
              <a:t>Suppose an user (Alice) is outsourcing the following tables:</a:t>
            </a:r>
          </a:p>
          <a:p>
            <a:pPr marL="882000" eaLnBrk="1" fontAlgn="auto" hangingPunct="1">
              <a:spcBef>
                <a:spcPts val="600"/>
              </a:spcBef>
              <a:spcAft>
                <a:spcPts val="600"/>
              </a:spcAft>
              <a:defRPr/>
            </a:pPr>
            <a:r>
              <a:rPr lang="en-US" sz="2600" dirty="0">
                <a:solidFill>
                  <a:srgbClr val="FF0000"/>
                </a:solidFill>
                <a:latin typeface="+mj-lt"/>
                <a:cs typeface="Arial"/>
              </a:rPr>
              <a:t>EMP</a:t>
            </a:r>
            <a:r>
              <a:rPr lang="en-US" sz="2600" dirty="0">
                <a:latin typeface="+mj-lt"/>
                <a:cs typeface="Arial"/>
              </a:rPr>
              <a:t>(</a:t>
            </a:r>
            <a:r>
              <a:rPr lang="en-US" sz="2600" dirty="0" err="1">
                <a:latin typeface="+mj-lt"/>
                <a:cs typeface="Arial"/>
              </a:rPr>
              <a:t>eid</a:t>
            </a:r>
            <a:r>
              <a:rPr lang="en-US" sz="2600" dirty="0">
                <a:latin typeface="+mj-lt"/>
                <a:cs typeface="Arial"/>
              </a:rPr>
              <a:t>, </a:t>
            </a:r>
            <a:r>
              <a:rPr lang="en-US" sz="2600" dirty="0" err="1">
                <a:latin typeface="+mj-lt"/>
                <a:cs typeface="Arial"/>
              </a:rPr>
              <a:t>ename</a:t>
            </a:r>
            <a:r>
              <a:rPr lang="en-US" sz="2600" dirty="0">
                <a:latin typeface="+mj-lt"/>
                <a:cs typeface="Arial"/>
              </a:rPr>
              <a:t>, salary, </a:t>
            </a:r>
            <a:r>
              <a:rPr lang="en-US" sz="2600" dirty="0" err="1">
                <a:latin typeface="+mj-lt"/>
                <a:cs typeface="Arial"/>
              </a:rPr>
              <a:t>addr</a:t>
            </a:r>
            <a:r>
              <a:rPr lang="en-US" sz="2600" dirty="0">
                <a:latin typeface="+mj-lt"/>
                <a:cs typeface="Arial"/>
              </a:rPr>
              <a:t>, did)</a:t>
            </a:r>
          </a:p>
          <a:p>
            <a:pPr marL="882000" eaLnBrk="1" fontAlgn="auto" hangingPunct="1">
              <a:spcBef>
                <a:spcPts val="600"/>
              </a:spcBef>
              <a:spcAft>
                <a:spcPts val="600"/>
              </a:spcAft>
              <a:defRPr/>
            </a:pPr>
            <a:r>
              <a:rPr lang="en-US" sz="2600" dirty="0">
                <a:solidFill>
                  <a:srgbClr val="FF0000"/>
                </a:solidFill>
                <a:latin typeface="+mj-lt"/>
                <a:cs typeface="Arial"/>
              </a:rPr>
              <a:t>DEPARTMENT</a:t>
            </a:r>
            <a:r>
              <a:rPr lang="en-US" sz="2600" dirty="0">
                <a:latin typeface="+mj-lt"/>
                <a:cs typeface="Arial"/>
              </a:rPr>
              <a:t>(did, </a:t>
            </a:r>
            <a:r>
              <a:rPr lang="en-US" sz="2600" dirty="0" err="1">
                <a:latin typeface="+mj-lt"/>
                <a:cs typeface="Arial"/>
              </a:rPr>
              <a:t>dname</a:t>
            </a:r>
            <a:r>
              <a:rPr lang="en-US" sz="2600" dirty="0">
                <a:latin typeface="+mj-lt"/>
                <a:cs typeface="Arial"/>
              </a:rPr>
              <a:t>, </a:t>
            </a:r>
            <a:r>
              <a:rPr lang="en-US" sz="2600" dirty="0" err="1">
                <a:latin typeface="+mj-lt"/>
                <a:cs typeface="Arial"/>
              </a:rPr>
              <a:t>mgr</a:t>
            </a:r>
            <a:r>
              <a:rPr lang="en-US" sz="2600" dirty="0">
                <a:latin typeface="+mj-lt"/>
                <a:cs typeface="Arial"/>
              </a:rPr>
              <a:t>)</a:t>
            </a:r>
          </a:p>
          <a:p>
            <a:pPr eaLnBrk="1" fontAlgn="auto" hangingPunct="1">
              <a:spcBef>
                <a:spcPts val="600"/>
              </a:spcBef>
              <a:spcAft>
                <a:spcPts val="600"/>
              </a:spcAft>
              <a:buFont typeface="Wingdings" charset="2"/>
              <a:buChar char="ü"/>
              <a:defRPr/>
            </a:pPr>
            <a:r>
              <a:rPr lang="en-US" sz="2600" dirty="0">
                <a:latin typeface="+mj-lt"/>
                <a:cs typeface="Arial"/>
              </a:rPr>
              <a:t>These tables are stored at the service provider.</a:t>
            </a:r>
          </a:p>
          <a:p>
            <a:pPr algn="just" eaLnBrk="1" fontAlgn="auto" hangingPunct="1">
              <a:spcBef>
                <a:spcPts val="600"/>
              </a:spcBef>
              <a:spcAft>
                <a:spcPts val="600"/>
              </a:spcAft>
              <a:buFont typeface="Wingdings" charset="2"/>
              <a:buChar char="ü"/>
              <a:defRPr/>
            </a:pPr>
            <a:r>
              <a:rPr lang="en-US" sz="2600" dirty="0">
                <a:latin typeface="+mj-lt"/>
                <a:cs typeface="Arial" pitchFamily="34" charset="0"/>
              </a:rPr>
              <a:t>Since the service provider is </a:t>
            </a:r>
            <a:r>
              <a:rPr lang="en-US" sz="2600" dirty="0" err="1">
                <a:latin typeface="+mj-lt"/>
                <a:cs typeface="Arial" pitchFamily="34" charset="0"/>
              </a:rPr>
              <a:t>untrusted</a:t>
            </a:r>
            <a:r>
              <a:rPr lang="en-US" sz="2600" dirty="0">
                <a:latin typeface="+mj-lt"/>
                <a:cs typeface="Arial" pitchFamily="34" charset="0"/>
              </a:rPr>
              <a:t>, the relations must be stored in an encrypted form. </a:t>
            </a:r>
          </a:p>
          <a:p>
            <a:pPr algn="just" eaLnBrk="1" fontAlgn="auto" hangingPunct="1">
              <a:spcBef>
                <a:spcPts val="600"/>
              </a:spcBef>
              <a:spcAft>
                <a:spcPts val="600"/>
              </a:spcAft>
              <a:buFont typeface="Wingdings" charset="2"/>
              <a:buChar char="ü"/>
              <a:defRPr/>
            </a:pPr>
            <a:r>
              <a:rPr lang="en-US" sz="2600" dirty="0">
                <a:latin typeface="+mj-lt"/>
                <a:cs typeface="Arial"/>
              </a:rPr>
              <a:t>It is assumed that each row is encrypted as a single unit.</a:t>
            </a:r>
          </a:p>
          <a:p>
            <a:pPr eaLnBrk="1" fontAlgn="auto" hangingPunct="1">
              <a:spcAft>
                <a:spcPts val="0"/>
              </a:spcAft>
              <a:buFont typeface="Wingdings" charset="2"/>
              <a:buChar char="ü"/>
              <a:defRPr/>
            </a:pPr>
            <a:r>
              <a:rPr lang="en-US" sz="2600" dirty="0">
                <a:latin typeface="+mj-lt"/>
                <a:cs typeface="Arial"/>
              </a:rPr>
              <a:t>Thus we have a set of encrypted records at the server.</a:t>
            </a:r>
          </a:p>
        </p:txBody>
      </p:sp>
      <p:sp>
        <p:nvSpPr>
          <p:cNvPr id="4" name="Slide Number Placeholder 3">
            <a:extLst>
              <a:ext uri="{FF2B5EF4-FFF2-40B4-BE49-F238E27FC236}">
                <a16:creationId xmlns:a16="http://schemas.microsoft.com/office/drawing/2014/main" id="{AEAC0D37-D84F-19E7-5069-267CB2142B9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D32D5968-BFFA-46D6-9358-90D6C9244DDC}" type="slidenum">
              <a:rPr lang="en-US" altLang="en-US">
                <a:solidFill>
                  <a:srgbClr val="898989"/>
                </a:solidFill>
              </a:rPr>
              <a:pPr eaLnBrk="1" hangingPunct="1"/>
              <a:t>18</a:t>
            </a:fld>
            <a:endParaRPr lang="en-US" altLang="en-US">
              <a:solidFill>
                <a:srgbClr val="898989"/>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Content Placeholder 2">
            <a:extLst>
              <a:ext uri="{FF2B5EF4-FFF2-40B4-BE49-F238E27FC236}">
                <a16:creationId xmlns:a16="http://schemas.microsoft.com/office/drawing/2014/main" id="{3DD9FB27-588E-9C0A-BDCD-05B8391CA1AC}"/>
              </a:ext>
            </a:extLst>
          </p:cNvPr>
          <p:cNvSpPr>
            <a:spLocks noGrp="1"/>
          </p:cNvSpPr>
          <p:nvPr>
            <p:ph idx="1"/>
          </p:nvPr>
        </p:nvSpPr>
        <p:spPr/>
        <p:txBody>
          <a:bodyPr/>
          <a:lstStyle/>
          <a:p>
            <a:pPr marL="114300" indent="0" algn="just" eaLnBrk="1" hangingPunct="1">
              <a:spcBef>
                <a:spcPts val="1200"/>
              </a:spcBef>
              <a:spcAft>
                <a:spcPts val="1200"/>
              </a:spcAft>
              <a:buFont typeface="Arial" charset="0"/>
              <a:buNone/>
              <a:defRPr/>
            </a:pPr>
            <a:r>
              <a:rPr lang="en-US" sz="2600" b="1" dirty="0">
                <a:latin typeface="+mj-lt"/>
                <a:ea typeface="ＭＳ Ｐゴシック" pitchFamily="34" charset="-128"/>
                <a:cs typeface="Arial" charset="0"/>
              </a:rPr>
              <a:t>Client</a:t>
            </a:r>
            <a:r>
              <a:rPr lang="en-US" altLang="en-US" sz="2600" b="1" dirty="0">
                <a:latin typeface="+mj-lt"/>
                <a:ea typeface="ＭＳ Ｐゴシック" pitchFamily="34" charset="-128"/>
                <a:cs typeface="Arial" charset="0"/>
              </a:rPr>
              <a:t>’</a:t>
            </a:r>
            <a:r>
              <a:rPr lang="en-US" sz="2600" b="1" dirty="0">
                <a:latin typeface="+mj-lt"/>
                <a:ea typeface="ＭＳ Ｐゴシック" pitchFamily="34" charset="-128"/>
                <a:cs typeface="Arial" charset="0"/>
              </a:rPr>
              <a:t>s (Alice) query execution:</a:t>
            </a:r>
          </a:p>
          <a:p>
            <a:pPr marL="114300" indent="0" algn="just" eaLnBrk="1" hangingPunct="1">
              <a:spcBef>
                <a:spcPts val="300"/>
              </a:spcBef>
              <a:spcAft>
                <a:spcPts val="300"/>
              </a:spcAft>
              <a:buFont typeface="Arial" charset="0"/>
              <a:buNone/>
              <a:defRPr/>
            </a:pPr>
            <a:r>
              <a:rPr lang="en-US" sz="2600" dirty="0">
                <a:solidFill>
                  <a:srgbClr val="FF0000"/>
                </a:solidFill>
                <a:latin typeface="+mj-lt"/>
                <a:ea typeface="ＭＳ Ｐゴシック" pitchFamily="34" charset="-128"/>
                <a:cs typeface="Arial" charset="0"/>
              </a:rPr>
              <a:t>SELECT SUM(</a:t>
            </a:r>
            <a:r>
              <a:rPr lang="en-US" sz="2600" dirty="0" err="1">
                <a:solidFill>
                  <a:srgbClr val="FF0000"/>
                </a:solidFill>
                <a:latin typeface="+mj-lt"/>
                <a:ea typeface="ＭＳ Ｐゴシック" pitchFamily="34" charset="-128"/>
                <a:cs typeface="Arial" charset="0"/>
              </a:rPr>
              <a:t>E.salary</a:t>
            </a:r>
            <a:r>
              <a:rPr lang="en-US" sz="2600" dirty="0">
                <a:solidFill>
                  <a:srgbClr val="FF0000"/>
                </a:solidFill>
                <a:latin typeface="+mj-lt"/>
                <a:ea typeface="ＭＳ Ｐゴシック" pitchFamily="34" charset="-128"/>
                <a:cs typeface="Arial" charset="0"/>
              </a:rPr>
              <a:t>) </a:t>
            </a:r>
          </a:p>
          <a:p>
            <a:pPr marL="114300" indent="0" algn="just" eaLnBrk="1" hangingPunct="1">
              <a:spcBef>
                <a:spcPts val="300"/>
              </a:spcBef>
              <a:spcAft>
                <a:spcPts val="300"/>
              </a:spcAft>
              <a:buFont typeface="Arial" charset="0"/>
              <a:buNone/>
              <a:defRPr/>
            </a:pPr>
            <a:r>
              <a:rPr lang="en-US" sz="2600" dirty="0">
                <a:solidFill>
                  <a:srgbClr val="FF0000"/>
                </a:solidFill>
                <a:latin typeface="+mj-lt"/>
                <a:ea typeface="ＭＳ Ｐゴシック" pitchFamily="34" charset="-128"/>
                <a:cs typeface="Arial" charset="0"/>
              </a:rPr>
              <a:t>FROM EMP as E, DEPARTMENT D</a:t>
            </a:r>
          </a:p>
          <a:p>
            <a:pPr marL="114300" indent="0" algn="just" eaLnBrk="1" hangingPunct="1">
              <a:spcBef>
                <a:spcPts val="300"/>
              </a:spcBef>
              <a:spcAft>
                <a:spcPts val="300"/>
              </a:spcAft>
              <a:buFont typeface="Arial" charset="0"/>
              <a:buNone/>
              <a:defRPr/>
            </a:pPr>
            <a:r>
              <a:rPr lang="en-US" sz="2600" dirty="0">
                <a:solidFill>
                  <a:srgbClr val="FF0000"/>
                </a:solidFill>
                <a:latin typeface="+mj-lt"/>
                <a:ea typeface="ＭＳ Ｐゴシック" pitchFamily="34" charset="-128"/>
                <a:cs typeface="Arial" charset="0"/>
              </a:rPr>
              <a:t>WHERE </a:t>
            </a:r>
            <a:r>
              <a:rPr lang="en-US" sz="2600" dirty="0" err="1">
                <a:solidFill>
                  <a:srgbClr val="FF0000"/>
                </a:solidFill>
                <a:latin typeface="+mj-lt"/>
                <a:ea typeface="ＭＳ Ｐゴシック" pitchFamily="34" charset="-128"/>
                <a:cs typeface="Arial" charset="0"/>
              </a:rPr>
              <a:t>E.did</a:t>
            </a:r>
            <a:r>
              <a:rPr lang="en-US" sz="2600" dirty="0">
                <a:solidFill>
                  <a:srgbClr val="FF0000"/>
                </a:solidFill>
                <a:latin typeface="+mj-lt"/>
                <a:ea typeface="ＭＳ Ｐゴシック" pitchFamily="34" charset="-128"/>
                <a:cs typeface="Arial" charset="0"/>
              </a:rPr>
              <a:t>=</a:t>
            </a:r>
            <a:r>
              <a:rPr lang="en-US" sz="2600" dirty="0" err="1">
                <a:solidFill>
                  <a:srgbClr val="FF0000"/>
                </a:solidFill>
                <a:latin typeface="+mj-lt"/>
                <a:ea typeface="ＭＳ Ｐゴシック" pitchFamily="34" charset="-128"/>
                <a:cs typeface="Arial" charset="0"/>
              </a:rPr>
              <a:t>D.did</a:t>
            </a:r>
            <a:r>
              <a:rPr lang="en-US" sz="2600" dirty="0">
                <a:solidFill>
                  <a:srgbClr val="FF0000"/>
                </a:solidFill>
                <a:latin typeface="+mj-lt"/>
                <a:ea typeface="ＭＳ Ｐゴシック" pitchFamily="34" charset="-128"/>
                <a:cs typeface="Arial" charset="0"/>
              </a:rPr>
              <a:t> AND D.mgr=</a:t>
            </a:r>
            <a:r>
              <a:rPr lang="en-US" altLang="en-US" sz="2600" dirty="0">
                <a:solidFill>
                  <a:srgbClr val="FF0000"/>
                </a:solidFill>
                <a:latin typeface="+mj-lt"/>
                <a:ea typeface="ＭＳ Ｐゴシック" pitchFamily="34" charset="-128"/>
                <a:cs typeface="Arial" charset="0"/>
              </a:rPr>
              <a:t>“</a:t>
            </a:r>
            <a:r>
              <a:rPr lang="en-US" sz="2600" dirty="0">
                <a:solidFill>
                  <a:srgbClr val="FF0000"/>
                </a:solidFill>
                <a:latin typeface="+mj-lt"/>
                <a:ea typeface="ＭＳ Ｐゴシック" pitchFamily="34" charset="-128"/>
                <a:cs typeface="Arial" charset="0"/>
              </a:rPr>
              <a:t>Bob</a:t>
            </a:r>
            <a:r>
              <a:rPr lang="en-US" altLang="en-US" sz="2600" dirty="0">
                <a:solidFill>
                  <a:srgbClr val="FF0000"/>
                </a:solidFill>
                <a:latin typeface="+mj-lt"/>
                <a:ea typeface="ＭＳ Ｐゴシック" pitchFamily="34" charset="-128"/>
                <a:cs typeface="Arial" charset="0"/>
              </a:rPr>
              <a:t>”</a:t>
            </a:r>
            <a:r>
              <a:rPr lang="en-US" sz="2600" dirty="0">
                <a:solidFill>
                  <a:srgbClr val="FF0000"/>
                </a:solidFill>
                <a:latin typeface="+mj-lt"/>
                <a:ea typeface="ＭＳ Ｐゴシック" pitchFamily="34" charset="-128"/>
                <a:cs typeface="Arial" charset="0"/>
              </a:rPr>
              <a:t>:</a:t>
            </a:r>
          </a:p>
          <a:p>
            <a:pPr marL="114300" indent="0" algn="just" eaLnBrk="1" hangingPunct="1">
              <a:spcBef>
                <a:spcPts val="1200"/>
              </a:spcBef>
              <a:spcAft>
                <a:spcPts val="1200"/>
              </a:spcAft>
              <a:buFont typeface="Arial" charset="0"/>
              <a:buNone/>
              <a:defRPr/>
            </a:pPr>
            <a:endParaRPr lang="en-US" sz="2600" dirty="0">
              <a:solidFill>
                <a:srgbClr val="008000"/>
              </a:solidFill>
              <a:latin typeface="+mj-lt"/>
              <a:ea typeface="ＭＳ Ｐゴシック" pitchFamily="34" charset="-128"/>
              <a:cs typeface="Arial" charset="0"/>
            </a:endParaRPr>
          </a:p>
          <a:p>
            <a:pPr marL="114300" indent="0" algn="just" eaLnBrk="1" hangingPunct="1">
              <a:spcBef>
                <a:spcPts val="1200"/>
              </a:spcBef>
              <a:spcAft>
                <a:spcPts val="1200"/>
              </a:spcAft>
              <a:buFont typeface="Arial" charset="0"/>
              <a:buNone/>
              <a:defRPr/>
            </a:pPr>
            <a:r>
              <a:rPr lang="en-US" sz="2600" dirty="0">
                <a:solidFill>
                  <a:srgbClr val="008000"/>
                </a:solidFill>
                <a:latin typeface="+mj-lt"/>
                <a:ea typeface="ＭＳ Ｐゴシック" pitchFamily="34" charset="-128"/>
                <a:cs typeface="Arial" charset="0"/>
              </a:rPr>
              <a:t>The goal in DAS is to process the query directly at the server without the need to decrypt the data.</a:t>
            </a:r>
          </a:p>
          <a:p>
            <a:pPr marL="114300" indent="0" algn="just" eaLnBrk="1" hangingPunct="1">
              <a:buFont typeface="Arial" charset="0"/>
              <a:buChar char="•"/>
              <a:defRPr/>
            </a:pPr>
            <a:endParaRPr lang="en-US" sz="2600" dirty="0">
              <a:solidFill>
                <a:srgbClr val="558ED5"/>
              </a:solidFill>
              <a:latin typeface="+mj-lt"/>
              <a:ea typeface="ＭＳ Ｐゴシック" pitchFamily="34" charset="-128"/>
              <a:cs typeface="Arial" charset="0"/>
            </a:endParaRPr>
          </a:p>
        </p:txBody>
      </p:sp>
      <p:sp>
        <p:nvSpPr>
          <p:cNvPr id="4" name="Slide Number Placeholder 3">
            <a:extLst>
              <a:ext uri="{FF2B5EF4-FFF2-40B4-BE49-F238E27FC236}">
                <a16:creationId xmlns:a16="http://schemas.microsoft.com/office/drawing/2014/main" id="{AF71C9DF-CADC-35E6-7F40-D326D74378A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4BE23ABE-5E4D-488E-BE4C-F2E0A2932977}" type="slidenum">
              <a:rPr lang="en-US" altLang="en-US">
                <a:solidFill>
                  <a:srgbClr val="898989"/>
                </a:solidFill>
              </a:rPr>
              <a:pPr eaLnBrk="1" hangingPunct="1"/>
              <a:t>19</a:t>
            </a:fld>
            <a:endParaRPr lang="en-US" altLang="en-US">
              <a:solidFill>
                <a:srgbClr val="898989"/>
              </a:solidFill>
            </a:endParaRPr>
          </a:p>
        </p:txBody>
      </p:sp>
      <p:sp>
        <p:nvSpPr>
          <p:cNvPr id="6" name="Title 1">
            <a:extLst>
              <a:ext uri="{FF2B5EF4-FFF2-40B4-BE49-F238E27FC236}">
                <a16:creationId xmlns:a16="http://schemas.microsoft.com/office/drawing/2014/main" id="{2E3FF3D9-5D55-F7B0-2AAE-832997CD100A}"/>
              </a:ext>
            </a:extLst>
          </p:cNvPr>
          <p:cNvSpPr txBox="1">
            <a:spLocks/>
          </p:cNvSpPr>
          <p:nvPr/>
        </p:nvSpPr>
        <p:spPr bwMode="auto">
          <a:xfrm>
            <a:off x="609600" y="427038"/>
            <a:ext cx="8229600" cy="1143000"/>
          </a:xfrm>
          <a:prstGeom prst="rect">
            <a:avLst/>
          </a:prstGeom>
          <a:noFill/>
          <a:ln w="9525">
            <a:noFill/>
            <a:miter lim="800000"/>
            <a:headEnd/>
            <a:tailEnd/>
          </a:ln>
        </p:spPr>
        <p:txBody>
          <a:bodyPr anchor="ctr"/>
          <a:lstStyle/>
          <a:p>
            <a:pPr algn="ctr">
              <a:defRPr/>
            </a:pPr>
            <a:r>
              <a:rPr lang="en-US" sz="3600" b="1">
                <a:latin typeface="+mj-lt"/>
                <a:ea typeface="+mj-ea"/>
                <a:cs typeface="Arial" charset="0"/>
              </a:rPr>
              <a:t>Querying Encrypted Relational Data </a:t>
            </a:r>
            <a:endParaRPr lang="en-US" sz="3600" b="1" dirty="0">
              <a:latin typeface="+mj-lt"/>
              <a:ea typeface="+mj-ea"/>
              <a:cs typeface="Arial"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D68A48-E776-F233-FA79-7C0B9E54BD20}"/>
              </a:ext>
            </a:extLst>
          </p:cNvPr>
          <p:cNvSpPr>
            <a:spLocks noGrp="1"/>
          </p:cNvSpPr>
          <p:nvPr>
            <p:ph idx="1"/>
          </p:nvPr>
        </p:nvSpPr>
        <p:spPr/>
        <p:txBody>
          <a:bodyPr rtlCol="0">
            <a:normAutofit lnSpcReduction="10000"/>
          </a:bodyPr>
          <a:lstStyle/>
          <a:p>
            <a:pPr algn="just" eaLnBrk="1" fontAlgn="auto" hangingPunct="1">
              <a:spcAft>
                <a:spcPts val="0"/>
              </a:spcAft>
              <a:defRPr/>
            </a:pPr>
            <a:r>
              <a:rPr lang="en-US" sz="2600" dirty="0"/>
              <a:t>An approach Alice could use to evaluate such a query might be to </a:t>
            </a:r>
            <a:r>
              <a:rPr lang="en-US" sz="2600" dirty="0">
                <a:solidFill>
                  <a:srgbClr val="FF0000"/>
                </a:solidFill>
              </a:rPr>
              <a:t>request the server for the encrypted form of the </a:t>
            </a:r>
            <a:r>
              <a:rPr lang="en-US" sz="2600" i="1" dirty="0">
                <a:solidFill>
                  <a:srgbClr val="FF0000"/>
                </a:solidFill>
              </a:rPr>
              <a:t>EMP and DEPARTMENT tables</a:t>
            </a:r>
            <a:r>
              <a:rPr lang="en-US" sz="2600" i="1" dirty="0"/>
              <a:t>.</a:t>
            </a:r>
          </a:p>
          <a:p>
            <a:pPr algn="just" eaLnBrk="1" fontAlgn="auto" hangingPunct="1">
              <a:spcAft>
                <a:spcPts val="0"/>
              </a:spcAft>
              <a:defRPr/>
            </a:pPr>
            <a:endParaRPr lang="en-US" sz="2600" i="1" dirty="0"/>
          </a:p>
          <a:p>
            <a:pPr algn="just" eaLnBrk="1" fontAlgn="auto" hangingPunct="1">
              <a:spcAft>
                <a:spcPts val="0"/>
              </a:spcAft>
              <a:defRPr/>
            </a:pPr>
            <a:r>
              <a:rPr lang="en-US" sz="2600" dirty="0"/>
              <a:t>The client could then </a:t>
            </a:r>
            <a:r>
              <a:rPr lang="en-US" sz="2600" dirty="0">
                <a:solidFill>
                  <a:srgbClr val="FF0000"/>
                </a:solidFill>
              </a:rPr>
              <a:t>decrypt the tables and execute the query</a:t>
            </a:r>
            <a:r>
              <a:rPr lang="en-US" sz="2600" dirty="0"/>
              <a:t>. This however, would </a:t>
            </a:r>
            <a:r>
              <a:rPr lang="en-US" sz="2600" dirty="0">
                <a:solidFill>
                  <a:srgbClr val="0070C0"/>
                </a:solidFill>
              </a:rPr>
              <a:t>defeat the purpose of database outsourcing</a:t>
            </a:r>
            <a:r>
              <a:rPr lang="en-US" sz="2600" dirty="0"/>
              <a:t>, reducing it to essentially a remote secure storage.</a:t>
            </a:r>
          </a:p>
          <a:p>
            <a:pPr algn="just" eaLnBrk="1" fontAlgn="auto" hangingPunct="1">
              <a:spcAft>
                <a:spcPts val="0"/>
              </a:spcAft>
              <a:defRPr/>
            </a:pPr>
            <a:endParaRPr lang="en-US" sz="2600" dirty="0"/>
          </a:p>
          <a:p>
            <a:pPr algn="just" eaLnBrk="1" fontAlgn="auto" hangingPunct="1">
              <a:spcAft>
                <a:spcPts val="0"/>
              </a:spcAft>
              <a:defRPr/>
            </a:pPr>
            <a:r>
              <a:rPr lang="en-US" sz="2600" dirty="0"/>
              <a:t> Instead, </a:t>
            </a:r>
            <a:r>
              <a:rPr lang="en-US" sz="2600" dirty="0">
                <a:solidFill>
                  <a:srgbClr val="FF0000"/>
                </a:solidFill>
              </a:rPr>
              <a:t>the goal in DAS is to process the queries directly at the server without the need to decrypt the data.</a:t>
            </a:r>
          </a:p>
        </p:txBody>
      </p:sp>
      <p:sp>
        <p:nvSpPr>
          <p:cNvPr id="4" name="Slide Number Placeholder 3">
            <a:extLst>
              <a:ext uri="{FF2B5EF4-FFF2-40B4-BE49-F238E27FC236}">
                <a16:creationId xmlns:a16="http://schemas.microsoft.com/office/drawing/2014/main" id="{DC1918A1-C9D7-B579-1C9D-069C75AE069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C13D8B41-9731-41D5-86E9-5D0C5F595984}" type="slidenum">
              <a:rPr lang="en-US" altLang="en-US">
                <a:solidFill>
                  <a:srgbClr val="898989"/>
                </a:solidFill>
              </a:rPr>
              <a:pPr eaLnBrk="1" hangingPunct="1"/>
              <a:t>20</a:t>
            </a:fld>
            <a:endParaRPr lang="en-US" altLang="en-US">
              <a:solidFill>
                <a:srgbClr val="898989"/>
              </a:solidFill>
            </a:endParaRPr>
          </a:p>
        </p:txBody>
      </p:sp>
      <p:sp>
        <p:nvSpPr>
          <p:cNvPr id="21508" name="Title 1">
            <a:extLst>
              <a:ext uri="{FF2B5EF4-FFF2-40B4-BE49-F238E27FC236}">
                <a16:creationId xmlns:a16="http://schemas.microsoft.com/office/drawing/2014/main" id="{AE9FB257-5E13-FBE3-D9A6-8D9DC558B699}"/>
              </a:ext>
            </a:extLst>
          </p:cNvPr>
          <p:cNvSpPr>
            <a:spLocks noGrp="1"/>
          </p:cNvSpPr>
          <p:nvPr>
            <p:ph type="title"/>
          </p:nvPr>
        </p:nvSpPr>
        <p:spPr/>
        <p:txBody>
          <a:bodyPr/>
          <a:lstStyle/>
          <a:p>
            <a:pPr eaLnBrk="1" hangingPunct="1"/>
            <a:r>
              <a:rPr lang="en-US" altLang="en-US" sz="3600" b="1">
                <a:cs typeface="Arial" panose="020B0604020202020204" pitchFamily="34" charset="0"/>
              </a:rPr>
              <a:t>Querying Encrypted Relational Data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Content Placeholder 2">
            <a:extLst>
              <a:ext uri="{FF2B5EF4-FFF2-40B4-BE49-F238E27FC236}">
                <a16:creationId xmlns:a16="http://schemas.microsoft.com/office/drawing/2014/main" id="{D79C21B9-99E4-7A87-EFD5-FC5AFD3D8200}"/>
              </a:ext>
            </a:extLst>
          </p:cNvPr>
          <p:cNvSpPr>
            <a:spLocks noGrp="1"/>
          </p:cNvSpPr>
          <p:nvPr>
            <p:ph idx="1"/>
          </p:nvPr>
        </p:nvSpPr>
        <p:spPr>
          <a:xfrm>
            <a:off x="457200" y="1600200"/>
            <a:ext cx="8229600" cy="4800600"/>
          </a:xfrm>
        </p:spPr>
        <p:txBody>
          <a:bodyPr/>
          <a:lstStyle/>
          <a:p>
            <a:pPr eaLnBrk="1" hangingPunct="1">
              <a:buFont typeface="Arial" charset="0"/>
              <a:buChar char="•"/>
              <a:defRPr/>
            </a:pPr>
            <a:r>
              <a:rPr lang="en-US" sz="2600" dirty="0">
                <a:latin typeface="+mj-lt"/>
                <a:ea typeface="ＭＳ Ｐゴシック" pitchFamily="34" charset="-128"/>
                <a:cs typeface="Arial" charset="0"/>
              </a:rPr>
              <a:t>Basic operator in query language:</a:t>
            </a:r>
          </a:p>
          <a:p>
            <a:pPr lvl="2" eaLnBrk="1" hangingPunct="1">
              <a:spcBef>
                <a:spcPts val="1200"/>
              </a:spcBef>
              <a:buFont typeface="Arial" charset="0"/>
              <a:buChar char="•"/>
              <a:defRPr/>
            </a:pPr>
            <a:r>
              <a:rPr lang="en-US" sz="2600" dirty="0">
                <a:latin typeface="+mj-lt"/>
                <a:ea typeface="ＭＳ Ｐゴシック" pitchFamily="34" charset="-128"/>
                <a:cs typeface="Arial" charset="0"/>
              </a:rPr>
              <a:t>Comparison operators</a:t>
            </a:r>
          </a:p>
          <a:p>
            <a:pPr lvl="3" eaLnBrk="1" hangingPunct="1">
              <a:spcBef>
                <a:spcPts val="1200"/>
              </a:spcBef>
              <a:buFont typeface="Arial" charset="0"/>
              <a:buChar char="–"/>
              <a:defRPr/>
            </a:pPr>
            <a:r>
              <a:rPr lang="en-US" sz="2600" dirty="0">
                <a:latin typeface="+mj-lt"/>
                <a:ea typeface="ＭＳ Ｐゴシック" pitchFamily="34" charset="-128"/>
                <a:cs typeface="Arial" charset="0"/>
              </a:rPr>
              <a:t>(=, ≠, &lt;, ≤, &gt;, ≥)</a:t>
            </a:r>
          </a:p>
          <a:p>
            <a:pPr lvl="3" eaLnBrk="1" hangingPunct="1">
              <a:spcBef>
                <a:spcPts val="1200"/>
              </a:spcBef>
              <a:buFont typeface="Arial" charset="0"/>
              <a:buChar char="–"/>
              <a:defRPr/>
            </a:pPr>
            <a:r>
              <a:rPr lang="en-US" sz="2600" dirty="0">
                <a:latin typeface="+mj-lt"/>
                <a:ea typeface="ＭＳ Ｐゴシック" pitchFamily="34" charset="-128"/>
                <a:cs typeface="Arial" charset="0"/>
              </a:rPr>
              <a:t>Compare attribute values with of a given record with constraints</a:t>
            </a:r>
          </a:p>
          <a:p>
            <a:pPr lvl="4" eaLnBrk="1" hangingPunct="1">
              <a:spcBef>
                <a:spcPts val="1200"/>
              </a:spcBef>
              <a:buFont typeface="Arial" charset="0"/>
              <a:buChar char="»"/>
              <a:defRPr/>
            </a:pPr>
            <a:r>
              <a:rPr lang="en-US" sz="2600" dirty="0">
                <a:latin typeface="+mj-lt"/>
                <a:ea typeface="ＭＳ Ｐゴシック" pitchFamily="34" charset="-128"/>
                <a:cs typeface="Arial" charset="0"/>
              </a:rPr>
              <a:t>DEPT.sal &gt; 45000 as in select query.</a:t>
            </a:r>
          </a:p>
          <a:p>
            <a:pPr lvl="2" eaLnBrk="1" hangingPunct="1">
              <a:spcBef>
                <a:spcPts val="1200"/>
              </a:spcBef>
              <a:buFont typeface="Arial" charset="0"/>
              <a:buChar char="•"/>
              <a:defRPr/>
            </a:pPr>
            <a:r>
              <a:rPr lang="en-US" sz="2600" dirty="0">
                <a:latin typeface="+mj-lt"/>
                <a:ea typeface="ＭＳ Ｐゴシック" pitchFamily="34" charset="-128"/>
                <a:cs typeface="Arial" charset="0"/>
              </a:rPr>
              <a:t>Arithmetic operators</a:t>
            </a:r>
          </a:p>
          <a:p>
            <a:pPr lvl="3" eaLnBrk="1" hangingPunct="1">
              <a:spcBef>
                <a:spcPts val="1200"/>
              </a:spcBef>
              <a:buFont typeface="Arial" charset="0"/>
              <a:buChar char="–"/>
              <a:defRPr/>
            </a:pPr>
            <a:r>
              <a:rPr lang="en-US" sz="2600" dirty="0">
                <a:latin typeface="+mj-lt"/>
                <a:ea typeface="ＭＳ Ｐゴシック" pitchFamily="34" charset="-128"/>
                <a:cs typeface="Arial" charset="0"/>
              </a:rPr>
              <a:t>(+, -, x, /)</a:t>
            </a:r>
          </a:p>
        </p:txBody>
      </p:sp>
      <p:sp>
        <p:nvSpPr>
          <p:cNvPr id="4" name="Slide Number Placeholder 3">
            <a:extLst>
              <a:ext uri="{FF2B5EF4-FFF2-40B4-BE49-F238E27FC236}">
                <a16:creationId xmlns:a16="http://schemas.microsoft.com/office/drawing/2014/main" id="{6BF737C4-EC08-8C1E-ADC2-04EBBFDD987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F2076140-252F-41D5-AE08-41BB7BACCD8B}" type="slidenum">
              <a:rPr lang="en-US" altLang="en-US">
                <a:solidFill>
                  <a:srgbClr val="898989"/>
                </a:solidFill>
              </a:rPr>
              <a:pPr eaLnBrk="1" hangingPunct="1"/>
              <a:t>21</a:t>
            </a:fld>
            <a:endParaRPr lang="en-US" altLang="en-US">
              <a:solidFill>
                <a:srgbClr val="898989"/>
              </a:solidFill>
            </a:endParaRPr>
          </a:p>
        </p:txBody>
      </p:sp>
      <p:sp>
        <p:nvSpPr>
          <p:cNvPr id="22532" name="Title 1">
            <a:extLst>
              <a:ext uri="{FF2B5EF4-FFF2-40B4-BE49-F238E27FC236}">
                <a16:creationId xmlns:a16="http://schemas.microsoft.com/office/drawing/2014/main" id="{EDEB1632-C19B-BAA5-6645-9075F5D95A5B}"/>
              </a:ext>
            </a:extLst>
          </p:cNvPr>
          <p:cNvSpPr>
            <a:spLocks noGrp="1"/>
          </p:cNvSpPr>
          <p:nvPr>
            <p:ph type="title"/>
          </p:nvPr>
        </p:nvSpPr>
        <p:spPr/>
        <p:txBody>
          <a:bodyPr/>
          <a:lstStyle/>
          <a:p>
            <a:pPr eaLnBrk="1" hangingPunct="1"/>
            <a:r>
              <a:rPr lang="en-US" altLang="en-US" sz="3600" b="1">
                <a:cs typeface="Arial" panose="020B0604020202020204" pitchFamily="34" charset="0"/>
              </a:rPr>
              <a:t>Querying Encrypted Relational Data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Content Placeholder 2">
            <a:extLst>
              <a:ext uri="{FF2B5EF4-FFF2-40B4-BE49-F238E27FC236}">
                <a16:creationId xmlns:a16="http://schemas.microsoft.com/office/drawing/2014/main" id="{6662EC94-38EB-A49F-4D6A-39469FF0F5A5}"/>
              </a:ext>
            </a:extLst>
          </p:cNvPr>
          <p:cNvSpPr>
            <a:spLocks noGrp="1"/>
          </p:cNvSpPr>
          <p:nvPr>
            <p:ph idx="1"/>
          </p:nvPr>
        </p:nvSpPr>
        <p:spPr>
          <a:xfrm>
            <a:off x="457200" y="1600200"/>
            <a:ext cx="8229600" cy="4800600"/>
          </a:xfrm>
        </p:spPr>
        <p:txBody>
          <a:bodyPr/>
          <a:lstStyle/>
          <a:p>
            <a:pPr eaLnBrk="1" hangingPunct="1">
              <a:lnSpc>
                <a:spcPct val="150000"/>
              </a:lnSpc>
              <a:spcBef>
                <a:spcPts val="0"/>
              </a:spcBef>
              <a:spcAft>
                <a:spcPts val="0"/>
              </a:spcAft>
              <a:buFont typeface="Arial" charset="0"/>
              <a:buChar char="•"/>
              <a:defRPr/>
            </a:pPr>
            <a:r>
              <a:rPr lang="en-US" sz="2600" dirty="0">
                <a:latin typeface="+mj-lt"/>
                <a:ea typeface="ＭＳ Ｐゴシック" pitchFamily="34" charset="-128"/>
                <a:cs typeface="Arial" charset="0"/>
              </a:rPr>
              <a:t>SELECT SUM (</a:t>
            </a:r>
            <a:r>
              <a:rPr lang="en-US" sz="2600" dirty="0" err="1">
                <a:latin typeface="+mj-lt"/>
                <a:ea typeface="ＭＳ Ｐゴシック" pitchFamily="34" charset="-128"/>
                <a:cs typeface="Arial" charset="0"/>
              </a:rPr>
              <a:t>E.salary</a:t>
            </a:r>
            <a:r>
              <a:rPr lang="en-US" sz="2600" dirty="0">
                <a:latin typeface="+mj-lt"/>
                <a:ea typeface="ＭＳ Ｐゴシック" pitchFamily="34" charset="-128"/>
                <a:cs typeface="Arial" charset="0"/>
              </a:rPr>
              <a:t>) </a:t>
            </a:r>
          </a:p>
          <a:p>
            <a:pPr eaLnBrk="1" hangingPunct="1">
              <a:lnSpc>
                <a:spcPct val="150000"/>
              </a:lnSpc>
              <a:spcBef>
                <a:spcPts val="0"/>
              </a:spcBef>
              <a:spcAft>
                <a:spcPts val="0"/>
              </a:spcAft>
              <a:buFont typeface="Arial" charset="0"/>
              <a:buNone/>
              <a:defRPr/>
            </a:pPr>
            <a:r>
              <a:rPr lang="en-US" sz="2600" dirty="0">
                <a:latin typeface="+mj-lt"/>
                <a:ea typeface="ＭＳ Ｐゴシック" pitchFamily="34" charset="-128"/>
                <a:cs typeface="Arial" charset="0"/>
              </a:rPr>
              <a:t>	from EMP as E, DEPT as D </a:t>
            </a:r>
          </a:p>
          <a:p>
            <a:pPr eaLnBrk="1" hangingPunct="1">
              <a:lnSpc>
                <a:spcPct val="150000"/>
              </a:lnSpc>
              <a:spcBef>
                <a:spcPts val="0"/>
              </a:spcBef>
              <a:spcAft>
                <a:spcPts val="0"/>
              </a:spcAft>
              <a:buFont typeface="Arial" charset="0"/>
              <a:buNone/>
              <a:defRPr/>
            </a:pPr>
            <a:r>
              <a:rPr lang="en-US" sz="2600" dirty="0">
                <a:latin typeface="+mj-lt"/>
                <a:ea typeface="ＭＳ Ｐゴシック" pitchFamily="34" charset="-128"/>
                <a:cs typeface="Arial" charset="0"/>
              </a:rPr>
              <a:t>	WHERE </a:t>
            </a:r>
            <a:r>
              <a:rPr lang="en-US" sz="2600" dirty="0" err="1">
                <a:latin typeface="+mj-lt"/>
                <a:ea typeface="ＭＳ Ｐゴシック" pitchFamily="34" charset="-128"/>
                <a:cs typeface="Arial" charset="0"/>
              </a:rPr>
              <a:t>E.did</a:t>
            </a:r>
            <a:r>
              <a:rPr lang="en-US" sz="2600" dirty="0">
                <a:latin typeface="+mj-lt"/>
                <a:ea typeface="ＭＳ Ｐゴシック" pitchFamily="34" charset="-128"/>
                <a:cs typeface="Arial" charset="0"/>
              </a:rPr>
              <a:t> = </a:t>
            </a:r>
            <a:r>
              <a:rPr lang="en-US" sz="2600" dirty="0" err="1">
                <a:latin typeface="+mj-lt"/>
                <a:ea typeface="ＭＳ Ｐゴシック" pitchFamily="34" charset="-128"/>
                <a:cs typeface="Arial" charset="0"/>
              </a:rPr>
              <a:t>D.did</a:t>
            </a:r>
            <a:r>
              <a:rPr lang="en-US" sz="2600" dirty="0">
                <a:latin typeface="+mj-lt"/>
                <a:ea typeface="ＭＳ Ｐゴシック" pitchFamily="34" charset="-128"/>
                <a:cs typeface="Arial" charset="0"/>
              </a:rPr>
              <a:t> AND D.mgr = </a:t>
            </a:r>
            <a:r>
              <a:rPr lang="en-US" altLang="en-US" sz="2600" dirty="0">
                <a:latin typeface="+mj-lt"/>
                <a:ea typeface="ＭＳ Ｐゴシック" pitchFamily="34" charset="-128"/>
                <a:cs typeface="Arial" charset="0"/>
              </a:rPr>
              <a:t>“</a:t>
            </a:r>
            <a:r>
              <a:rPr lang="en-US" sz="2600" dirty="0">
                <a:latin typeface="+mj-lt"/>
                <a:ea typeface="ＭＳ Ｐゴシック" pitchFamily="34" charset="-128"/>
                <a:cs typeface="Arial" charset="0"/>
              </a:rPr>
              <a:t>Bob</a:t>
            </a:r>
            <a:r>
              <a:rPr lang="en-US" altLang="en-US" sz="2600" dirty="0">
                <a:latin typeface="+mj-lt"/>
                <a:ea typeface="ＭＳ Ｐゴシック" pitchFamily="34" charset="-128"/>
                <a:cs typeface="Arial" charset="0"/>
              </a:rPr>
              <a:t>”</a:t>
            </a:r>
            <a:endParaRPr lang="en-US" sz="2600" dirty="0">
              <a:latin typeface="+mj-lt"/>
              <a:ea typeface="ＭＳ Ｐゴシック" pitchFamily="34" charset="-128"/>
              <a:cs typeface="Arial" charset="0"/>
            </a:endParaRPr>
          </a:p>
          <a:p>
            <a:pPr eaLnBrk="1" hangingPunct="1">
              <a:lnSpc>
                <a:spcPct val="150000"/>
              </a:lnSpc>
              <a:spcBef>
                <a:spcPts val="600"/>
              </a:spcBef>
              <a:spcAft>
                <a:spcPts val="600"/>
              </a:spcAft>
              <a:buFont typeface="Arial" charset="0"/>
              <a:buChar char="•"/>
              <a:defRPr/>
            </a:pPr>
            <a:r>
              <a:rPr lang="en-US" sz="2600" dirty="0">
                <a:latin typeface="+mj-lt"/>
                <a:ea typeface="ＭＳ Ｐゴシック" pitchFamily="34" charset="-128"/>
                <a:cs typeface="Arial" charset="0"/>
              </a:rPr>
              <a:t>Illustrates both classes of operators.</a:t>
            </a:r>
          </a:p>
          <a:p>
            <a:pPr eaLnBrk="1" hangingPunct="1">
              <a:buFont typeface="Arial" charset="0"/>
              <a:buChar char="•"/>
              <a:defRPr/>
            </a:pPr>
            <a:endParaRPr lang="en-US" sz="2600" dirty="0">
              <a:latin typeface="+mj-lt"/>
              <a:ea typeface="ＭＳ Ｐゴシック" pitchFamily="34" charset="-128"/>
              <a:cs typeface="Arial" charset="0"/>
            </a:endParaRPr>
          </a:p>
        </p:txBody>
      </p:sp>
      <p:sp>
        <p:nvSpPr>
          <p:cNvPr id="4" name="Slide Number Placeholder 3">
            <a:extLst>
              <a:ext uri="{FF2B5EF4-FFF2-40B4-BE49-F238E27FC236}">
                <a16:creationId xmlns:a16="http://schemas.microsoft.com/office/drawing/2014/main" id="{AA7F93D5-2547-B644-3EBD-9C6F91BDB95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4C50F50F-DD5C-4830-98E7-500200A5FD3D}" type="slidenum">
              <a:rPr lang="en-US" altLang="en-US">
                <a:solidFill>
                  <a:srgbClr val="898989"/>
                </a:solidFill>
              </a:rPr>
              <a:pPr eaLnBrk="1" hangingPunct="1"/>
              <a:t>22</a:t>
            </a:fld>
            <a:endParaRPr lang="en-US" altLang="en-US">
              <a:solidFill>
                <a:srgbClr val="898989"/>
              </a:solidFill>
            </a:endParaRPr>
          </a:p>
        </p:txBody>
      </p:sp>
      <p:sp>
        <p:nvSpPr>
          <p:cNvPr id="23556" name="Title 1">
            <a:extLst>
              <a:ext uri="{FF2B5EF4-FFF2-40B4-BE49-F238E27FC236}">
                <a16:creationId xmlns:a16="http://schemas.microsoft.com/office/drawing/2014/main" id="{E37086E3-2256-FAA5-7240-8BB288358E94}"/>
              </a:ext>
            </a:extLst>
          </p:cNvPr>
          <p:cNvSpPr>
            <a:spLocks noGrp="1"/>
          </p:cNvSpPr>
          <p:nvPr>
            <p:ph type="title"/>
          </p:nvPr>
        </p:nvSpPr>
        <p:spPr/>
        <p:txBody>
          <a:bodyPr/>
          <a:lstStyle/>
          <a:p>
            <a:pPr eaLnBrk="1" hangingPunct="1"/>
            <a:r>
              <a:rPr lang="en-US" altLang="en-US" sz="3600" b="1">
                <a:cs typeface="Arial" panose="020B0604020202020204" pitchFamily="34" charset="0"/>
              </a:rPr>
              <a:t>Querying Encrypted Relational Data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AAF71559-E150-8DB1-BEFD-4ED0FFC1FFDD}"/>
              </a:ext>
            </a:extLst>
          </p:cNvPr>
          <p:cNvSpPr>
            <a:spLocks noGrp="1"/>
          </p:cNvSpPr>
          <p:nvPr>
            <p:ph type="title"/>
          </p:nvPr>
        </p:nvSpPr>
        <p:spPr>
          <a:xfrm>
            <a:off x="457200" y="228600"/>
            <a:ext cx="8305800" cy="914400"/>
          </a:xfrm>
        </p:spPr>
        <p:txBody>
          <a:bodyPr/>
          <a:lstStyle/>
          <a:p>
            <a:pPr eaLnBrk="1" hangingPunct="1"/>
            <a:r>
              <a:rPr lang="en-US" altLang="en-US" sz="3600" b="1"/>
              <a:t>Mechanism to Support the Operators</a:t>
            </a:r>
          </a:p>
        </p:txBody>
      </p:sp>
      <p:sp>
        <p:nvSpPr>
          <p:cNvPr id="28674" name="Content Placeholder 2">
            <a:extLst>
              <a:ext uri="{FF2B5EF4-FFF2-40B4-BE49-F238E27FC236}">
                <a16:creationId xmlns:a16="http://schemas.microsoft.com/office/drawing/2014/main" id="{F6511F1D-A93E-B3F5-C86C-7F07BB5E12A5}"/>
              </a:ext>
            </a:extLst>
          </p:cNvPr>
          <p:cNvSpPr>
            <a:spLocks noGrp="1"/>
          </p:cNvSpPr>
          <p:nvPr>
            <p:ph idx="1"/>
          </p:nvPr>
        </p:nvSpPr>
        <p:spPr>
          <a:xfrm>
            <a:off x="762000" y="1219200"/>
            <a:ext cx="7620000" cy="4800600"/>
          </a:xfrm>
        </p:spPr>
        <p:txBody>
          <a:bodyPr rtlCol="0">
            <a:normAutofit/>
          </a:bodyPr>
          <a:lstStyle/>
          <a:p>
            <a:pPr marL="0" indent="0" algn="just" eaLnBrk="1" fontAlgn="auto" hangingPunct="1">
              <a:spcAft>
                <a:spcPts val="0"/>
              </a:spcAft>
              <a:buFont typeface="Arial" charset="0"/>
              <a:buNone/>
              <a:defRPr/>
            </a:pPr>
            <a:r>
              <a:rPr lang="en-US" sz="2600" dirty="0">
                <a:latin typeface="+mj-lt"/>
                <a:cs typeface="Arial"/>
              </a:rPr>
              <a:t>First challenge:</a:t>
            </a:r>
          </a:p>
          <a:p>
            <a:pPr marL="457200" indent="-457200" algn="just" eaLnBrk="1" fontAlgn="auto" hangingPunct="1">
              <a:spcAft>
                <a:spcPts val="0"/>
              </a:spcAft>
              <a:defRPr/>
            </a:pPr>
            <a:r>
              <a:rPr lang="en-US" sz="2600" dirty="0">
                <a:latin typeface="+mj-lt"/>
                <a:cs typeface="Arial"/>
              </a:rPr>
              <a:t> To develop mechanisms to support comparison and arithmetic operations on encrypted data.</a:t>
            </a:r>
          </a:p>
          <a:p>
            <a:pPr marL="0" indent="0" algn="just" eaLnBrk="1" fontAlgn="auto" hangingPunct="1">
              <a:spcBef>
                <a:spcPts val="2400"/>
              </a:spcBef>
              <a:spcAft>
                <a:spcPts val="600"/>
              </a:spcAft>
              <a:buFont typeface="Arial" charset="0"/>
              <a:buNone/>
              <a:defRPr/>
            </a:pPr>
            <a:r>
              <a:rPr lang="en-US" sz="2600" dirty="0">
                <a:solidFill>
                  <a:srgbClr val="FF0000"/>
                </a:solidFill>
                <a:latin typeface="+mj-lt"/>
                <a:cs typeface="Arial"/>
              </a:rPr>
              <a:t>Two categories:</a:t>
            </a:r>
          </a:p>
          <a:p>
            <a:pPr algn="just" eaLnBrk="1" fontAlgn="auto" hangingPunct="1">
              <a:spcBef>
                <a:spcPts val="600"/>
              </a:spcBef>
              <a:spcAft>
                <a:spcPts val="600"/>
              </a:spcAft>
              <a:defRPr/>
            </a:pPr>
            <a:r>
              <a:rPr lang="en-US" sz="2600" dirty="0">
                <a:latin typeface="+mj-lt"/>
                <a:cs typeface="Arial"/>
              </a:rPr>
              <a:t>Approaches based on new encryption techniques.</a:t>
            </a:r>
          </a:p>
          <a:p>
            <a:pPr algn="just" eaLnBrk="1" fontAlgn="auto" hangingPunct="1">
              <a:spcBef>
                <a:spcPts val="600"/>
              </a:spcBef>
              <a:spcAft>
                <a:spcPts val="600"/>
              </a:spcAft>
              <a:defRPr/>
            </a:pPr>
            <a:r>
              <a:rPr lang="en-US" sz="2600" dirty="0">
                <a:latin typeface="+mj-lt"/>
                <a:cs typeface="Arial"/>
              </a:rPr>
              <a:t>Information-hiding based Approaches.</a:t>
            </a:r>
          </a:p>
        </p:txBody>
      </p:sp>
      <p:sp>
        <p:nvSpPr>
          <p:cNvPr id="4" name="Slide Number Placeholder 3">
            <a:extLst>
              <a:ext uri="{FF2B5EF4-FFF2-40B4-BE49-F238E27FC236}">
                <a16:creationId xmlns:a16="http://schemas.microsoft.com/office/drawing/2014/main" id="{8972BC75-8FC7-043D-BFFC-D7D702F1BC2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A92B77C1-43E4-4DED-81CA-189DED078FB1}" type="slidenum">
              <a:rPr lang="en-US" altLang="en-US">
                <a:solidFill>
                  <a:srgbClr val="898989"/>
                </a:solidFill>
              </a:rPr>
              <a:pPr eaLnBrk="1" hangingPunct="1"/>
              <a:t>23</a:t>
            </a:fld>
            <a:endParaRPr lang="en-US" altLang="en-US">
              <a:solidFill>
                <a:srgbClr val="898989"/>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3D86C-EEC4-1531-8FF7-8FA7A3729E9E}"/>
              </a:ext>
            </a:extLst>
          </p:cNvPr>
          <p:cNvSpPr>
            <a:spLocks noGrp="1"/>
          </p:cNvSpPr>
          <p:nvPr>
            <p:ph type="title"/>
          </p:nvPr>
        </p:nvSpPr>
        <p:spPr>
          <a:xfrm>
            <a:off x="152400" y="228600"/>
            <a:ext cx="8839200" cy="1143000"/>
          </a:xfrm>
        </p:spPr>
        <p:txBody>
          <a:bodyPr rtlCol="0">
            <a:normAutofit fontScale="90000"/>
          </a:bodyPr>
          <a:lstStyle/>
          <a:p>
            <a:pPr eaLnBrk="1" fontAlgn="auto" hangingPunct="1">
              <a:spcAft>
                <a:spcPts val="0"/>
              </a:spcAft>
              <a:defRPr/>
            </a:pPr>
            <a:r>
              <a:rPr lang="en-US" sz="3600" b="1" dirty="0"/>
              <a:t>Approaches based on new encryption techniques</a:t>
            </a:r>
          </a:p>
        </p:txBody>
      </p:sp>
      <p:sp>
        <p:nvSpPr>
          <p:cNvPr id="25603" name="Content Placeholder 2">
            <a:extLst>
              <a:ext uri="{FF2B5EF4-FFF2-40B4-BE49-F238E27FC236}">
                <a16:creationId xmlns:a16="http://schemas.microsoft.com/office/drawing/2014/main" id="{F8DD0D5E-9D4A-3A3A-21B1-2C9A52C596B7}"/>
              </a:ext>
            </a:extLst>
          </p:cNvPr>
          <p:cNvSpPr>
            <a:spLocks noGrp="1"/>
          </p:cNvSpPr>
          <p:nvPr>
            <p:ph idx="1"/>
          </p:nvPr>
        </p:nvSpPr>
        <p:spPr>
          <a:xfrm>
            <a:off x="457200" y="1447800"/>
            <a:ext cx="7924800" cy="4572000"/>
          </a:xfrm>
        </p:spPr>
        <p:txBody>
          <a:bodyPr/>
          <a:lstStyle/>
          <a:p>
            <a:pPr algn="just" eaLnBrk="1" hangingPunct="1">
              <a:lnSpc>
                <a:spcPct val="90000"/>
              </a:lnSpc>
            </a:pPr>
            <a:r>
              <a:rPr lang="en-US" altLang="en-US" sz="2800">
                <a:ea typeface="ＭＳ Ｐゴシック" panose="020B0600070205080204" pitchFamily="34" charset="-128"/>
              </a:rPr>
              <a:t>Support either arithmetic and/or comparison operators</a:t>
            </a:r>
          </a:p>
          <a:p>
            <a:pPr lvl="1" algn="just" eaLnBrk="1" hangingPunct="1">
              <a:lnSpc>
                <a:spcPct val="90000"/>
              </a:lnSpc>
            </a:pPr>
            <a:r>
              <a:rPr lang="en-US" altLang="en-US" sz="2400">
                <a:solidFill>
                  <a:srgbClr val="FF0000"/>
                </a:solidFill>
                <a:ea typeface="ＭＳ Ｐゴシック" panose="020B0600070205080204" pitchFamily="34" charset="-128"/>
              </a:rPr>
              <a:t>PH (Privacy Homomorphism) </a:t>
            </a:r>
            <a:r>
              <a:rPr lang="en-US" altLang="en-US" sz="2400">
                <a:ea typeface="ＭＳ Ｐゴシック" panose="020B0600070205080204" pitchFamily="34" charset="-128"/>
              </a:rPr>
              <a:t>supports basic arithmetic operations, and doesn‘t  allow  comparison.</a:t>
            </a:r>
          </a:p>
          <a:p>
            <a:pPr lvl="1" algn="just" eaLnBrk="1" hangingPunct="1">
              <a:lnSpc>
                <a:spcPct val="90000"/>
              </a:lnSpc>
            </a:pPr>
            <a:r>
              <a:rPr lang="en-US" altLang="en-US" sz="2400">
                <a:solidFill>
                  <a:srgbClr val="FF0000"/>
                </a:solidFill>
                <a:ea typeface="ＭＳ Ｐゴシック" panose="020B0600070205080204" pitchFamily="34" charset="-128"/>
              </a:rPr>
              <a:t>Order-preserving encryption</a:t>
            </a:r>
            <a:r>
              <a:rPr lang="en-US" altLang="en-US" sz="2400">
                <a:solidFill>
                  <a:schemeClr val="bg1"/>
                </a:solidFill>
                <a:ea typeface="ＭＳ Ｐゴシック" panose="020B0600070205080204" pitchFamily="34" charset="-128"/>
              </a:rPr>
              <a:t>: </a:t>
            </a:r>
            <a:r>
              <a:rPr lang="en-US" altLang="en-US" sz="2400">
                <a:ea typeface="ＭＳ Ｐゴシック" panose="020B0600070205080204" pitchFamily="34" charset="-128"/>
              </a:rPr>
              <a:t>support comparison, join, selection, sorting, grouping, not support aggregation</a:t>
            </a:r>
            <a:r>
              <a:rPr lang="en-US" altLang="en-US" sz="2400">
                <a:solidFill>
                  <a:srgbClr val="558ED5"/>
                </a:solidFill>
                <a:ea typeface="ＭＳ Ｐゴシック" panose="020B0600070205080204" pitchFamily="34" charset="-128"/>
              </a:rPr>
              <a:t>.</a:t>
            </a:r>
          </a:p>
          <a:p>
            <a:pPr lvl="2" algn="just" eaLnBrk="1" hangingPunct="1">
              <a:lnSpc>
                <a:spcPct val="90000"/>
              </a:lnSpc>
            </a:pPr>
            <a:r>
              <a:rPr lang="en-US" altLang="en-US" sz="2200">
                <a:solidFill>
                  <a:srgbClr val="008000"/>
                </a:solidFill>
                <a:ea typeface="ＭＳ Ｐゴシック" panose="020B0600070205080204" pitchFamily="34" charset="-128"/>
              </a:rPr>
              <a:t>Can’t support aggregation on server side.</a:t>
            </a:r>
          </a:p>
          <a:p>
            <a:pPr algn="just" eaLnBrk="1" hangingPunct="1">
              <a:lnSpc>
                <a:spcPct val="90000"/>
              </a:lnSpc>
              <a:spcBef>
                <a:spcPts val="1800"/>
              </a:spcBef>
            </a:pPr>
            <a:r>
              <a:rPr lang="en-US" altLang="en-US" sz="2800">
                <a:ea typeface="ＭＳ Ｐゴシック" panose="020B0600070205080204" pitchFamily="34" charset="-128"/>
              </a:rPr>
              <a:t>The limitation: </a:t>
            </a:r>
          </a:p>
          <a:p>
            <a:pPr lvl="1" algn="just" eaLnBrk="1" hangingPunct="1">
              <a:lnSpc>
                <a:spcPct val="90000"/>
              </a:lnSpc>
            </a:pPr>
            <a:r>
              <a:rPr lang="en-US" altLang="en-US" sz="2400">
                <a:ea typeface="ＭＳ Ｐゴシック" panose="020B0600070205080204" pitchFamily="34" charset="-128"/>
              </a:rPr>
              <a:t>Only safe under limited situations where the adversary knowledge is limited.</a:t>
            </a:r>
          </a:p>
        </p:txBody>
      </p:sp>
      <p:sp>
        <p:nvSpPr>
          <p:cNvPr id="4" name="Slide Number Placeholder 3">
            <a:extLst>
              <a:ext uri="{FF2B5EF4-FFF2-40B4-BE49-F238E27FC236}">
                <a16:creationId xmlns:a16="http://schemas.microsoft.com/office/drawing/2014/main" id="{C93606BF-6590-6F2F-8EAB-EA61A22DA3C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B60E7CD7-2A79-4875-9D50-93D353198745}" type="slidenum">
              <a:rPr lang="en-US" altLang="en-US">
                <a:solidFill>
                  <a:srgbClr val="898989"/>
                </a:solidFill>
              </a:rPr>
              <a:pPr eaLnBrk="1" hangingPunct="1"/>
              <a:t>24</a:t>
            </a:fld>
            <a:endParaRPr lang="en-US" altLang="en-US">
              <a:solidFill>
                <a:srgbClr val="898989"/>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BCA785E2-C9F0-EFB8-AD5D-14838EA274AC}"/>
              </a:ext>
            </a:extLst>
          </p:cNvPr>
          <p:cNvSpPr>
            <a:spLocks noGrp="1"/>
          </p:cNvSpPr>
          <p:nvPr>
            <p:ph type="title"/>
          </p:nvPr>
        </p:nvSpPr>
        <p:spPr>
          <a:xfrm>
            <a:off x="304800" y="0"/>
            <a:ext cx="8534400" cy="1143000"/>
          </a:xfrm>
        </p:spPr>
        <p:txBody>
          <a:bodyPr/>
          <a:lstStyle/>
          <a:p>
            <a:pPr eaLnBrk="1" hangingPunct="1"/>
            <a:r>
              <a:rPr lang="en-US" altLang="en-US" sz="3600" b="1"/>
              <a:t>Information-hiding based Approaches</a:t>
            </a:r>
          </a:p>
        </p:txBody>
      </p:sp>
      <p:sp>
        <p:nvSpPr>
          <p:cNvPr id="26627" name="Content Placeholder 2">
            <a:extLst>
              <a:ext uri="{FF2B5EF4-FFF2-40B4-BE49-F238E27FC236}">
                <a16:creationId xmlns:a16="http://schemas.microsoft.com/office/drawing/2014/main" id="{C8DAC198-41EE-7F24-B889-A0CA932B6037}"/>
              </a:ext>
            </a:extLst>
          </p:cNvPr>
          <p:cNvSpPr>
            <a:spLocks noGrp="1"/>
          </p:cNvSpPr>
          <p:nvPr>
            <p:ph idx="1"/>
          </p:nvPr>
        </p:nvSpPr>
        <p:spPr>
          <a:xfrm>
            <a:off x="457200" y="1219200"/>
            <a:ext cx="8077200" cy="5105400"/>
          </a:xfrm>
        </p:spPr>
        <p:txBody>
          <a:bodyPr/>
          <a:lstStyle/>
          <a:p>
            <a:pPr algn="just" eaLnBrk="1" hangingPunct="1">
              <a:spcBef>
                <a:spcPts val="1200"/>
              </a:spcBef>
              <a:spcAft>
                <a:spcPts val="1200"/>
              </a:spcAft>
            </a:pPr>
            <a:r>
              <a:rPr lang="en-US" altLang="en-US" sz="2600">
                <a:ea typeface="ＭＳ Ｐゴシック" panose="020B0600070205080204" pitchFamily="34" charset="-128"/>
              </a:rPr>
              <a:t>Stores additional auxiliary information along with encrypted data to facilitate query evaluation at the server side.</a:t>
            </a:r>
          </a:p>
          <a:p>
            <a:pPr algn="just" eaLnBrk="1" hangingPunct="1">
              <a:spcBef>
                <a:spcPts val="1200"/>
              </a:spcBef>
              <a:spcAft>
                <a:spcPts val="1200"/>
              </a:spcAft>
            </a:pPr>
            <a:r>
              <a:rPr lang="en-US" altLang="en-US" sz="2600">
                <a:ea typeface="ＭＳ Ｐゴシック" panose="020B0600070205080204" pitchFamily="34" charset="-128"/>
              </a:rPr>
              <a:t>It may reveal partial information about the data to the server.</a:t>
            </a:r>
          </a:p>
          <a:p>
            <a:pPr algn="just" eaLnBrk="1" hangingPunct="1">
              <a:spcBef>
                <a:spcPts val="1200"/>
              </a:spcBef>
              <a:spcAft>
                <a:spcPts val="1200"/>
              </a:spcAft>
            </a:pPr>
            <a:r>
              <a:rPr lang="en-US" altLang="en-US" sz="2600">
                <a:ea typeface="ＭＳ Ｐゴシック" panose="020B0600070205080204" pitchFamily="34" charset="-128"/>
              </a:rPr>
              <a:t>Such auxiliary information are stored in the server in the form of secure indices.</a:t>
            </a:r>
          </a:p>
          <a:p>
            <a:pPr algn="just" eaLnBrk="1" hangingPunct="1">
              <a:spcBef>
                <a:spcPts val="1200"/>
              </a:spcBef>
              <a:spcAft>
                <a:spcPts val="1200"/>
              </a:spcAft>
            </a:pPr>
            <a:r>
              <a:rPr lang="en-US" altLang="en-US" sz="2600">
                <a:ea typeface="ＭＳ Ｐゴシック" panose="020B0600070205080204" pitchFamily="34" charset="-128"/>
              </a:rPr>
              <a:t>Secure indices are designed carefully exploiting information hiding mechanism . </a:t>
            </a:r>
          </a:p>
          <a:p>
            <a:pPr lvl="1" algn="just" eaLnBrk="1" hangingPunct="1"/>
            <a:endParaRPr lang="en-US" altLang="en-US" sz="2600">
              <a:ea typeface="ＭＳ Ｐゴシック" panose="020B0600070205080204" pitchFamily="34" charset="-128"/>
            </a:endParaRPr>
          </a:p>
        </p:txBody>
      </p:sp>
      <p:sp>
        <p:nvSpPr>
          <p:cNvPr id="4" name="Slide Number Placeholder 3">
            <a:extLst>
              <a:ext uri="{FF2B5EF4-FFF2-40B4-BE49-F238E27FC236}">
                <a16:creationId xmlns:a16="http://schemas.microsoft.com/office/drawing/2014/main" id="{F31B5536-9A97-D1A3-84AA-AFF7F4B66C6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1CF184AB-8B04-40A9-AE40-4129B34BEC55}" type="slidenum">
              <a:rPr lang="en-US" altLang="en-US">
                <a:solidFill>
                  <a:srgbClr val="898989"/>
                </a:solidFill>
              </a:rPr>
              <a:pPr eaLnBrk="1" hangingPunct="1"/>
              <a:t>25</a:t>
            </a:fld>
            <a:endParaRPr lang="en-US" altLang="en-US">
              <a:solidFill>
                <a:srgbClr val="898989"/>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78E67BFF-66B2-3875-FC9A-EF131F81ED9F}"/>
              </a:ext>
            </a:extLst>
          </p:cNvPr>
          <p:cNvSpPr>
            <a:spLocks noGrp="1"/>
          </p:cNvSpPr>
          <p:nvPr>
            <p:ph type="title"/>
          </p:nvPr>
        </p:nvSpPr>
        <p:spPr>
          <a:xfrm>
            <a:off x="304800" y="0"/>
            <a:ext cx="8839200" cy="1143000"/>
          </a:xfrm>
        </p:spPr>
        <p:txBody>
          <a:bodyPr/>
          <a:lstStyle/>
          <a:p>
            <a:pPr eaLnBrk="1" hangingPunct="1"/>
            <a:r>
              <a:rPr lang="en-US" altLang="en-US" sz="3600" b="1"/>
              <a:t>Information-hiding based Approaches</a:t>
            </a:r>
          </a:p>
        </p:txBody>
      </p:sp>
      <p:sp>
        <p:nvSpPr>
          <p:cNvPr id="27651" name="Content Placeholder 2">
            <a:extLst>
              <a:ext uri="{FF2B5EF4-FFF2-40B4-BE49-F238E27FC236}">
                <a16:creationId xmlns:a16="http://schemas.microsoft.com/office/drawing/2014/main" id="{E0E82C57-84C3-FA62-2D39-04784A977ECD}"/>
              </a:ext>
            </a:extLst>
          </p:cNvPr>
          <p:cNvSpPr>
            <a:spLocks noGrp="1"/>
          </p:cNvSpPr>
          <p:nvPr>
            <p:ph idx="1"/>
          </p:nvPr>
        </p:nvSpPr>
        <p:spPr>
          <a:xfrm>
            <a:off x="457200" y="1219200"/>
            <a:ext cx="8153400" cy="4800600"/>
          </a:xfrm>
        </p:spPr>
        <p:txBody>
          <a:bodyPr/>
          <a:lstStyle/>
          <a:p>
            <a:pPr algn="just" eaLnBrk="1" hangingPunct="1">
              <a:spcBef>
                <a:spcPts val="600"/>
              </a:spcBef>
              <a:spcAft>
                <a:spcPts val="600"/>
              </a:spcAft>
            </a:pPr>
            <a:r>
              <a:rPr lang="en-US" altLang="en-US" sz="2600">
                <a:ea typeface="ＭＳ Ｐゴシック" panose="020B0600070205080204" pitchFamily="34" charset="-128"/>
              </a:rPr>
              <a:t>Three techniques (Disclosure Control Methods):</a:t>
            </a:r>
          </a:p>
          <a:p>
            <a:pPr lvl="1" algn="just" eaLnBrk="1" hangingPunct="1">
              <a:spcBef>
                <a:spcPts val="600"/>
              </a:spcBef>
              <a:spcAft>
                <a:spcPts val="600"/>
              </a:spcAft>
            </a:pPr>
            <a:r>
              <a:rPr lang="en-US" altLang="en-US" sz="2600">
                <a:solidFill>
                  <a:srgbClr val="FF0000"/>
                </a:solidFill>
                <a:ea typeface="ＭＳ Ｐゴシック" panose="020B0600070205080204" pitchFamily="34" charset="-128"/>
              </a:rPr>
              <a:t>Pertubation </a:t>
            </a:r>
            <a:r>
              <a:rPr lang="en-US" altLang="en-US" sz="2600">
                <a:solidFill>
                  <a:srgbClr val="558ED5"/>
                </a:solidFill>
                <a:ea typeface="ＭＳ Ｐゴシック" panose="020B0600070205080204" pitchFamily="34" charset="-128"/>
              </a:rPr>
              <a:t>: </a:t>
            </a:r>
            <a:r>
              <a:rPr lang="en-US" altLang="en-US" sz="2600">
                <a:ea typeface="ＭＳ Ｐゴシック" panose="020B0600070205080204" pitchFamily="34" charset="-128"/>
              </a:rPr>
              <a:t>For a numeric attribute of a record, add a random value to the  true value (numeric attribute).</a:t>
            </a:r>
          </a:p>
          <a:p>
            <a:pPr lvl="1" algn="just" eaLnBrk="1" hangingPunct="1">
              <a:spcBef>
                <a:spcPts val="600"/>
              </a:spcBef>
              <a:spcAft>
                <a:spcPts val="600"/>
              </a:spcAft>
            </a:pPr>
            <a:r>
              <a:rPr lang="en-US" altLang="en-US" sz="2600">
                <a:solidFill>
                  <a:srgbClr val="008000"/>
                </a:solidFill>
                <a:ea typeface="ＭＳ Ｐゴシック" panose="020B0600070205080204" pitchFamily="34" charset="-128"/>
              </a:rPr>
              <a:t>Generalization</a:t>
            </a:r>
            <a:r>
              <a:rPr lang="en-US" altLang="en-US" sz="2600">
                <a:solidFill>
                  <a:srgbClr val="558ED5"/>
                </a:solidFill>
                <a:ea typeface="ＭＳ Ｐゴシック" panose="020B0600070205080204" pitchFamily="34" charset="-128"/>
              </a:rPr>
              <a:t>: </a:t>
            </a:r>
            <a:r>
              <a:rPr lang="en-US" altLang="en-US" sz="2600">
                <a:ea typeface="ＭＳ Ｐゴシック" panose="020B0600070205080204" pitchFamily="34" charset="-128"/>
              </a:rPr>
              <a:t>Replace a numeric or categorical value by  a more general value</a:t>
            </a:r>
          </a:p>
          <a:p>
            <a:pPr lvl="1" algn="just" eaLnBrk="1" hangingPunct="1">
              <a:spcBef>
                <a:spcPts val="600"/>
              </a:spcBef>
              <a:spcAft>
                <a:spcPts val="600"/>
              </a:spcAft>
            </a:pPr>
            <a:r>
              <a:rPr lang="en-US" altLang="en-US" sz="2600">
                <a:solidFill>
                  <a:srgbClr val="660066"/>
                </a:solidFill>
                <a:ea typeface="ＭＳ Ｐゴシック" panose="020B0600070205080204" pitchFamily="34" charset="-128"/>
              </a:rPr>
              <a:t>Swapping</a:t>
            </a:r>
            <a:r>
              <a:rPr lang="en-US" altLang="en-US" sz="2600">
                <a:solidFill>
                  <a:srgbClr val="558ED5"/>
                </a:solidFill>
                <a:ea typeface="ＭＳ Ｐゴシック" panose="020B0600070205080204" pitchFamily="34" charset="-128"/>
              </a:rPr>
              <a:t>: </a:t>
            </a:r>
            <a:r>
              <a:rPr lang="en-US" altLang="en-US" sz="2600">
                <a:ea typeface="ＭＳ Ｐゴシック" panose="020B0600070205080204" pitchFamily="34" charset="-128"/>
              </a:rPr>
              <a:t>swap the values of a specific attribute of two records</a:t>
            </a:r>
          </a:p>
        </p:txBody>
      </p:sp>
      <p:sp>
        <p:nvSpPr>
          <p:cNvPr id="4" name="Slide Number Placeholder 3">
            <a:extLst>
              <a:ext uri="{FF2B5EF4-FFF2-40B4-BE49-F238E27FC236}">
                <a16:creationId xmlns:a16="http://schemas.microsoft.com/office/drawing/2014/main" id="{23E4FBC8-72BF-6C8F-5FEA-0F2DDE3F8EF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DE6D7444-EBA0-4085-AA3E-8B629A6E20BC}" type="slidenum">
              <a:rPr lang="en-US" altLang="en-US">
                <a:solidFill>
                  <a:srgbClr val="898989"/>
                </a:solidFill>
              </a:rPr>
              <a:pPr eaLnBrk="1" hangingPunct="1"/>
              <a:t>26</a:t>
            </a:fld>
            <a:endParaRPr lang="en-US" altLang="en-US">
              <a:solidFill>
                <a:srgbClr val="898989"/>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9EB680C3-C4C8-9DCF-ECBE-0C2C44E058B0}"/>
              </a:ext>
            </a:extLst>
          </p:cNvPr>
          <p:cNvSpPr>
            <a:spLocks noGrp="1"/>
          </p:cNvSpPr>
          <p:nvPr>
            <p:ph type="title"/>
          </p:nvPr>
        </p:nvSpPr>
        <p:spPr>
          <a:xfrm>
            <a:off x="487363" y="274638"/>
            <a:ext cx="8001000" cy="1706562"/>
          </a:xfrm>
        </p:spPr>
        <p:txBody>
          <a:bodyPr/>
          <a:lstStyle/>
          <a:p>
            <a:pPr eaLnBrk="1" hangingPunct="1"/>
            <a:r>
              <a:rPr lang="en-US" altLang="en-US" sz="3600" b="1"/>
              <a:t>Difference between Disclosure Control method and Cryptographic approach</a:t>
            </a:r>
          </a:p>
        </p:txBody>
      </p:sp>
      <p:sp>
        <p:nvSpPr>
          <p:cNvPr id="28675" name="Content Placeholder 2">
            <a:extLst>
              <a:ext uri="{FF2B5EF4-FFF2-40B4-BE49-F238E27FC236}">
                <a16:creationId xmlns:a16="http://schemas.microsoft.com/office/drawing/2014/main" id="{DA8F78F7-BAC5-91C8-920A-EC19B193984C}"/>
              </a:ext>
            </a:extLst>
          </p:cNvPr>
          <p:cNvSpPr>
            <a:spLocks noGrp="1"/>
          </p:cNvSpPr>
          <p:nvPr>
            <p:ph idx="1"/>
          </p:nvPr>
        </p:nvSpPr>
        <p:spPr>
          <a:xfrm>
            <a:off x="457200" y="2209800"/>
            <a:ext cx="7848600" cy="2895600"/>
          </a:xfrm>
        </p:spPr>
        <p:txBody>
          <a:bodyPr/>
          <a:lstStyle/>
          <a:p>
            <a:pPr algn="just" eaLnBrk="1" hangingPunct="1">
              <a:spcBef>
                <a:spcPts val="600"/>
              </a:spcBef>
              <a:spcAft>
                <a:spcPts val="600"/>
              </a:spcAft>
            </a:pPr>
            <a:r>
              <a:rPr lang="en-US" altLang="en-US" sz="2600">
                <a:ea typeface="ＭＳ Ｐゴシック" panose="020B0600070205080204" pitchFamily="34" charset="-128"/>
              </a:rPr>
              <a:t>In cryptographic approach, if it is broken (disclosure of key), whole information is disclosed.</a:t>
            </a:r>
          </a:p>
          <a:p>
            <a:pPr algn="just" eaLnBrk="1" hangingPunct="1">
              <a:spcBef>
                <a:spcPts val="600"/>
              </a:spcBef>
              <a:spcAft>
                <a:spcPts val="600"/>
              </a:spcAft>
            </a:pPr>
            <a:r>
              <a:rPr lang="en-US" altLang="en-US" sz="2600">
                <a:ea typeface="ＭＳ Ｐゴシック" panose="020B0600070205080204" pitchFamily="34" charset="-128"/>
              </a:rPr>
              <a:t>In disclosure control method, there may partial disclosure of information or probabilistic in nature.</a:t>
            </a:r>
          </a:p>
        </p:txBody>
      </p:sp>
      <p:sp>
        <p:nvSpPr>
          <p:cNvPr id="4" name="Slide Number Placeholder 3">
            <a:extLst>
              <a:ext uri="{FF2B5EF4-FFF2-40B4-BE49-F238E27FC236}">
                <a16:creationId xmlns:a16="http://schemas.microsoft.com/office/drawing/2014/main" id="{6F7F1DBB-3C44-B27D-D723-46AE5F7AEC3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03C5DC8-DE64-40BC-93CF-E915A0676FF0}" type="slidenum">
              <a:rPr lang="en-US" altLang="en-US">
                <a:solidFill>
                  <a:srgbClr val="898989"/>
                </a:solidFill>
              </a:rPr>
              <a:pPr eaLnBrk="1" hangingPunct="1"/>
              <a:t>27</a:t>
            </a:fld>
            <a:endParaRPr lang="en-US" altLang="en-US">
              <a:solidFill>
                <a:srgbClr val="898989"/>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83BFD3E8-C2D6-39C1-D188-71A64705869B}"/>
              </a:ext>
            </a:extLst>
          </p:cNvPr>
          <p:cNvSpPr>
            <a:spLocks noGrp="1"/>
          </p:cNvSpPr>
          <p:nvPr>
            <p:ph type="title"/>
          </p:nvPr>
        </p:nvSpPr>
        <p:spPr>
          <a:xfrm>
            <a:off x="762000" y="274638"/>
            <a:ext cx="7620000" cy="1706562"/>
          </a:xfrm>
        </p:spPr>
        <p:txBody>
          <a:bodyPr/>
          <a:lstStyle/>
          <a:p>
            <a:pPr eaLnBrk="1" hangingPunct="1"/>
            <a:r>
              <a:rPr lang="en-US" altLang="en-US" sz="3600" b="1"/>
              <a:t>Difference between Disclosure Control method and Cryptographic approach</a:t>
            </a:r>
          </a:p>
        </p:txBody>
      </p:sp>
      <p:sp>
        <p:nvSpPr>
          <p:cNvPr id="29699" name="Content Placeholder 2">
            <a:extLst>
              <a:ext uri="{FF2B5EF4-FFF2-40B4-BE49-F238E27FC236}">
                <a16:creationId xmlns:a16="http://schemas.microsoft.com/office/drawing/2014/main" id="{6F38BE48-3E52-9051-32AC-AD9A55C304CC}"/>
              </a:ext>
            </a:extLst>
          </p:cNvPr>
          <p:cNvSpPr>
            <a:spLocks noGrp="1"/>
          </p:cNvSpPr>
          <p:nvPr>
            <p:ph idx="1"/>
          </p:nvPr>
        </p:nvSpPr>
        <p:spPr>
          <a:xfrm>
            <a:off x="457200" y="2209800"/>
            <a:ext cx="7848600" cy="2895600"/>
          </a:xfrm>
        </p:spPr>
        <p:txBody>
          <a:bodyPr/>
          <a:lstStyle/>
          <a:p>
            <a:pPr algn="just" eaLnBrk="1" hangingPunct="1">
              <a:spcBef>
                <a:spcPts val="600"/>
              </a:spcBef>
              <a:spcAft>
                <a:spcPts val="600"/>
              </a:spcAft>
            </a:pPr>
            <a:r>
              <a:rPr lang="en-US" altLang="en-US" sz="2600">
                <a:ea typeface="ＭＳ Ｐゴシック" panose="020B0600070205080204" pitchFamily="34" charset="-128"/>
              </a:rPr>
              <a:t>Cryptographic approach works well for arithmetic operations.</a:t>
            </a:r>
          </a:p>
          <a:p>
            <a:pPr algn="just" eaLnBrk="1" hangingPunct="1">
              <a:spcBef>
                <a:spcPts val="600"/>
              </a:spcBef>
              <a:spcAft>
                <a:spcPts val="600"/>
              </a:spcAft>
            </a:pPr>
            <a:r>
              <a:rPr lang="en-US" altLang="en-US" sz="2600">
                <a:ea typeface="ＭＳ Ｐゴシック" panose="020B0600070205080204" pitchFamily="34" charset="-128"/>
              </a:rPr>
              <a:t>Information hiding approach works well comparison operation.</a:t>
            </a:r>
          </a:p>
          <a:p>
            <a:pPr algn="just" eaLnBrk="1" hangingPunct="1">
              <a:spcBef>
                <a:spcPts val="600"/>
              </a:spcBef>
              <a:spcAft>
                <a:spcPts val="600"/>
              </a:spcAft>
            </a:pPr>
            <a:r>
              <a:rPr lang="en-US" altLang="en-US" sz="2600">
                <a:ea typeface="ＭＳ Ｐゴシック" panose="020B0600070205080204" pitchFamily="34" charset="-128"/>
              </a:rPr>
              <a:t>However, information hiding approach can not exactly identify the aggregation target group</a:t>
            </a:r>
          </a:p>
        </p:txBody>
      </p:sp>
      <p:sp>
        <p:nvSpPr>
          <p:cNvPr id="4" name="Slide Number Placeholder 3">
            <a:extLst>
              <a:ext uri="{FF2B5EF4-FFF2-40B4-BE49-F238E27FC236}">
                <a16:creationId xmlns:a16="http://schemas.microsoft.com/office/drawing/2014/main" id="{625655A9-B10A-C708-6AB7-2A50754441B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9A16C962-0CD2-4528-A20B-B07B4E18AB5E}" type="slidenum">
              <a:rPr lang="en-US" altLang="en-US">
                <a:solidFill>
                  <a:srgbClr val="898989"/>
                </a:solidFill>
              </a:rPr>
              <a:pPr eaLnBrk="1" hangingPunct="1"/>
              <a:t>28</a:t>
            </a:fld>
            <a:endParaRPr lang="en-US" altLang="en-US">
              <a:solidFill>
                <a:srgbClr val="898989"/>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7773171E-A112-207F-5282-D95E66CEF485}"/>
              </a:ext>
            </a:extLst>
          </p:cNvPr>
          <p:cNvSpPr>
            <a:spLocks noGrp="1"/>
          </p:cNvSpPr>
          <p:nvPr>
            <p:ph type="title"/>
          </p:nvPr>
        </p:nvSpPr>
        <p:spPr/>
        <p:txBody>
          <a:bodyPr/>
          <a:lstStyle/>
          <a:p>
            <a:pPr eaLnBrk="1" hangingPunct="1"/>
            <a:r>
              <a:rPr lang="en-US" altLang="en-US" sz="3600" b="1">
                <a:cs typeface="Arial" panose="020B0604020202020204" pitchFamily="34" charset="0"/>
              </a:rPr>
              <a:t>Query Processing Architecture for DAS</a:t>
            </a:r>
          </a:p>
        </p:txBody>
      </p:sp>
      <p:pic>
        <p:nvPicPr>
          <p:cNvPr id="30723" name="Picture 4">
            <a:extLst>
              <a:ext uri="{FF2B5EF4-FFF2-40B4-BE49-F238E27FC236}">
                <a16:creationId xmlns:a16="http://schemas.microsoft.com/office/drawing/2014/main" id="{43FEC59C-1268-8989-F4BB-A337D5C8C2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524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F7568E00-8E04-532D-8B2E-D91CB4BD092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F6FEF61B-AACE-4DAD-B8C6-9DE23AFAD9E4}" type="slidenum">
              <a:rPr lang="en-US" altLang="en-US">
                <a:solidFill>
                  <a:srgbClr val="898989"/>
                </a:solidFill>
              </a:rPr>
              <a:pPr eaLnBrk="1" hangingPunct="1"/>
              <a:t>29</a:t>
            </a:fld>
            <a:endParaRPr lang="en-US" altLang="en-US">
              <a:solidFill>
                <a:srgbClr val="898989"/>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Content Placeholder 2">
            <a:extLst>
              <a:ext uri="{FF2B5EF4-FFF2-40B4-BE49-F238E27FC236}">
                <a16:creationId xmlns:a16="http://schemas.microsoft.com/office/drawing/2014/main" id="{54E4B4B1-0521-E78E-CBA4-E8B9D17B0243}"/>
              </a:ext>
            </a:extLst>
          </p:cNvPr>
          <p:cNvSpPr>
            <a:spLocks noGrp="1"/>
          </p:cNvSpPr>
          <p:nvPr>
            <p:ph idx="1"/>
          </p:nvPr>
        </p:nvSpPr>
        <p:spPr>
          <a:xfrm>
            <a:off x="457200" y="1600200"/>
            <a:ext cx="8077200" cy="4800600"/>
          </a:xfrm>
        </p:spPr>
        <p:txBody>
          <a:bodyPr/>
          <a:lstStyle/>
          <a:p>
            <a:pPr algn="just" eaLnBrk="1" hangingPunct="1">
              <a:spcBef>
                <a:spcPts val="600"/>
              </a:spcBef>
              <a:spcAft>
                <a:spcPts val="600"/>
              </a:spcAft>
              <a:buFont typeface="Arial" charset="0"/>
              <a:buChar char="•"/>
              <a:defRPr/>
            </a:pPr>
            <a:r>
              <a:rPr lang="en-US" sz="2600" dirty="0">
                <a:latin typeface="+mj-lt"/>
                <a:ea typeface="ＭＳ Ｐゴシック" pitchFamily="34" charset="-128"/>
                <a:cs typeface="Arial" charset="0"/>
              </a:rPr>
              <a:t>Information hiding technique is used.</a:t>
            </a:r>
          </a:p>
          <a:p>
            <a:pPr algn="just" eaLnBrk="1" hangingPunct="1">
              <a:spcBef>
                <a:spcPts val="600"/>
              </a:spcBef>
              <a:spcAft>
                <a:spcPts val="600"/>
              </a:spcAft>
              <a:buFont typeface="Arial" charset="0"/>
              <a:buChar char="•"/>
              <a:defRPr/>
            </a:pPr>
            <a:r>
              <a:rPr lang="en-US" sz="2600" dirty="0">
                <a:latin typeface="+mj-lt"/>
                <a:ea typeface="ＭＳ Ｐゴシック" pitchFamily="34" charset="-128"/>
                <a:cs typeface="Arial" charset="0"/>
              </a:rPr>
              <a:t>Three entities: user, client and server</a:t>
            </a:r>
          </a:p>
          <a:p>
            <a:pPr algn="just" eaLnBrk="1" hangingPunct="1">
              <a:spcBef>
                <a:spcPts val="600"/>
              </a:spcBef>
              <a:spcAft>
                <a:spcPts val="600"/>
              </a:spcAft>
              <a:buFont typeface="Arial" charset="0"/>
              <a:buChar char="•"/>
              <a:defRPr/>
            </a:pPr>
            <a:r>
              <a:rPr lang="en-US" sz="2600" dirty="0">
                <a:latin typeface="+mj-lt"/>
                <a:ea typeface="ＭＳ Ｐゴシック" pitchFamily="34" charset="-128"/>
                <a:cs typeface="Arial" charset="0"/>
              </a:rPr>
              <a:t>The client stores the data at the server which is hosted by the service provider.</a:t>
            </a:r>
          </a:p>
          <a:p>
            <a:pPr algn="just" eaLnBrk="1" hangingPunct="1">
              <a:spcBef>
                <a:spcPts val="600"/>
              </a:spcBef>
              <a:spcAft>
                <a:spcPts val="600"/>
              </a:spcAft>
              <a:buFont typeface="Arial" charset="0"/>
              <a:buChar char="•"/>
              <a:defRPr/>
            </a:pPr>
            <a:r>
              <a:rPr lang="en-US" sz="2600" dirty="0">
                <a:latin typeface="+mj-lt"/>
                <a:ea typeface="ＭＳ Ｐゴシック" pitchFamily="34" charset="-128"/>
                <a:cs typeface="Arial" charset="0"/>
              </a:rPr>
              <a:t>Data is stored in encrypted format in the server at all the time.</a:t>
            </a:r>
          </a:p>
          <a:p>
            <a:pPr algn="just" eaLnBrk="1" hangingPunct="1">
              <a:spcBef>
                <a:spcPts val="600"/>
              </a:spcBef>
              <a:spcAft>
                <a:spcPts val="600"/>
              </a:spcAft>
              <a:buFont typeface="Arial" charset="0"/>
              <a:buChar char="•"/>
              <a:defRPr/>
            </a:pPr>
            <a:r>
              <a:rPr lang="en-US" sz="2600" dirty="0">
                <a:latin typeface="+mj-lt"/>
                <a:ea typeface="ＭＳ Ｐゴシック" pitchFamily="34" charset="-128"/>
                <a:cs typeface="Arial" charset="0"/>
              </a:rPr>
              <a:t>The encrypted database is augmented with additional information(secure indices) that allows certain amount of query processing at the server level.</a:t>
            </a:r>
          </a:p>
        </p:txBody>
      </p:sp>
      <p:sp>
        <p:nvSpPr>
          <p:cNvPr id="4" name="Slide Number Placeholder 3">
            <a:extLst>
              <a:ext uri="{FF2B5EF4-FFF2-40B4-BE49-F238E27FC236}">
                <a16:creationId xmlns:a16="http://schemas.microsoft.com/office/drawing/2014/main" id="{093B007C-306F-AA6A-1DCC-053425F7FEC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C752FC9F-F79C-4BC3-9374-B26DD6DD2109}" type="slidenum">
              <a:rPr lang="en-US" altLang="en-US">
                <a:solidFill>
                  <a:srgbClr val="898989"/>
                </a:solidFill>
              </a:rPr>
              <a:pPr eaLnBrk="1" hangingPunct="1"/>
              <a:t>30</a:t>
            </a:fld>
            <a:endParaRPr lang="en-US" altLang="en-US">
              <a:solidFill>
                <a:srgbClr val="898989"/>
              </a:solidFill>
            </a:endParaRPr>
          </a:p>
        </p:txBody>
      </p:sp>
      <p:sp>
        <p:nvSpPr>
          <p:cNvPr id="6" name="Title 1">
            <a:extLst>
              <a:ext uri="{FF2B5EF4-FFF2-40B4-BE49-F238E27FC236}">
                <a16:creationId xmlns:a16="http://schemas.microsoft.com/office/drawing/2014/main" id="{B11BA430-9A6A-1C6F-8A20-054A7D06B949}"/>
              </a:ext>
            </a:extLst>
          </p:cNvPr>
          <p:cNvSpPr txBox="1">
            <a:spLocks/>
          </p:cNvSpPr>
          <p:nvPr/>
        </p:nvSpPr>
        <p:spPr bwMode="auto">
          <a:xfrm>
            <a:off x="609600" y="427038"/>
            <a:ext cx="8229600" cy="1143000"/>
          </a:xfrm>
          <a:prstGeom prst="rect">
            <a:avLst/>
          </a:prstGeom>
          <a:noFill/>
          <a:ln w="9525">
            <a:noFill/>
            <a:miter lim="800000"/>
            <a:headEnd/>
            <a:tailEnd/>
          </a:ln>
        </p:spPr>
        <p:txBody>
          <a:bodyPr anchor="ctr"/>
          <a:lstStyle/>
          <a:p>
            <a:pPr algn="ctr">
              <a:defRPr/>
            </a:pPr>
            <a:r>
              <a:rPr lang="en-US" sz="3600" b="1">
                <a:latin typeface="+mj-lt"/>
                <a:ea typeface="+mj-ea"/>
                <a:cs typeface="Arial" charset="0"/>
              </a:rPr>
              <a:t>Query Processing Architecture for DAS</a:t>
            </a:r>
            <a:endParaRPr lang="en-US" sz="3600" b="1" dirty="0">
              <a:latin typeface="+mj-lt"/>
              <a:ea typeface="+mj-ea"/>
              <a:cs typeface="Arial"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Content Placeholder 2">
            <a:extLst>
              <a:ext uri="{FF2B5EF4-FFF2-40B4-BE49-F238E27FC236}">
                <a16:creationId xmlns:a16="http://schemas.microsoft.com/office/drawing/2014/main" id="{AC532D87-D3CA-B9B1-7FE4-5B6E4E02790D}"/>
              </a:ext>
            </a:extLst>
          </p:cNvPr>
          <p:cNvSpPr>
            <a:spLocks noGrp="1"/>
          </p:cNvSpPr>
          <p:nvPr>
            <p:ph idx="1"/>
          </p:nvPr>
        </p:nvSpPr>
        <p:spPr>
          <a:xfrm>
            <a:off x="457200" y="1600200"/>
            <a:ext cx="7696200" cy="5257800"/>
          </a:xfrm>
        </p:spPr>
        <p:txBody>
          <a:bodyPr/>
          <a:lstStyle/>
          <a:p>
            <a:pPr algn="just" eaLnBrk="1" hangingPunct="1">
              <a:spcBef>
                <a:spcPts val="600"/>
              </a:spcBef>
              <a:spcAft>
                <a:spcPts val="600"/>
              </a:spcAft>
              <a:buFont typeface="Arial" charset="0"/>
              <a:buChar char="•"/>
              <a:defRPr/>
            </a:pPr>
            <a:r>
              <a:rPr lang="en-US" sz="2600" dirty="0">
                <a:latin typeface="+mj-lt"/>
                <a:ea typeface="ＭＳ Ｐゴシック" pitchFamily="34" charset="-128"/>
                <a:cs typeface="Arial" charset="0"/>
              </a:rPr>
              <a:t>The clients also maintains a metadata for </a:t>
            </a:r>
          </a:p>
          <a:p>
            <a:pPr lvl="1" algn="just" eaLnBrk="1" hangingPunct="1">
              <a:spcBef>
                <a:spcPts val="600"/>
              </a:spcBef>
              <a:spcAft>
                <a:spcPts val="600"/>
              </a:spcAft>
              <a:buFont typeface="Arial" charset="0"/>
              <a:buChar char="–"/>
              <a:defRPr/>
            </a:pPr>
            <a:r>
              <a:rPr lang="en-US" sz="2600" dirty="0">
                <a:latin typeface="+mj-lt"/>
                <a:ea typeface="ＭＳ Ｐゴシック" pitchFamily="34" charset="-128"/>
                <a:cs typeface="Arial" charset="0"/>
              </a:rPr>
              <a:t>translating user queries to the appropriate representation on the server and </a:t>
            </a:r>
          </a:p>
          <a:p>
            <a:pPr lvl="1" algn="just" eaLnBrk="1" hangingPunct="1">
              <a:spcBef>
                <a:spcPts val="600"/>
              </a:spcBef>
              <a:spcAft>
                <a:spcPts val="600"/>
              </a:spcAft>
              <a:buFont typeface="Arial" charset="0"/>
              <a:buChar char="–"/>
              <a:defRPr/>
            </a:pPr>
            <a:r>
              <a:rPr lang="en-US" sz="2600" dirty="0">
                <a:latin typeface="+mj-lt"/>
                <a:ea typeface="ＭＳ Ｐゴシック" pitchFamily="34" charset="-128"/>
                <a:cs typeface="Arial" charset="0"/>
              </a:rPr>
              <a:t>performs post-processing on server query results.</a:t>
            </a:r>
          </a:p>
        </p:txBody>
      </p:sp>
      <p:sp>
        <p:nvSpPr>
          <p:cNvPr id="4" name="Slide Number Placeholder 3">
            <a:extLst>
              <a:ext uri="{FF2B5EF4-FFF2-40B4-BE49-F238E27FC236}">
                <a16:creationId xmlns:a16="http://schemas.microsoft.com/office/drawing/2014/main" id="{3D3248AB-9CE7-008C-FF4A-03888878A5E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D70ABD0-B029-40D8-AFF1-F22809A23C50}" type="slidenum">
              <a:rPr lang="en-US" altLang="en-US">
                <a:solidFill>
                  <a:srgbClr val="898989"/>
                </a:solidFill>
              </a:rPr>
              <a:pPr eaLnBrk="1" hangingPunct="1"/>
              <a:t>31</a:t>
            </a:fld>
            <a:endParaRPr lang="en-US" altLang="en-US">
              <a:solidFill>
                <a:srgbClr val="898989"/>
              </a:solidFill>
            </a:endParaRPr>
          </a:p>
        </p:txBody>
      </p:sp>
      <p:sp>
        <p:nvSpPr>
          <p:cNvPr id="32772" name="Title 1">
            <a:extLst>
              <a:ext uri="{FF2B5EF4-FFF2-40B4-BE49-F238E27FC236}">
                <a16:creationId xmlns:a16="http://schemas.microsoft.com/office/drawing/2014/main" id="{A7848857-BD4A-FD59-3806-0042031EC567}"/>
              </a:ext>
            </a:extLst>
          </p:cNvPr>
          <p:cNvSpPr>
            <a:spLocks noGrp="1"/>
          </p:cNvSpPr>
          <p:nvPr>
            <p:ph type="title"/>
          </p:nvPr>
        </p:nvSpPr>
        <p:spPr/>
        <p:txBody>
          <a:bodyPr/>
          <a:lstStyle/>
          <a:p>
            <a:pPr eaLnBrk="1" hangingPunct="1"/>
            <a:r>
              <a:rPr lang="en-US" altLang="en-US" sz="3600" b="1">
                <a:cs typeface="Arial" panose="020B0604020202020204" pitchFamily="34" charset="0"/>
              </a:rPr>
              <a:t>Query Processing Architecture for DAS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2">
            <a:extLst>
              <a:ext uri="{FF2B5EF4-FFF2-40B4-BE49-F238E27FC236}">
                <a16:creationId xmlns:a16="http://schemas.microsoft.com/office/drawing/2014/main" id="{ECE8CDB1-4B3E-09B6-B75D-2D9BC4E45238}"/>
              </a:ext>
            </a:extLst>
          </p:cNvPr>
          <p:cNvSpPr>
            <a:spLocks noGrp="1"/>
          </p:cNvSpPr>
          <p:nvPr>
            <p:ph idx="1"/>
          </p:nvPr>
        </p:nvSpPr>
        <p:spPr>
          <a:xfrm>
            <a:off x="457200" y="1600200"/>
            <a:ext cx="8001000" cy="5257800"/>
          </a:xfrm>
        </p:spPr>
        <p:txBody>
          <a:bodyPr rtlCol="0">
            <a:normAutofit/>
          </a:bodyPr>
          <a:lstStyle/>
          <a:p>
            <a:pPr algn="just" eaLnBrk="1" fontAlgn="auto" hangingPunct="1">
              <a:spcBef>
                <a:spcPts val="600"/>
              </a:spcBef>
              <a:spcAft>
                <a:spcPts val="600"/>
              </a:spcAft>
              <a:defRPr/>
            </a:pPr>
            <a:r>
              <a:rPr lang="en-US" sz="2600" dirty="0">
                <a:latin typeface="+mj-lt"/>
                <a:cs typeface="Arial"/>
              </a:rPr>
              <a:t>Based on the auxiliary information stored, original query over un-encrypted relations are broken into:</a:t>
            </a:r>
          </a:p>
          <a:p>
            <a:pPr marL="738000" algn="just" eaLnBrk="1" fontAlgn="auto" hangingPunct="1">
              <a:spcBef>
                <a:spcPts val="600"/>
              </a:spcBef>
              <a:spcAft>
                <a:spcPts val="600"/>
              </a:spcAft>
              <a:defRPr/>
            </a:pPr>
            <a:r>
              <a:rPr lang="en-US" sz="2600" dirty="0">
                <a:latin typeface="+mj-lt"/>
                <a:cs typeface="Arial"/>
              </a:rPr>
              <a:t>A server-query over encrypted relations which run on the server and</a:t>
            </a:r>
          </a:p>
          <a:p>
            <a:pPr marL="738000" algn="just" eaLnBrk="1" fontAlgn="auto" hangingPunct="1">
              <a:spcBef>
                <a:spcPts val="600"/>
              </a:spcBef>
              <a:spcAft>
                <a:spcPts val="600"/>
              </a:spcAft>
              <a:defRPr/>
            </a:pPr>
            <a:r>
              <a:rPr lang="en-US" sz="2600" dirty="0">
                <a:latin typeface="+mj-lt"/>
                <a:cs typeface="Arial"/>
              </a:rPr>
              <a:t>A client-query which runs on the client and post processes the results returned after executing the server query.</a:t>
            </a:r>
          </a:p>
        </p:txBody>
      </p:sp>
      <p:sp>
        <p:nvSpPr>
          <p:cNvPr id="4" name="Slide Number Placeholder 3">
            <a:extLst>
              <a:ext uri="{FF2B5EF4-FFF2-40B4-BE49-F238E27FC236}">
                <a16:creationId xmlns:a16="http://schemas.microsoft.com/office/drawing/2014/main" id="{652BDABD-56DD-BA2E-9F45-8B91E708BCA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3065F747-8747-43B1-AC34-D62DAED144FA}" type="slidenum">
              <a:rPr lang="en-US" altLang="en-US">
                <a:solidFill>
                  <a:srgbClr val="898989"/>
                </a:solidFill>
              </a:rPr>
              <a:pPr eaLnBrk="1" hangingPunct="1"/>
              <a:t>32</a:t>
            </a:fld>
            <a:endParaRPr lang="en-US" altLang="en-US">
              <a:solidFill>
                <a:srgbClr val="898989"/>
              </a:solidFill>
            </a:endParaRPr>
          </a:p>
        </p:txBody>
      </p:sp>
      <p:sp>
        <p:nvSpPr>
          <p:cNvPr id="33796" name="Title 1">
            <a:extLst>
              <a:ext uri="{FF2B5EF4-FFF2-40B4-BE49-F238E27FC236}">
                <a16:creationId xmlns:a16="http://schemas.microsoft.com/office/drawing/2014/main" id="{A1E8B5DE-70EA-CE7D-A41B-ED1320DE6B2B}"/>
              </a:ext>
            </a:extLst>
          </p:cNvPr>
          <p:cNvSpPr>
            <a:spLocks noGrp="1"/>
          </p:cNvSpPr>
          <p:nvPr>
            <p:ph type="title"/>
          </p:nvPr>
        </p:nvSpPr>
        <p:spPr/>
        <p:txBody>
          <a:bodyPr/>
          <a:lstStyle/>
          <a:p>
            <a:pPr eaLnBrk="1" hangingPunct="1"/>
            <a:r>
              <a:rPr lang="en-US" altLang="en-US" sz="3600" b="1">
                <a:cs typeface="Arial" panose="020B0604020202020204" pitchFamily="34" charset="0"/>
              </a:rPr>
              <a:t>Query Processing Architecture for DAS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F65CB3EB-E15F-5597-6915-81CDB546BA89}"/>
              </a:ext>
            </a:extLst>
          </p:cNvPr>
          <p:cNvSpPr>
            <a:spLocks noGrp="1"/>
          </p:cNvSpPr>
          <p:nvPr>
            <p:ph type="title"/>
          </p:nvPr>
        </p:nvSpPr>
        <p:spPr>
          <a:xfrm>
            <a:off x="228600" y="274638"/>
            <a:ext cx="8610600" cy="1143000"/>
          </a:xfrm>
        </p:spPr>
        <p:txBody>
          <a:bodyPr/>
          <a:lstStyle/>
          <a:p>
            <a:pPr eaLnBrk="1" hangingPunct="1"/>
            <a:r>
              <a:rPr lang="en-US" altLang="en-US" sz="3600" b="1">
                <a:cs typeface="Arial" panose="020B0604020202020204" pitchFamily="34" charset="0"/>
              </a:rPr>
              <a:t>Relational Encryption and Storage Model</a:t>
            </a:r>
          </a:p>
        </p:txBody>
      </p:sp>
      <p:sp>
        <p:nvSpPr>
          <p:cNvPr id="34819" name="Content Placeholder 2">
            <a:extLst>
              <a:ext uri="{FF2B5EF4-FFF2-40B4-BE49-F238E27FC236}">
                <a16:creationId xmlns:a16="http://schemas.microsoft.com/office/drawing/2014/main" id="{FDDAFF5D-1556-EDC6-94D1-FE1582D0FC9F}"/>
              </a:ext>
            </a:extLst>
          </p:cNvPr>
          <p:cNvSpPr>
            <a:spLocks noGrp="1"/>
          </p:cNvSpPr>
          <p:nvPr>
            <p:ph idx="1"/>
          </p:nvPr>
        </p:nvSpPr>
        <p:spPr>
          <a:xfrm>
            <a:off x="457200" y="1600200"/>
            <a:ext cx="8229600" cy="4876800"/>
          </a:xfrm>
        </p:spPr>
        <p:txBody>
          <a:bodyPr anchor="ctr"/>
          <a:lstStyle/>
          <a:p>
            <a:pPr algn="just" eaLnBrk="1" hangingPunct="1"/>
            <a:endParaRPr lang="en-US" altLang="en-US" sz="2600"/>
          </a:p>
          <a:p>
            <a:pPr algn="just" eaLnBrk="1" hangingPunct="1"/>
            <a:r>
              <a:rPr lang="en-US" altLang="en-US" sz="2600"/>
              <a:t>For each relation, one stores on the server an encrypted relation.</a:t>
            </a:r>
            <a:endParaRPr lang="en-US" altLang="en-US" sz="2600">
              <a:solidFill>
                <a:srgbClr val="558ED5"/>
              </a:solidFill>
              <a:ea typeface="ＭＳ Ｐゴシック" panose="020B0600070205080204" pitchFamily="34" charset="-128"/>
            </a:endParaRPr>
          </a:p>
          <a:p>
            <a:pPr algn="just" eaLnBrk="1" hangingPunct="1">
              <a:buFont typeface="Arial" panose="020B0604020202020204" pitchFamily="34" charset="0"/>
              <a:buNone/>
            </a:pPr>
            <a:r>
              <a:rPr lang="en-US" altLang="en-US" sz="2600">
                <a:ea typeface="ＭＳ Ｐゴシック" panose="020B0600070205080204" pitchFamily="34" charset="-128"/>
              </a:rPr>
              <a:t>			R(A</a:t>
            </a:r>
            <a:r>
              <a:rPr lang="en-US" altLang="en-US" sz="2600" baseline="-25000">
                <a:ea typeface="ＭＳ Ｐゴシック" panose="020B0600070205080204" pitchFamily="34" charset="-128"/>
              </a:rPr>
              <a:t>1</a:t>
            </a:r>
            <a:r>
              <a:rPr lang="en-US" altLang="en-US" sz="2600">
                <a:ea typeface="ＭＳ Ｐゴシック" panose="020B0600070205080204" pitchFamily="34" charset="-128"/>
              </a:rPr>
              <a:t>, A</a:t>
            </a:r>
            <a:r>
              <a:rPr lang="en-US" altLang="en-US" sz="2600" baseline="-25000">
                <a:ea typeface="ＭＳ Ｐゴシック" panose="020B0600070205080204" pitchFamily="34" charset="-128"/>
              </a:rPr>
              <a:t>2</a:t>
            </a:r>
            <a:r>
              <a:rPr lang="en-US" altLang="en-US" sz="2600">
                <a:ea typeface="ＭＳ Ｐゴシック" panose="020B0600070205080204" pitchFamily="34" charset="-128"/>
              </a:rPr>
              <a:t>,.., A</a:t>
            </a:r>
            <a:r>
              <a:rPr lang="en-US" altLang="en-US" sz="2600" baseline="-25000">
                <a:ea typeface="ＭＳ Ｐゴシック" panose="020B0600070205080204" pitchFamily="34" charset="-128"/>
              </a:rPr>
              <a:t>n</a:t>
            </a:r>
            <a:r>
              <a:rPr lang="en-US" altLang="en-US" sz="2600">
                <a:ea typeface="ＭＳ Ｐゴシック" panose="020B0600070205080204" pitchFamily="34" charset="-128"/>
              </a:rPr>
              <a:t>) </a:t>
            </a:r>
            <a:r>
              <a:rPr lang="en-US" altLang="en-US" sz="2600">
                <a:ea typeface="ＭＳ Ｐゴシック" panose="020B0600070205080204" pitchFamily="34" charset="-128"/>
                <a:sym typeface="Wingdings" panose="05000000000000000000" pitchFamily="2" charset="2"/>
              </a:rPr>
              <a:t></a:t>
            </a:r>
            <a:endParaRPr lang="en-US" altLang="en-US" sz="2600">
              <a:ea typeface="ＭＳ Ｐゴシック" panose="020B0600070205080204" pitchFamily="34" charset="-128"/>
            </a:endParaRPr>
          </a:p>
          <a:p>
            <a:pPr algn="just" eaLnBrk="1" hangingPunct="1"/>
            <a:r>
              <a:rPr lang="en-US" altLang="en-US" sz="2600"/>
              <a:t>where the attribute </a:t>
            </a:r>
            <a:r>
              <a:rPr lang="en-US" altLang="en-US" sz="2600" i="1"/>
              <a:t>etuple </a:t>
            </a:r>
            <a:r>
              <a:rPr lang="en-US" altLang="en-US" sz="2600"/>
              <a:t>stores an encrypted string that corresponds to a tuple in relation </a:t>
            </a:r>
            <a:r>
              <a:rPr lang="en-US" altLang="en-US" sz="2600" i="1"/>
              <a:t>R.</a:t>
            </a:r>
          </a:p>
          <a:p>
            <a:pPr algn="just" eaLnBrk="1" hangingPunct="1"/>
            <a:r>
              <a:rPr lang="en-US" altLang="en-US" sz="2600">
                <a:ea typeface="ＭＳ Ｐゴシック" panose="020B0600070205080204" pitchFamily="34" charset="-128"/>
              </a:rPr>
              <a:t>Each attribute A</a:t>
            </a:r>
            <a:r>
              <a:rPr lang="en-US" altLang="en-US" sz="2600" baseline="30000">
                <a:ea typeface="ＭＳ Ｐゴシック" panose="020B0600070205080204" pitchFamily="34" charset="-128"/>
              </a:rPr>
              <a:t>s</a:t>
            </a:r>
            <a:r>
              <a:rPr lang="en-US" altLang="en-US" sz="2600" baseline="-25000">
                <a:ea typeface="ＭＳ Ｐゴシック" panose="020B0600070205080204" pitchFamily="34" charset="-128"/>
              </a:rPr>
              <a:t>i</a:t>
            </a:r>
            <a:r>
              <a:rPr lang="en-US" altLang="en-US" sz="2600">
                <a:ea typeface="ＭＳ Ｐゴシック" panose="020B0600070205080204" pitchFamily="34" charset="-128"/>
              </a:rPr>
              <a:t> corresponds to the index for the attribute A</a:t>
            </a:r>
            <a:r>
              <a:rPr lang="en-US" altLang="en-US" sz="2600" baseline="-25000">
                <a:ea typeface="ＭＳ Ｐゴシック" panose="020B0600070205080204" pitchFamily="34" charset="-128"/>
              </a:rPr>
              <a:t>i </a:t>
            </a:r>
            <a:r>
              <a:rPr lang="en-US" altLang="en-US" sz="2600">
                <a:ea typeface="ＭＳ Ｐゴシック" panose="020B0600070205080204" pitchFamily="34" charset="-128"/>
              </a:rPr>
              <a:t>and is used for query processing at the server.</a:t>
            </a:r>
            <a:endParaRPr lang="en-US" altLang="en-US" sz="2600" baseline="-25000">
              <a:ea typeface="ＭＳ Ｐゴシック" panose="020B0600070205080204" pitchFamily="34" charset="-128"/>
            </a:endParaRPr>
          </a:p>
          <a:p>
            <a:pPr algn="just" eaLnBrk="1" hangingPunct="1"/>
            <a:endParaRPr lang="en-US" altLang="en-US" sz="2600">
              <a:solidFill>
                <a:srgbClr val="558ED5"/>
              </a:solidFill>
              <a:ea typeface="ＭＳ Ｐゴシック" panose="020B0600070205080204" pitchFamily="34" charset="-128"/>
            </a:endParaRPr>
          </a:p>
          <a:p>
            <a:pPr algn="just" eaLnBrk="1" hangingPunct="1"/>
            <a:endParaRPr lang="en-US" altLang="en-US" sz="2600">
              <a:solidFill>
                <a:srgbClr val="558ED5"/>
              </a:solidFill>
              <a:ea typeface="ＭＳ Ｐゴシック" panose="020B0600070205080204" pitchFamily="34" charset="-128"/>
            </a:endParaRPr>
          </a:p>
          <a:p>
            <a:pPr algn="just" eaLnBrk="1" hangingPunct="1"/>
            <a:endParaRPr lang="en-US" altLang="en-US" sz="2600">
              <a:solidFill>
                <a:srgbClr val="558ED5"/>
              </a:solidFill>
              <a:ea typeface="ＭＳ Ｐゴシック" panose="020B0600070205080204" pitchFamily="34" charset="-128"/>
            </a:endParaRPr>
          </a:p>
          <a:p>
            <a:pPr algn="just" eaLnBrk="1" hangingPunct="1"/>
            <a:endParaRPr lang="en-US" altLang="en-US" sz="2600">
              <a:solidFill>
                <a:srgbClr val="558ED5"/>
              </a:solidFill>
              <a:ea typeface="ＭＳ Ｐゴシック" panose="020B0600070205080204" pitchFamily="34" charset="-128"/>
            </a:endParaRPr>
          </a:p>
        </p:txBody>
      </p:sp>
      <p:pic>
        <p:nvPicPr>
          <p:cNvPr id="34820" name="Picture 5">
            <a:extLst>
              <a:ext uri="{FF2B5EF4-FFF2-40B4-BE49-F238E27FC236}">
                <a16:creationId xmlns:a16="http://schemas.microsoft.com/office/drawing/2014/main" id="{53237A0F-201B-6D11-1551-DE72340E9B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2590800"/>
            <a:ext cx="38862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a:extLst>
              <a:ext uri="{FF2B5EF4-FFF2-40B4-BE49-F238E27FC236}">
                <a16:creationId xmlns:a16="http://schemas.microsoft.com/office/drawing/2014/main" id="{12DA8E86-850D-ABAD-ECD5-808456811BC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0546DABA-B63A-407C-8F0C-B1E4AA277BE7}" type="slidenum">
              <a:rPr lang="en-US" altLang="en-US">
                <a:solidFill>
                  <a:srgbClr val="898989"/>
                </a:solidFill>
              </a:rPr>
              <a:pPr eaLnBrk="1" hangingPunct="1"/>
              <a:t>33</a:t>
            </a:fld>
            <a:endParaRPr lang="en-US" altLang="en-US">
              <a:solidFill>
                <a:srgbClr val="898989"/>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A3339E-32EC-AC40-52EE-185F3912DB1C}"/>
              </a:ext>
            </a:extLst>
          </p:cNvPr>
          <p:cNvSpPr>
            <a:spLocks noGrp="1"/>
          </p:cNvSpPr>
          <p:nvPr>
            <p:ph idx="1"/>
          </p:nvPr>
        </p:nvSpPr>
        <p:spPr>
          <a:xfrm>
            <a:off x="457200" y="1295400"/>
            <a:ext cx="8229600" cy="5410200"/>
          </a:xfrm>
        </p:spPr>
        <p:txBody>
          <a:bodyPr rtlCol="0" anchor="ctr">
            <a:normAutofit fontScale="77500" lnSpcReduction="20000"/>
          </a:bodyPr>
          <a:lstStyle/>
          <a:p>
            <a:pPr marL="0" indent="0" eaLnBrk="1" fontAlgn="auto" hangingPunct="1">
              <a:spcAft>
                <a:spcPts val="0"/>
              </a:spcAft>
              <a:buFont typeface="Arial" charset="0"/>
              <a:buNone/>
              <a:defRPr/>
            </a:pPr>
            <a:r>
              <a:rPr lang="en-US" sz="3400" b="1" dirty="0">
                <a:solidFill>
                  <a:srgbClr val="FF0000"/>
                </a:solidFill>
              </a:rPr>
              <a:t>Example:</a:t>
            </a:r>
          </a:p>
          <a:p>
            <a:pPr marL="0" indent="0" eaLnBrk="1" fontAlgn="auto" hangingPunct="1">
              <a:spcAft>
                <a:spcPts val="0"/>
              </a:spcAft>
              <a:buFont typeface="Arial" charset="0"/>
              <a:buNone/>
              <a:defRPr/>
            </a:pPr>
            <a:endParaRPr lang="en-US" dirty="0">
              <a:solidFill>
                <a:schemeClr val="bg1"/>
              </a:solidFill>
            </a:endParaRPr>
          </a:p>
          <a:p>
            <a:pPr eaLnBrk="1" fontAlgn="auto" hangingPunct="1">
              <a:spcAft>
                <a:spcPts val="0"/>
              </a:spcAft>
              <a:defRPr/>
            </a:pPr>
            <a:endParaRPr lang="en-US" dirty="0">
              <a:solidFill>
                <a:schemeClr val="bg1"/>
              </a:solidFill>
            </a:endParaRPr>
          </a:p>
          <a:p>
            <a:pPr eaLnBrk="1" fontAlgn="auto" hangingPunct="1">
              <a:spcAft>
                <a:spcPts val="0"/>
              </a:spcAft>
              <a:defRPr/>
            </a:pPr>
            <a:endParaRPr lang="en-US" dirty="0">
              <a:solidFill>
                <a:schemeClr val="bg1"/>
              </a:solidFill>
            </a:endParaRPr>
          </a:p>
          <a:p>
            <a:pPr eaLnBrk="1" fontAlgn="auto" hangingPunct="1">
              <a:spcAft>
                <a:spcPts val="0"/>
              </a:spcAft>
              <a:defRPr/>
            </a:pPr>
            <a:endParaRPr lang="en-US" dirty="0">
              <a:solidFill>
                <a:schemeClr val="bg1"/>
              </a:solidFill>
            </a:endParaRPr>
          </a:p>
          <a:p>
            <a:pPr eaLnBrk="1" fontAlgn="auto" hangingPunct="1">
              <a:spcAft>
                <a:spcPts val="0"/>
              </a:spcAft>
              <a:defRPr/>
            </a:pPr>
            <a:endParaRPr lang="en-US" dirty="0">
              <a:solidFill>
                <a:schemeClr val="bg1"/>
              </a:solidFill>
            </a:endParaRPr>
          </a:p>
          <a:p>
            <a:pPr eaLnBrk="1" fontAlgn="auto" hangingPunct="1">
              <a:spcAft>
                <a:spcPts val="0"/>
              </a:spcAft>
              <a:defRPr/>
            </a:pPr>
            <a:endParaRPr lang="en-US" dirty="0">
              <a:solidFill>
                <a:schemeClr val="bg1"/>
              </a:solidFill>
            </a:endParaRPr>
          </a:p>
          <a:p>
            <a:pPr eaLnBrk="1" fontAlgn="auto" hangingPunct="1">
              <a:spcAft>
                <a:spcPts val="0"/>
              </a:spcAft>
              <a:defRPr/>
            </a:pPr>
            <a:endParaRPr lang="en-US" dirty="0">
              <a:solidFill>
                <a:schemeClr val="bg1"/>
              </a:solidFill>
            </a:endParaRPr>
          </a:p>
          <a:p>
            <a:pPr algn="just" eaLnBrk="1" fontAlgn="auto" hangingPunct="1">
              <a:spcAft>
                <a:spcPts val="0"/>
              </a:spcAft>
              <a:defRPr/>
            </a:pPr>
            <a:r>
              <a:rPr lang="en-US" sz="3400" dirty="0" err="1">
                <a:solidFill>
                  <a:srgbClr val="558ED5"/>
                </a:solidFill>
              </a:rPr>
              <a:t>Emp</a:t>
            </a:r>
            <a:r>
              <a:rPr lang="en-US" sz="3400" dirty="0">
                <a:solidFill>
                  <a:srgbClr val="558ED5"/>
                </a:solidFill>
              </a:rPr>
              <a:t>(</a:t>
            </a:r>
            <a:r>
              <a:rPr lang="en-US" sz="3400" dirty="0" err="1">
                <a:solidFill>
                  <a:srgbClr val="558ED5"/>
                </a:solidFill>
              </a:rPr>
              <a:t>eid</a:t>
            </a:r>
            <a:r>
              <a:rPr lang="en-US" sz="3400" dirty="0">
                <a:solidFill>
                  <a:srgbClr val="558ED5"/>
                </a:solidFill>
              </a:rPr>
              <a:t>, ename, salary, addr, did)</a:t>
            </a:r>
          </a:p>
          <a:p>
            <a:pPr algn="just" eaLnBrk="1" fontAlgn="auto" hangingPunct="1">
              <a:spcAft>
                <a:spcPts val="0"/>
              </a:spcAft>
              <a:defRPr/>
            </a:pPr>
            <a:r>
              <a:rPr lang="en-US" sz="3400" dirty="0">
                <a:solidFill>
                  <a:srgbClr val="008000"/>
                </a:solidFill>
              </a:rPr>
              <a:t>EMP table is mapped to a corresponding table at the server.</a:t>
            </a:r>
          </a:p>
          <a:p>
            <a:pPr algn="just" eaLnBrk="1" fontAlgn="auto" hangingPunct="1">
              <a:spcAft>
                <a:spcPts val="0"/>
              </a:spcAft>
              <a:defRPr/>
            </a:pPr>
            <a:r>
              <a:rPr lang="en-US" sz="3400" dirty="0" err="1">
                <a:solidFill>
                  <a:srgbClr val="558ED5"/>
                </a:solidFill>
              </a:rPr>
              <a:t>Emp</a:t>
            </a:r>
            <a:r>
              <a:rPr lang="en-US" sz="3400" baseline="30000" dirty="0" err="1">
                <a:solidFill>
                  <a:srgbClr val="558ED5"/>
                </a:solidFill>
              </a:rPr>
              <a:t>S</a:t>
            </a:r>
            <a:r>
              <a:rPr lang="en-US" sz="3400" baseline="30000" dirty="0">
                <a:solidFill>
                  <a:srgbClr val="558ED5"/>
                </a:solidFill>
              </a:rPr>
              <a:t> </a:t>
            </a:r>
            <a:r>
              <a:rPr lang="en-US" sz="3400" dirty="0">
                <a:solidFill>
                  <a:srgbClr val="558ED5"/>
                </a:solidFill>
              </a:rPr>
              <a:t>(</a:t>
            </a:r>
            <a:r>
              <a:rPr lang="en-US" sz="3400" dirty="0" err="1">
                <a:solidFill>
                  <a:srgbClr val="558ED5"/>
                </a:solidFill>
              </a:rPr>
              <a:t>etuple</a:t>
            </a:r>
            <a:r>
              <a:rPr lang="en-US" sz="3400" dirty="0">
                <a:solidFill>
                  <a:srgbClr val="558ED5"/>
                </a:solidFill>
              </a:rPr>
              <a:t>, </a:t>
            </a:r>
            <a:r>
              <a:rPr lang="en-US" sz="3400" dirty="0" err="1">
                <a:solidFill>
                  <a:srgbClr val="558ED5"/>
                </a:solidFill>
              </a:rPr>
              <a:t>eid</a:t>
            </a:r>
            <a:r>
              <a:rPr lang="en-US" sz="3400" baseline="30000" dirty="0" err="1">
                <a:solidFill>
                  <a:srgbClr val="558ED5"/>
                </a:solidFill>
              </a:rPr>
              <a:t>S</a:t>
            </a:r>
            <a:r>
              <a:rPr lang="en-US" sz="3400" dirty="0">
                <a:solidFill>
                  <a:srgbClr val="558ED5"/>
                </a:solidFill>
              </a:rPr>
              <a:t>, </a:t>
            </a:r>
            <a:r>
              <a:rPr lang="en-US" sz="3400" dirty="0" err="1">
                <a:solidFill>
                  <a:srgbClr val="558ED5"/>
                </a:solidFill>
              </a:rPr>
              <a:t>ename</a:t>
            </a:r>
            <a:r>
              <a:rPr lang="en-US" sz="3400" baseline="30000" dirty="0" err="1">
                <a:solidFill>
                  <a:srgbClr val="558ED5"/>
                </a:solidFill>
              </a:rPr>
              <a:t>S</a:t>
            </a:r>
            <a:r>
              <a:rPr lang="en-US" sz="3400" dirty="0">
                <a:solidFill>
                  <a:srgbClr val="558ED5"/>
                </a:solidFill>
              </a:rPr>
              <a:t>, </a:t>
            </a:r>
            <a:r>
              <a:rPr lang="en-US" sz="3400" dirty="0" err="1">
                <a:solidFill>
                  <a:srgbClr val="558ED5"/>
                </a:solidFill>
              </a:rPr>
              <a:t>salary</a:t>
            </a:r>
            <a:r>
              <a:rPr lang="en-US" sz="3400" baseline="30000" dirty="0" err="1">
                <a:solidFill>
                  <a:srgbClr val="558ED5"/>
                </a:solidFill>
              </a:rPr>
              <a:t>S</a:t>
            </a:r>
            <a:r>
              <a:rPr lang="en-US" sz="3400" dirty="0">
                <a:solidFill>
                  <a:srgbClr val="558ED5"/>
                </a:solidFill>
              </a:rPr>
              <a:t>, </a:t>
            </a:r>
            <a:r>
              <a:rPr lang="en-US" sz="3400" dirty="0" err="1">
                <a:solidFill>
                  <a:srgbClr val="558ED5"/>
                </a:solidFill>
              </a:rPr>
              <a:t>addr</a:t>
            </a:r>
            <a:r>
              <a:rPr lang="en-US" sz="3400" baseline="30000" dirty="0" err="1">
                <a:solidFill>
                  <a:srgbClr val="558ED5"/>
                </a:solidFill>
              </a:rPr>
              <a:t>S</a:t>
            </a:r>
            <a:r>
              <a:rPr lang="en-US" sz="3400" dirty="0">
                <a:solidFill>
                  <a:srgbClr val="558ED5"/>
                </a:solidFill>
              </a:rPr>
              <a:t>, </a:t>
            </a:r>
            <a:r>
              <a:rPr lang="en-US" sz="3400" dirty="0" err="1">
                <a:solidFill>
                  <a:srgbClr val="558ED5"/>
                </a:solidFill>
              </a:rPr>
              <a:t>did</a:t>
            </a:r>
            <a:r>
              <a:rPr lang="en-US" sz="3400" baseline="30000" dirty="0" err="1">
                <a:solidFill>
                  <a:srgbClr val="558ED5"/>
                </a:solidFill>
              </a:rPr>
              <a:t>S</a:t>
            </a:r>
            <a:r>
              <a:rPr lang="en-US" sz="3400" dirty="0">
                <a:solidFill>
                  <a:srgbClr val="558ED5"/>
                </a:solidFill>
              </a:rPr>
              <a:t>)</a:t>
            </a:r>
          </a:p>
          <a:p>
            <a:pPr algn="just" eaLnBrk="1" fontAlgn="auto" hangingPunct="1">
              <a:spcAft>
                <a:spcPts val="0"/>
              </a:spcAft>
              <a:defRPr/>
            </a:pPr>
            <a:r>
              <a:rPr lang="en-US" sz="3400" dirty="0"/>
              <a:t>It (</a:t>
            </a:r>
            <a:r>
              <a:rPr lang="en-US" sz="3400" dirty="0" err="1">
                <a:solidFill>
                  <a:srgbClr val="558ED5"/>
                </a:solidFill>
              </a:rPr>
              <a:t>Emp</a:t>
            </a:r>
            <a:r>
              <a:rPr lang="en-US" sz="3400" baseline="30000" dirty="0" err="1">
                <a:solidFill>
                  <a:srgbClr val="558ED5"/>
                </a:solidFill>
              </a:rPr>
              <a:t>S</a:t>
            </a:r>
            <a:r>
              <a:rPr lang="en-US" sz="3400" baseline="30000" dirty="0">
                <a:solidFill>
                  <a:srgbClr val="558ED5"/>
                </a:solidFill>
              </a:rPr>
              <a:t> </a:t>
            </a:r>
            <a:r>
              <a:rPr lang="en-US" sz="3400" dirty="0"/>
              <a:t>) is only necessary to create an index for attributes involved in search and join predicates.</a:t>
            </a:r>
            <a:endParaRPr lang="en-US" sz="3400" dirty="0">
              <a:solidFill>
                <a:srgbClr val="558ED5"/>
              </a:solidFill>
            </a:endParaRPr>
          </a:p>
        </p:txBody>
      </p:sp>
      <p:pic>
        <p:nvPicPr>
          <p:cNvPr id="35843" name="Picture 3">
            <a:extLst>
              <a:ext uri="{FF2B5EF4-FFF2-40B4-BE49-F238E27FC236}">
                <a16:creationId xmlns:a16="http://schemas.microsoft.com/office/drawing/2014/main" id="{0E4AF32D-722B-437A-ADB1-B5B36DADA2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905000"/>
            <a:ext cx="5643563"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a:extLst>
              <a:ext uri="{FF2B5EF4-FFF2-40B4-BE49-F238E27FC236}">
                <a16:creationId xmlns:a16="http://schemas.microsoft.com/office/drawing/2014/main" id="{42B7E8E2-D62E-CB1C-8E65-6F9AE767E61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B0B95EF-D00A-41FB-9BA6-92A88060862C}" type="slidenum">
              <a:rPr lang="en-US" altLang="en-US">
                <a:solidFill>
                  <a:srgbClr val="898989"/>
                </a:solidFill>
              </a:rPr>
              <a:pPr eaLnBrk="1" hangingPunct="1"/>
              <a:t>34</a:t>
            </a:fld>
            <a:endParaRPr lang="en-US" altLang="en-US">
              <a:solidFill>
                <a:srgbClr val="898989"/>
              </a:solidFill>
            </a:endParaRPr>
          </a:p>
        </p:txBody>
      </p:sp>
      <p:sp>
        <p:nvSpPr>
          <p:cNvPr id="35845" name="Title 1">
            <a:extLst>
              <a:ext uri="{FF2B5EF4-FFF2-40B4-BE49-F238E27FC236}">
                <a16:creationId xmlns:a16="http://schemas.microsoft.com/office/drawing/2014/main" id="{9E2A9A6A-3F16-4C14-8CF8-08CDE6B3BE5A}"/>
              </a:ext>
            </a:extLst>
          </p:cNvPr>
          <p:cNvSpPr>
            <a:spLocks noGrp="1"/>
          </p:cNvSpPr>
          <p:nvPr>
            <p:ph type="title"/>
          </p:nvPr>
        </p:nvSpPr>
        <p:spPr>
          <a:xfrm>
            <a:off x="228600" y="274638"/>
            <a:ext cx="8610600" cy="1143000"/>
          </a:xfrm>
        </p:spPr>
        <p:txBody>
          <a:bodyPr/>
          <a:lstStyle/>
          <a:p>
            <a:pPr eaLnBrk="1" hangingPunct="1"/>
            <a:r>
              <a:rPr lang="en-US" altLang="en-US" sz="3600" b="1">
                <a:cs typeface="Arial" panose="020B0604020202020204" pitchFamily="34" charset="0"/>
              </a:rPr>
              <a:t>Relational Encryption and Storage Model</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ntent Placeholder 2">
            <a:extLst>
              <a:ext uri="{FF2B5EF4-FFF2-40B4-BE49-F238E27FC236}">
                <a16:creationId xmlns:a16="http://schemas.microsoft.com/office/drawing/2014/main" id="{B6B0E7A8-C6AE-93DC-1BF5-ABA75049056B}"/>
              </a:ext>
            </a:extLst>
          </p:cNvPr>
          <p:cNvSpPr>
            <a:spLocks noGrp="1"/>
          </p:cNvSpPr>
          <p:nvPr>
            <p:ph idx="1"/>
          </p:nvPr>
        </p:nvSpPr>
        <p:spPr>
          <a:xfrm>
            <a:off x="457200" y="1828800"/>
            <a:ext cx="8001000" cy="4800600"/>
          </a:xfrm>
        </p:spPr>
        <p:txBody>
          <a:bodyPr/>
          <a:lstStyle/>
          <a:p>
            <a:pPr marL="114300" indent="0" eaLnBrk="1" hangingPunct="1">
              <a:buFont typeface="Arial" panose="020B0604020202020204" pitchFamily="34" charset="0"/>
              <a:buNone/>
            </a:pPr>
            <a:r>
              <a:rPr lang="en-US" altLang="en-US" sz="2600" b="1">
                <a:ea typeface="ＭＳ Ｐゴシック" panose="020B0600070205080204" pitchFamily="34" charset="-128"/>
              </a:rPr>
              <a:t>Partition functions:</a:t>
            </a:r>
          </a:p>
          <a:p>
            <a:pPr lvl="1" eaLnBrk="1" hangingPunct="1"/>
            <a:r>
              <a:rPr lang="en-US" altLang="en-US" sz="2600">
                <a:ea typeface="ＭＳ Ｐゴシック" panose="020B0600070205080204" pitchFamily="34" charset="-128"/>
              </a:rPr>
              <a:t>Partition( R, A</a:t>
            </a:r>
            <a:r>
              <a:rPr lang="en-US" altLang="en-US" sz="2600" baseline="-25000">
                <a:ea typeface="ＭＳ Ｐゴシック" panose="020B0600070205080204" pitchFamily="34" charset="-128"/>
              </a:rPr>
              <a:t>i</a:t>
            </a:r>
            <a:r>
              <a:rPr lang="en-US" altLang="en-US" sz="2600">
                <a:ea typeface="ＭＳ Ｐゴシック" panose="020B0600070205080204" pitchFamily="34" charset="-128"/>
              </a:rPr>
              <a:t>) = { p1, p2,…………. p</a:t>
            </a:r>
            <a:r>
              <a:rPr lang="en-US" altLang="en-US" sz="2600" baseline="-25000">
                <a:ea typeface="ＭＳ Ｐゴシック" panose="020B0600070205080204" pitchFamily="34" charset="-128"/>
              </a:rPr>
              <a:t>k</a:t>
            </a:r>
            <a:r>
              <a:rPr lang="en-US" altLang="en-US" sz="2600">
                <a:ea typeface="ＭＳ Ｐゴシック" panose="020B0600070205080204" pitchFamily="34" charset="-128"/>
              </a:rPr>
              <a:t>}</a:t>
            </a:r>
          </a:p>
          <a:p>
            <a:pPr lvl="1" eaLnBrk="1" hangingPunct="1"/>
            <a:r>
              <a:rPr lang="en-US" altLang="en-US" sz="2600">
                <a:ea typeface="ＭＳ Ｐゴシック" panose="020B0600070205080204" pitchFamily="34" charset="-128"/>
              </a:rPr>
              <a:t>Partition (emp.eid) = {[0,200], [200,400] , [400,600], [600, 800], [800, 1000]}</a:t>
            </a:r>
          </a:p>
          <a:p>
            <a:pPr marL="114300" indent="0" eaLnBrk="1" hangingPunct="1"/>
            <a:endParaRPr lang="en-US" altLang="en-US" sz="2600">
              <a:ea typeface="ＭＳ Ｐゴシック" panose="020B0600070205080204" pitchFamily="34" charset="-128"/>
            </a:endParaRPr>
          </a:p>
          <a:p>
            <a:pPr marL="114300" indent="0" eaLnBrk="1" hangingPunct="1"/>
            <a:endParaRPr lang="en-US" altLang="en-US" sz="2600">
              <a:ea typeface="ＭＳ Ｐゴシック" panose="020B0600070205080204" pitchFamily="34" charset="-128"/>
            </a:endParaRPr>
          </a:p>
          <a:p>
            <a:pPr marL="114300" indent="0" eaLnBrk="1" hangingPunct="1"/>
            <a:endParaRPr lang="en-US" altLang="en-US" sz="2600">
              <a:ea typeface="ＭＳ Ｐゴシック" panose="020B0600070205080204" pitchFamily="34" charset="-128"/>
            </a:endParaRPr>
          </a:p>
          <a:p>
            <a:pPr marL="114300" indent="0" eaLnBrk="1" hangingPunct="1"/>
            <a:endParaRPr lang="en-US" altLang="en-US" sz="2600">
              <a:ea typeface="ＭＳ Ｐゴシック" panose="020B0600070205080204" pitchFamily="34" charset="-128"/>
            </a:endParaRPr>
          </a:p>
          <a:p>
            <a:pPr marL="114300" indent="0" eaLnBrk="1" hangingPunct="1"/>
            <a:endParaRPr lang="en-US" altLang="en-US" sz="2600">
              <a:ea typeface="ＭＳ Ｐゴシック" panose="020B0600070205080204" pitchFamily="34" charset="-128"/>
            </a:endParaRPr>
          </a:p>
        </p:txBody>
      </p:sp>
      <p:pic>
        <p:nvPicPr>
          <p:cNvPr id="36867" name="Picture 3">
            <a:extLst>
              <a:ext uri="{FF2B5EF4-FFF2-40B4-BE49-F238E27FC236}">
                <a16:creationId xmlns:a16="http://schemas.microsoft.com/office/drawing/2014/main" id="{77C389D3-4A6A-75C6-10DF-BDC9C34971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525" y="3810000"/>
            <a:ext cx="6626225"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8" name="Picture 2">
            <a:extLst>
              <a:ext uri="{FF2B5EF4-FFF2-40B4-BE49-F238E27FC236}">
                <a16:creationId xmlns:a16="http://schemas.microsoft.com/office/drawing/2014/main" id="{7E8DCB53-F938-24C5-B9E6-31EB517101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5257800"/>
            <a:ext cx="61722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F9C4DB57-3E84-50CD-EFBC-985B92C75D0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9D3CF93B-2FF2-46F4-BAF8-E43568DBC273}" type="slidenum">
              <a:rPr lang="en-US" altLang="en-US">
                <a:solidFill>
                  <a:srgbClr val="898989"/>
                </a:solidFill>
              </a:rPr>
              <a:pPr eaLnBrk="1" hangingPunct="1"/>
              <a:t>35</a:t>
            </a:fld>
            <a:endParaRPr lang="en-US" altLang="en-US">
              <a:solidFill>
                <a:srgbClr val="898989"/>
              </a:solidFill>
            </a:endParaRPr>
          </a:p>
        </p:txBody>
      </p:sp>
      <p:sp>
        <p:nvSpPr>
          <p:cNvPr id="36870" name="Title 1">
            <a:extLst>
              <a:ext uri="{FF2B5EF4-FFF2-40B4-BE49-F238E27FC236}">
                <a16:creationId xmlns:a16="http://schemas.microsoft.com/office/drawing/2014/main" id="{4C718C23-4A30-952D-64D3-5CEB2047433F}"/>
              </a:ext>
            </a:extLst>
          </p:cNvPr>
          <p:cNvSpPr>
            <a:spLocks noGrp="1"/>
          </p:cNvSpPr>
          <p:nvPr>
            <p:ph type="title"/>
          </p:nvPr>
        </p:nvSpPr>
        <p:spPr>
          <a:xfrm>
            <a:off x="228600" y="274638"/>
            <a:ext cx="8610600" cy="1143000"/>
          </a:xfrm>
        </p:spPr>
        <p:txBody>
          <a:bodyPr/>
          <a:lstStyle/>
          <a:p>
            <a:pPr eaLnBrk="1" hangingPunct="1"/>
            <a:r>
              <a:rPr lang="en-US" altLang="en-US" sz="3600" b="1">
                <a:cs typeface="Arial" panose="020B0604020202020204" pitchFamily="34" charset="0"/>
              </a:rPr>
              <a:t>Relational Encryption and Storage Model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2">
            <a:extLst>
              <a:ext uri="{FF2B5EF4-FFF2-40B4-BE49-F238E27FC236}">
                <a16:creationId xmlns:a16="http://schemas.microsoft.com/office/drawing/2014/main" id="{A8CFEE15-F1D9-1E94-3CD7-AE54EDD20D9D}"/>
              </a:ext>
            </a:extLst>
          </p:cNvPr>
          <p:cNvSpPr>
            <a:spLocks noGrp="1"/>
          </p:cNvSpPr>
          <p:nvPr>
            <p:ph idx="1"/>
          </p:nvPr>
        </p:nvSpPr>
        <p:spPr/>
        <p:txBody>
          <a:bodyPr/>
          <a:lstStyle/>
          <a:p>
            <a:pPr algn="just" eaLnBrk="1" hangingPunct="1"/>
            <a:r>
              <a:rPr lang="en-US" altLang="en-US" sz="2600"/>
              <a:t>As an example, consider the attribute</a:t>
            </a:r>
            <a:r>
              <a:rPr lang="en-US" altLang="en-US" sz="2600">
                <a:solidFill>
                  <a:srgbClr val="FF0000"/>
                </a:solidFill>
              </a:rPr>
              <a:t> </a:t>
            </a:r>
            <a:r>
              <a:rPr lang="en-US" altLang="en-US" sz="2600" i="1">
                <a:solidFill>
                  <a:srgbClr val="FF0000"/>
                </a:solidFill>
              </a:rPr>
              <a:t>eid </a:t>
            </a:r>
            <a:r>
              <a:rPr lang="en-US" altLang="en-US" sz="2600" i="1"/>
              <a:t>of the </a:t>
            </a:r>
            <a:r>
              <a:rPr lang="en-US" altLang="en-US" sz="2600" i="1">
                <a:solidFill>
                  <a:srgbClr val="FF0000"/>
                </a:solidFill>
              </a:rPr>
              <a:t>emp</a:t>
            </a:r>
            <a:r>
              <a:rPr lang="en-US" altLang="en-US" sz="2600" i="1"/>
              <a:t> table above. </a:t>
            </a:r>
          </a:p>
          <a:p>
            <a:pPr algn="just" eaLnBrk="1" hangingPunct="1"/>
            <a:r>
              <a:rPr lang="en-US" altLang="en-US" sz="2600" i="1"/>
              <a:t>Suppose </a:t>
            </a:r>
            <a:r>
              <a:rPr lang="en-US" altLang="en-US" sz="2600"/>
              <a:t>the values of domain of this attribute lie in the range [0</a:t>
            </a:r>
            <a:r>
              <a:rPr lang="en-US" altLang="en-US" sz="2600" i="1"/>
              <a:t>, 1000]. </a:t>
            </a:r>
          </a:p>
          <a:p>
            <a:pPr algn="just" eaLnBrk="1" hangingPunct="1"/>
            <a:r>
              <a:rPr lang="en-US" altLang="en-US" sz="2600" i="1"/>
              <a:t>Assume that </a:t>
            </a:r>
            <a:r>
              <a:rPr lang="en-US" altLang="en-US" sz="2600"/>
              <a:t>the whole range is divided into 5 partitions, represented as:</a:t>
            </a:r>
          </a:p>
          <a:p>
            <a:pPr marL="342900" lvl="1" indent="-342900" algn="just" eaLnBrk="1" hangingPunct="1">
              <a:buFont typeface="Arial" panose="020B0604020202020204" pitchFamily="34" charset="0"/>
              <a:buNone/>
            </a:pPr>
            <a:r>
              <a:rPr lang="en-US" altLang="en-US" sz="2400">
                <a:ea typeface="ＭＳ Ｐゴシック" panose="020B0600070205080204" pitchFamily="34" charset="-128"/>
              </a:rPr>
              <a:t>	</a:t>
            </a:r>
            <a:r>
              <a:rPr lang="en-US" altLang="en-US" sz="2400">
                <a:solidFill>
                  <a:srgbClr val="FF0000"/>
                </a:solidFill>
                <a:ea typeface="ＭＳ Ｐゴシック" panose="020B0600070205080204" pitchFamily="34" charset="-128"/>
              </a:rPr>
              <a:t>Partition (emp.eid) = {[0,200], [200, 400],[400,600],[600, 800], [800, 1000]}</a:t>
            </a:r>
          </a:p>
          <a:p>
            <a:pPr marL="342900" lvl="1" indent="-342900" algn="just" eaLnBrk="1" hangingPunct="1">
              <a:buFont typeface="Arial" panose="020B0604020202020204" pitchFamily="34" charset="0"/>
              <a:buChar char="•"/>
            </a:pPr>
            <a:r>
              <a:rPr lang="en-US" altLang="en-US" sz="2600"/>
              <a:t>Different attributes may be partitioned using different partition functions.</a:t>
            </a:r>
            <a:endParaRPr lang="en-US" altLang="en-US" sz="2600">
              <a:ea typeface="ＭＳ Ｐゴシック" panose="020B0600070205080204" pitchFamily="34" charset="-128"/>
            </a:endParaRPr>
          </a:p>
          <a:p>
            <a:pPr algn="just" eaLnBrk="1" hangingPunct="1">
              <a:buFont typeface="Arial" panose="020B0604020202020204" pitchFamily="34" charset="0"/>
              <a:buNone/>
            </a:pPr>
            <a:endParaRPr lang="en-US" altLang="en-US"/>
          </a:p>
        </p:txBody>
      </p:sp>
      <p:sp>
        <p:nvSpPr>
          <p:cNvPr id="5" name="Slide Number Placeholder 4">
            <a:extLst>
              <a:ext uri="{FF2B5EF4-FFF2-40B4-BE49-F238E27FC236}">
                <a16:creationId xmlns:a16="http://schemas.microsoft.com/office/drawing/2014/main" id="{71CC5888-BF76-093E-C13B-5672B5457D4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E9F7B6D5-3E74-4BB8-85B3-250CBD1B54EE}" type="slidenum">
              <a:rPr lang="en-US" altLang="en-US">
                <a:solidFill>
                  <a:srgbClr val="898989"/>
                </a:solidFill>
              </a:rPr>
              <a:pPr eaLnBrk="1" hangingPunct="1"/>
              <a:t>36</a:t>
            </a:fld>
            <a:endParaRPr lang="en-US" altLang="en-US">
              <a:solidFill>
                <a:srgbClr val="898989"/>
              </a:solidFill>
            </a:endParaRPr>
          </a:p>
        </p:txBody>
      </p:sp>
      <p:sp>
        <p:nvSpPr>
          <p:cNvPr id="37892" name="Title 1">
            <a:extLst>
              <a:ext uri="{FF2B5EF4-FFF2-40B4-BE49-F238E27FC236}">
                <a16:creationId xmlns:a16="http://schemas.microsoft.com/office/drawing/2014/main" id="{FF53964C-40C5-4399-F712-CF5130413432}"/>
              </a:ext>
            </a:extLst>
          </p:cNvPr>
          <p:cNvSpPr>
            <a:spLocks noGrp="1"/>
          </p:cNvSpPr>
          <p:nvPr>
            <p:ph type="title"/>
          </p:nvPr>
        </p:nvSpPr>
        <p:spPr>
          <a:xfrm>
            <a:off x="228600" y="274638"/>
            <a:ext cx="8610600" cy="1143000"/>
          </a:xfrm>
        </p:spPr>
        <p:txBody>
          <a:bodyPr/>
          <a:lstStyle/>
          <a:p>
            <a:pPr eaLnBrk="1" hangingPunct="1"/>
            <a:r>
              <a:rPr lang="en-US" altLang="en-US" sz="3600" b="1">
                <a:cs typeface="Arial" panose="020B0604020202020204" pitchFamily="34" charset="0"/>
              </a:rPr>
              <a:t>Relational Encryption and Storage Model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Content Placeholder 2">
            <a:extLst>
              <a:ext uri="{FF2B5EF4-FFF2-40B4-BE49-F238E27FC236}">
                <a16:creationId xmlns:a16="http://schemas.microsoft.com/office/drawing/2014/main" id="{40DDE095-7AAA-2B09-7AE5-48F9A2BDDAC1}"/>
              </a:ext>
            </a:extLst>
          </p:cNvPr>
          <p:cNvSpPr>
            <a:spLocks noGrp="1"/>
          </p:cNvSpPr>
          <p:nvPr>
            <p:ph idx="1"/>
          </p:nvPr>
        </p:nvSpPr>
        <p:spPr/>
        <p:txBody>
          <a:bodyPr/>
          <a:lstStyle/>
          <a:p>
            <a:pPr algn="just" eaLnBrk="1" hangingPunct="1"/>
            <a:r>
              <a:rPr lang="en-US" altLang="en-US" sz="2600"/>
              <a:t>The strategy used to split the domain into a set of buckets has profound implications on both the </a:t>
            </a:r>
            <a:r>
              <a:rPr lang="en-US" altLang="en-US" sz="2600">
                <a:solidFill>
                  <a:srgbClr val="FF0000"/>
                </a:solidFill>
              </a:rPr>
              <a:t>efficiency of the resulting query processin</a:t>
            </a:r>
            <a:r>
              <a:rPr lang="en-US" altLang="en-US" sz="2600"/>
              <a:t>g as well as on the </a:t>
            </a:r>
            <a:r>
              <a:rPr lang="en-US" altLang="en-US" sz="2600">
                <a:solidFill>
                  <a:srgbClr val="FF0000"/>
                </a:solidFill>
              </a:rPr>
              <a:t>disclosure risk of sensitive information to the server</a:t>
            </a:r>
            <a:r>
              <a:rPr lang="en-US" altLang="en-US" sz="2600"/>
              <a:t>.</a:t>
            </a:r>
          </a:p>
        </p:txBody>
      </p:sp>
      <p:sp>
        <p:nvSpPr>
          <p:cNvPr id="5" name="Slide Number Placeholder 4">
            <a:extLst>
              <a:ext uri="{FF2B5EF4-FFF2-40B4-BE49-F238E27FC236}">
                <a16:creationId xmlns:a16="http://schemas.microsoft.com/office/drawing/2014/main" id="{B7352CC7-79CF-8749-EE4F-3B02A38C323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B8638C2F-AB0D-44EE-B99E-2A6824E339E1}" type="slidenum">
              <a:rPr lang="en-US" altLang="en-US">
                <a:solidFill>
                  <a:srgbClr val="898989"/>
                </a:solidFill>
              </a:rPr>
              <a:pPr eaLnBrk="1" hangingPunct="1"/>
              <a:t>37</a:t>
            </a:fld>
            <a:endParaRPr lang="en-US" altLang="en-US">
              <a:solidFill>
                <a:srgbClr val="898989"/>
              </a:solidFill>
            </a:endParaRPr>
          </a:p>
        </p:txBody>
      </p:sp>
      <p:sp>
        <p:nvSpPr>
          <p:cNvPr id="38916" name="Title 1">
            <a:extLst>
              <a:ext uri="{FF2B5EF4-FFF2-40B4-BE49-F238E27FC236}">
                <a16:creationId xmlns:a16="http://schemas.microsoft.com/office/drawing/2014/main" id="{42577A1B-D900-981A-4188-F5A891D421F2}"/>
              </a:ext>
            </a:extLst>
          </p:cNvPr>
          <p:cNvSpPr>
            <a:spLocks noGrp="1"/>
          </p:cNvSpPr>
          <p:nvPr>
            <p:ph type="title"/>
          </p:nvPr>
        </p:nvSpPr>
        <p:spPr>
          <a:xfrm>
            <a:off x="228600" y="274638"/>
            <a:ext cx="8610600" cy="1143000"/>
          </a:xfrm>
        </p:spPr>
        <p:txBody>
          <a:bodyPr/>
          <a:lstStyle/>
          <a:p>
            <a:pPr eaLnBrk="1" hangingPunct="1"/>
            <a:r>
              <a:rPr lang="en-US" altLang="en-US" sz="3600" b="1">
                <a:cs typeface="Arial" panose="020B0604020202020204" pitchFamily="34" charset="0"/>
              </a:rPr>
              <a:t>Relational Encryption and Storage Model</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Content Placeholder 2">
            <a:extLst>
              <a:ext uri="{FF2B5EF4-FFF2-40B4-BE49-F238E27FC236}">
                <a16:creationId xmlns:a16="http://schemas.microsoft.com/office/drawing/2014/main" id="{8AD61D77-A5A1-6209-71BF-32D714BFBCD0}"/>
              </a:ext>
            </a:extLst>
          </p:cNvPr>
          <p:cNvSpPr>
            <a:spLocks noGrp="1"/>
          </p:cNvSpPr>
          <p:nvPr>
            <p:ph idx="1"/>
          </p:nvPr>
        </p:nvSpPr>
        <p:spPr>
          <a:xfrm>
            <a:off x="457200" y="1828800"/>
            <a:ext cx="7620000" cy="4800600"/>
          </a:xfrm>
        </p:spPr>
        <p:txBody>
          <a:bodyPr rtlCol="0">
            <a:noAutofit/>
          </a:bodyPr>
          <a:lstStyle/>
          <a:p>
            <a:pPr marL="0" indent="0" eaLnBrk="1" fontAlgn="auto" hangingPunct="1">
              <a:spcAft>
                <a:spcPts val="0"/>
              </a:spcAft>
              <a:buFont typeface="Arial" charset="0"/>
              <a:buNone/>
              <a:defRPr/>
            </a:pPr>
            <a:r>
              <a:rPr lang="en-US" sz="2600" b="1" dirty="0"/>
              <a:t>Identification functions:</a:t>
            </a:r>
          </a:p>
          <a:p>
            <a:pPr algn="just" eaLnBrk="1" fontAlgn="auto" hangingPunct="1">
              <a:spcAft>
                <a:spcPts val="0"/>
              </a:spcAft>
              <a:defRPr/>
            </a:pPr>
            <a:r>
              <a:rPr lang="en-US" sz="2600" dirty="0"/>
              <a:t>Randomly selected numbers. An identification function called </a:t>
            </a:r>
            <a:r>
              <a:rPr lang="en-US" sz="2600" i="1" dirty="0" err="1">
                <a:solidFill>
                  <a:srgbClr val="FF0000"/>
                </a:solidFill>
              </a:rPr>
              <a:t>ident</a:t>
            </a:r>
            <a:r>
              <a:rPr lang="en-US" sz="2600" i="1" dirty="0"/>
              <a:t> assigns a random, </a:t>
            </a:r>
            <a:r>
              <a:rPr lang="en-US" sz="2600" dirty="0"/>
              <a:t>unique identifier </a:t>
            </a:r>
            <a:r>
              <a:rPr lang="en-US" sz="2600" i="1" dirty="0" err="1">
                <a:solidFill>
                  <a:srgbClr val="FF0000"/>
                </a:solidFill>
              </a:rPr>
              <a:t>ident</a:t>
            </a:r>
            <a:r>
              <a:rPr lang="en-US" sz="2600" i="1" baseline="-25000" dirty="0" err="1">
                <a:solidFill>
                  <a:srgbClr val="FF0000"/>
                </a:solidFill>
              </a:rPr>
              <a:t>R</a:t>
            </a:r>
            <a:r>
              <a:rPr lang="en-US" sz="2600" i="1" dirty="0" err="1">
                <a:solidFill>
                  <a:srgbClr val="FF0000"/>
                </a:solidFill>
              </a:rPr>
              <a:t>.</a:t>
            </a:r>
            <a:r>
              <a:rPr lang="en-US" sz="2600" i="1" baseline="-25000" dirty="0" err="1">
                <a:solidFill>
                  <a:srgbClr val="FF0000"/>
                </a:solidFill>
              </a:rPr>
              <a:t>Ai</a:t>
            </a:r>
            <a:r>
              <a:rPr lang="en-US" sz="2600" i="1" dirty="0">
                <a:solidFill>
                  <a:srgbClr val="FF0000"/>
                </a:solidFill>
              </a:rPr>
              <a:t> (</a:t>
            </a:r>
            <a:r>
              <a:rPr lang="en-US" sz="2600" i="1" dirty="0" err="1">
                <a:solidFill>
                  <a:srgbClr val="FF0000"/>
                </a:solidFill>
              </a:rPr>
              <a:t>pj</a:t>
            </a:r>
            <a:r>
              <a:rPr lang="en-US" sz="2600" i="1" dirty="0">
                <a:solidFill>
                  <a:srgbClr val="FF0000"/>
                </a:solidFill>
              </a:rPr>
              <a:t>) </a:t>
            </a:r>
            <a:r>
              <a:rPr lang="en-US" sz="2600" i="1" dirty="0"/>
              <a:t>to each partition </a:t>
            </a:r>
            <a:r>
              <a:rPr lang="en-US" sz="2600" i="1" dirty="0" err="1"/>
              <a:t>pj</a:t>
            </a:r>
            <a:r>
              <a:rPr lang="en-US" sz="2600" i="1" dirty="0"/>
              <a:t> of attribute A</a:t>
            </a:r>
            <a:r>
              <a:rPr lang="en-US" sz="2600" i="1" baseline="-25000" dirty="0"/>
              <a:t>i</a:t>
            </a:r>
            <a:r>
              <a:rPr lang="en-US" sz="2600" i="1" dirty="0"/>
              <a:t>.</a:t>
            </a:r>
            <a:endParaRPr lang="en-US" sz="2600" dirty="0"/>
          </a:p>
          <a:p>
            <a:pPr eaLnBrk="1" fontAlgn="auto" hangingPunct="1">
              <a:spcAft>
                <a:spcPts val="0"/>
              </a:spcAft>
              <a:defRPr/>
            </a:pPr>
            <a:endParaRPr lang="en-US" sz="2600" dirty="0"/>
          </a:p>
          <a:p>
            <a:pPr eaLnBrk="1" fontAlgn="auto" hangingPunct="1">
              <a:spcAft>
                <a:spcPts val="0"/>
              </a:spcAft>
              <a:defRPr/>
            </a:pPr>
            <a:endParaRPr lang="en-US" sz="2600" dirty="0"/>
          </a:p>
          <a:p>
            <a:pPr eaLnBrk="1" fontAlgn="auto" hangingPunct="1">
              <a:spcAft>
                <a:spcPts val="0"/>
              </a:spcAft>
              <a:buFont typeface="Arial" charset="0"/>
              <a:buNone/>
              <a:defRPr/>
            </a:pPr>
            <a:endParaRPr lang="en-US" sz="2600" dirty="0"/>
          </a:p>
          <a:p>
            <a:pPr eaLnBrk="1" fontAlgn="auto" hangingPunct="1">
              <a:spcAft>
                <a:spcPts val="0"/>
              </a:spcAft>
              <a:buFont typeface="Arial" charset="0"/>
              <a:buNone/>
              <a:defRPr/>
            </a:pPr>
            <a:endParaRPr lang="en-US" sz="2600" dirty="0"/>
          </a:p>
          <a:p>
            <a:pPr eaLnBrk="1" fontAlgn="auto" hangingPunct="1">
              <a:spcAft>
                <a:spcPts val="0"/>
              </a:spcAft>
              <a:buFont typeface="Arial" charset="0"/>
              <a:buNone/>
              <a:defRPr/>
            </a:pPr>
            <a:r>
              <a:rPr lang="en-US" sz="2600" dirty="0"/>
              <a:t>E.g. </a:t>
            </a:r>
            <a:r>
              <a:rPr lang="en-US" sz="2600" dirty="0">
                <a:solidFill>
                  <a:srgbClr val="FF0000"/>
                </a:solidFill>
              </a:rPr>
              <a:t>:  </a:t>
            </a:r>
            <a:r>
              <a:rPr lang="en-US" sz="2600" dirty="0" err="1">
                <a:solidFill>
                  <a:srgbClr val="FF0000"/>
                </a:solidFill>
              </a:rPr>
              <a:t>Ident</a:t>
            </a:r>
            <a:r>
              <a:rPr lang="en-US" sz="2600" dirty="0">
                <a:solidFill>
                  <a:srgbClr val="FF0000"/>
                </a:solidFill>
              </a:rPr>
              <a:t>(</a:t>
            </a:r>
            <a:r>
              <a:rPr lang="en-US" sz="2600" dirty="0" err="1">
                <a:solidFill>
                  <a:srgbClr val="FF0000"/>
                </a:solidFill>
              </a:rPr>
              <a:t>emP,eid</a:t>
            </a:r>
            <a:r>
              <a:rPr lang="en-US" sz="2600" dirty="0">
                <a:solidFill>
                  <a:srgbClr val="FF0000"/>
                </a:solidFill>
              </a:rPr>
              <a:t>)([0,200]) =2</a:t>
            </a:r>
          </a:p>
          <a:p>
            <a:pPr eaLnBrk="1" fontAlgn="auto" hangingPunct="1">
              <a:spcAft>
                <a:spcPts val="0"/>
              </a:spcAft>
              <a:defRPr/>
            </a:pPr>
            <a:endParaRPr lang="en-US" sz="2600" dirty="0"/>
          </a:p>
        </p:txBody>
      </p:sp>
      <p:pic>
        <p:nvPicPr>
          <p:cNvPr id="39939" name="Picture 2">
            <a:extLst>
              <a:ext uri="{FF2B5EF4-FFF2-40B4-BE49-F238E27FC236}">
                <a16:creationId xmlns:a16="http://schemas.microsoft.com/office/drawing/2014/main" id="{877B2F9E-693A-B930-EA26-DD07524962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4152900"/>
            <a:ext cx="7239000"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a:extLst>
              <a:ext uri="{FF2B5EF4-FFF2-40B4-BE49-F238E27FC236}">
                <a16:creationId xmlns:a16="http://schemas.microsoft.com/office/drawing/2014/main" id="{D2276A74-DF93-8283-94AD-FDD4B2A460C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1E717A55-9C90-4845-8F3A-16F0FED2D2E0}" type="slidenum">
              <a:rPr lang="en-US" altLang="en-US">
                <a:solidFill>
                  <a:srgbClr val="898989"/>
                </a:solidFill>
              </a:rPr>
              <a:pPr eaLnBrk="1" hangingPunct="1"/>
              <a:t>38</a:t>
            </a:fld>
            <a:endParaRPr lang="en-US" altLang="en-US">
              <a:solidFill>
                <a:srgbClr val="898989"/>
              </a:solidFill>
            </a:endParaRPr>
          </a:p>
        </p:txBody>
      </p:sp>
      <p:sp>
        <p:nvSpPr>
          <p:cNvPr id="39941" name="Title 1">
            <a:extLst>
              <a:ext uri="{FF2B5EF4-FFF2-40B4-BE49-F238E27FC236}">
                <a16:creationId xmlns:a16="http://schemas.microsoft.com/office/drawing/2014/main" id="{58C79DD8-62F0-C094-3C2E-A8E7102ADC8D}"/>
              </a:ext>
            </a:extLst>
          </p:cNvPr>
          <p:cNvSpPr>
            <a:spLocks noGrp="1"/>
          </p:cNvSpPr>
          <p:nvPr>
            <p:ph type="title"/>
          </p:nvPr>
        </p:nvSpPr>
        <p:spPr>
          <a:xfrm>
            <a:off x="228600" y="274638"/>
            <a:ext cx="8610600" cy="1143000"/>
          </a:xfrm>
        </p:spPr>
        <p:txBody>
          <a:bodyPr/>
          <a:lstStyle/>
          <a:p>
            <a:pPr eaLnBrk="1" hangingPunct="1"/>
            <a:r>
              <a:rPr lang="en-US" altLang="en-US" sz="3600" b="1">
                <a:cs typeface="Arial" panose="020B0604020202020204" pitchFamily="34" charset="0"/>
              </a:rPr>
              <a:t>Relational Encryption and Storage Model</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ntent Placeholder 2">
            <a:extLst>
              <a:ext uri="{FF2B5EF4-FFF2-40B4-BE49-F238E27FC236}">
                <a16:creationId xmlns:a16="http://schemas.microsoft.com/office/drawing/2014/main" id="{51D782C1-1D82-A804-D7C4-1B4DDFE4B627}"/>
              </a:ext>
            </a:extLst>
          </p:cNvPr>
          <p:cNvSpPr>
            <a:spLocks noGrp="1"/>
          </p:cNvSpPr>
          <p:nvPr>
            <p:ph idx="1"/>
          </p:nvPr>
        </p:nvSpPr>
        <p:spPr/>
        <p:txBody>
          <a:bodyPr/>
          <a:lstStyle/>
          <a:p>
            <a:pPr eaLnBrk="1" hangingPunct="1">
              <a:buFont typeface="Arial" panose="020B0604020202020204" pitchFamily="34" charset="0"/>
              <a:buNone/>
            </a:pPr>
            <a:r>
              <a:rPr lang="en-US" altLang="en-US" sz="2600" b="1"/>
              <a:t>Mapping functions:</a:t>
            </a:r>
            <a:endParaRPr lang="en-US" altLang="en-US" sz="2600"/>
          </a:p>
          <a:p>
            <a:pPr eaLnBrk="1" hangingPunct="1"/>
            <a:r>
              <a:rPr lang="en-US" altLang="en-US" sz="2600"/>
              <a:t>Given the above partition and identification functions, a mapping function </a:t>
            </a:r>
            <a:r>
              <a:rPr lang="en-US" altLang="en-US" sz="2600" i="1">
                <a:solidFill>
                  <a:srgbClr val="FF0000"/>
                </a:solidFill>
              </a:rPr>
              <a:t>Map</a:t>
            </a:r>
            <a:r>
              <a:rPr lang="en-US" altLang="en-US" sz="2600" i="1" baseline="-25000">
                <a:solidFill>
                  <a:srgbClr val="FF0000"/>
                </a:solidFill>
              </a:rPr>
              <a:t>R.Ai</a:t>
            </a:r>
            <a:r>
              <a:rPr lang="en-US" altLang="en-US" sz="2600" i="1"/>
              <a:t> maps a value </a:t>
            </a:r>
            <a:r>
              <a:rPr lang="en-US" altLang="en-US" sz="2600" i="1">
                <a:solidFill>
                  <a:srgbClr val="FF0000"/>
                </a:solidFill>
              </a:rPr>
              <a:t>v</a:t>
            </a:r>
            <a:r>
              <a:rPr lang="en-US" altLang="en-US" sz="2600" i="1"/>
              <a:t> in the domain of attribute A</a:t>
            </a:r>
            <a:r>
              <a:rPr lang="en-US" altLang="en-US" sz="2600" i="1" baseline="-25000"/>
              <a:t>i</a:t>
            </a:r>
            <a:r>
              <a:rPr lang="en-US" altLang="en-US" sz="2600" i="1"/>
              <a:t> to </a:t>
            </a:r>
            <a:r>
              <a:rPr lang="en-US" altLang="en-US" sz="2600"/>
              <a:t>the identifier of the partition to which </a:t>
            </a:r>
            <a:r>
              <a:rPr lang="en-US" altLang="en-US" sz="2600" i="1"/>
              <a:t>v belongs: </a:t>
            </a:r>
            <a:r>
              <a:rPr lang="en-US" altLang="en-US" sz="2600" i="1">
                <a:solidFill>
                  <a:srgbClr val="FF0000"/>
                </a:solidFill>
              </a:rPr>
              <a:t>Map</a:t>
            </a:r>
            <a:r>
              <a:rPr lang="en-US" altLang="en-US" sz="2600" i="1" baseline="-25000">
                <a:solidFill>
                  <a:srgbClr val="FF0000"/>
                </a:solidFill>
              </a:rPr>
              <a:t>R.Ai</a:t>
            </a:r>
            <a:r>
              <a:rPr lang="en-US" altLang="en-US" sz="2600" i="1">
                <a:solidFill>
                  <a:srgbClr val="FF0000"/>
                </a:solidFill>
              </a:rPr>
              <a:t> (v) = ident</a:t>
            </a:r>
            <a:r>
              <a:rPr lang="en-US" altLang="en-US" sz="2600" i="1" baseline="-25000">
                <a:solidFill>
                  <a:srgbClr val="FF0000"/>
                </a:solidFill>
              </a:rPr>
              <a:t>R.Ai</a:t>
            </a:r>
            <a:r>
              <a:rPr lang="en-US" altLang="en-US" sz="2600" i="1">
                <a:solidFill>
                  <a:srgbClr val="FF0000"/>
                </a:solidFill>
              </a:rPr>
              <a:t> (p</a:t>
            </a:r>
            <a:r>
              <a:rPr lang="en-US" altLang="en-US" sz="2600" i="1" baseline="-25000">
                <a:solidFill>
                  <a:srgbClr val="FF0000"/>
                </a:solidFill>
              </a:rPr>
              <a:t>j</a:t>
            </a:r>
            <a:r>
              <a:rPr lang="en-US" altLang="en-US" sz="2600" i="1">
                <a:solidFill>
                  <a:srgbClr val="FF0000"/>
                </a:solidFill>
              </a:rPr>
              <a:t> ),</a:t>
            </a:r>
          </a:p>
          <a:p>
            <a:pPr eaLnBrk="1" hangingPunct="1">
              <a:buFont typeface="Arial" panose="020B0604020202020204" pitchFamily="34" charset="0"/>
              <a:buNone/>
            </a:pPr>
            <a:r>
              <a:rPr lang="en-US" altLang="en-US" sz="2600"/>
              <a:t>		where </a:t>
            </a:r>
            <a:r>
              <a:rPr lang="en-US" altLang="en-US" sz="2600" i="1">
                <a:solidFill>
                  <a:srgbClr val="FF0000"/>
                </a:solidFill>
              </a:rPr>
              <a:t>p</a:t>
            </a:r>
            <a:r>
              <a:rPr lang="en-US" altLang="en-US" sz="2600" i="1" baseline="-25000">
                <a:solidFill>
                  <a:srgbClr val="FF0000"/>
                </a:solidFill>
              </a:rPr>
              <a:t>j</a:t>
            </a:r>
            <a:r>
              <a:rPr lang="en-US" altLang="en-US" sz="2600" i="1"/>
              <a:t> is the partition that contains </a:t>
            </a:r>
            <a:r>
              <a:rPr lang="en-US" altLang="en-US" sz="2600" i="1">
                <a:solidFill>
                  <a:srgbClr val="FF0000"/>
                </a:solidFill>
              </a:rPr>
              <a:t>v</a:t>
            </a:r>
            <a:r>
              <a:rPr lang="en-US" altLang="en-US" sz="2600" i="1"/>
              <a:t>.</a:t>
            </a:r>
          </a:p>
          <a:p>
            <a:pPr eaLnBrk="1" hangingPunct="1">
              <a:buFont typeface="Arial" panose="020B0604020202020204" pitchFamily="34" charset="0"/>
              <a:buNone/>
            </a:pPr>
            <a:endParaRPr lang="en-US" altLang="en-US" sz="2600" i="1"/>
          </a:p>
          <a:p>
            <a:pPr marL="342900" lvl="1" indent="-342900" eaLnBrk="1" hangingPunct="1">
              <a:buFont typeface="Arial" panose="020B0604020202020204" pitchFamily="34" charset="0"/>
              <a:buNone/>
            </a:pPr>
            <a:r>
              <a:rPr lang="en-US" altLang="en-US" sz="2600">
                <a:solidFill>
                  <a:srgbClr val="558ED5"/>
                </a:solidFill>
              </a:rPr>
              <a:t>	Map(emp.eid)(23)  = 2, Map(emp.eid)(864)  = 4,              Map(emp.eid)(320)  = 7, Map(emp.eid)(875)  = 4</a:t>
            </a:r>
          </a:p>
          <a:p>
            <a:pPr eaLnBrk="1" hangingPunct="1">
              <a:buFont typeface="Arial" panose="020B0604020202020204" pitchFamily="34" charset="0"/>
              <a:buNone/>
            </a:pPr>
            <a:endParaRPr lang="en-US" altLang="en-US" sz="2600"/>
          </a:p>
        </p:txBody>
      </p:sp>
      <p:sp>
        <p:nvSpPr>
          <p:cNvPr id="5" name="Slide Number Placeholder 4">
            <a:extLst>
              <a:ext uri="{FF2B5EF4-FFF2-40B4-BE49-F238E27FC236}">
                <a16:creationId xmlns:a16="http://schemas.microsoft.com/office/drawing/2014/main" id="{6489EF67-06CD-D6B1-C16F-A2CDD67FE1E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30D0C4E2-B6F3-4714-BFDC-C9FBD3A81236}" type="slidenum">
              <a:rPr lang="en-US" altLang="en-US">
                <a:solidFill>
                  <a:srgbClr val="898989"/>
                </a:solidFill>
              </a:rPr>
              <a:pPr eaLnBrk="1" hangingPunct="1"/>
              <a:t>39</a:t>
            </a:fld>
            <a:endParaRPr lang="en-US" altLang="en-US">
              <a:solidFill>
                <a:srgbClr val="898989"/>
              </a:solidFill>
            </a:endParaRPr>
          </a:p>
        </p:txBody>
      </p:sp>
      <p:sp>
        <p:nvSpPr>
          <p:cNvPr id="40964" name="Title 1">
            <a:extLst>
              <a:ext uri="{FF2B5EF4-FFF2-40B4-BE49-F238E27FC236}">
                <a16:creationId xmlns:a16="http://schemas.microsoft.com/office/drawing/2014/main" id="{8D0A6AF2-5D32-629C-A425-0410C38FEA1E}"/>
              </a:ext>
            </a:extLst>
          </p:cNvPr>
          <p:cNvSpPr>
            <a:spLocks noGrp="1"/>
          </p:cNvSpPr>
          <p:nvPr>
            <p:ph type="title"/>
          </p:nvPr>
        </p:nvSpPr>
        <p:spPr>
          <a:xfrm>
            <a:off x="228600" y="274638"/>
            <a:ext cx="8610600" cy="1143000"/>
          </a:xfrm>
        </p:spPr>
        <p:txBody>
          <a:bodyPr/>
          <a:lstStyle/>
          <a:p>
            <a:pPr eaLnBrk="1" hangingPunct="1"/>
            <a:r>
              <a:rPr lang="en-US" altLang="en-US" sz="3600" b="1">
                <a:cs typeface="Arial" panose="020B0604020202020204" pitchFamily="34" charset="0"/>
              </a:rPr>
              <a:t>Relational Encryption and Storage Model</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Content Placeholder 2">
            <a:extLst>
              <a:ext uri="{FF2B5EF4-FFF2-40B4-BE49-F238E27FC236}">
                <a16:creationId xmlns:a16="http://schemas.microsoft.com/office/drawing/2014/main" id="{C6728C6D-BC2B-E4E1-1A70-2A73F37274CA}"/>
              </a:ext>
            </a:extLst>
          </p:cNvPr>
          <p:cNvSpPr>
            <a:spLocks noGrp="1"/>
          </p:cNvSpPr>
          <p:nvPr>
            <p:ph idx="1"/>
          </p:nvPr>
        </p:nvSpPr>
        <p:spPr>
          <a:xfrm>
            <a:off x="457200" y="990600"/>
            <a:ext cx="8001000" cy="1143000"/>
          </a:xfrm>
        </p:spPr>
        <p:txBody>
          <a:bodyPr/>
          <a:lstStyle/>
          <a:p>
            <a:pPr eaLnBrk="1" hangingPunct="1"/>
            <a:r>
              <a:rPr lang="en-US" altLang="en-US" sz="2600">
                <a:solidFill>
                  <a:srgbClr val="558ED5"/>
                </a:solidFill>
                <a:ea typeface="ＭＳ Ｐゴシック" panose="020B0600070205080204" pitchFamily="34" charset="-128"/>
              </a:rPr>
              <a:t>Storing encrypted data:</a:t>
            </a:r>
          </a:p>
          <a:p>
            <a:pPr eaLnBrk="1" hangingPunct="1">
              <a:buFont typeface="Arial" panose="020B0604020202020204" pitchFamily="34" charset="0"/>
              <a:buNone/>
            </a:pPr>
            <a:r>
              <a:rPr lang="en-US" altLang="en-US" sz="2400"/>
              <a:t>	For each tuple </a:t>
            </a:r>
            <a:r>
              <a:rPr lang="en-US" altLang="en-US" sz="2400" i="1"/>
              <a:t>t = a1, a2, . . . , an in R, the relation R</a:t>
            </a:r>
            <a:r>
              <a:rPr lang="en-US" altLang="en-US" sz="2400" i="1" baseline="30000"/>
              <a:t>S</a:t>
            </a:r>
            <a:r>
              <a:rPr lang="en-US" altLang="en-US" sz="2400" i="1"/>
              <a:t> stores a tuple: </a:t>
            </a:r>
          </a:p>
          <a:p>
            <a:pPr eaLnBrk="1" hangingPunct="1">
              <a:buFont typeface="Arial" panose="020B0604020202020204" pitchFamily="34" charset="0"/>
              <a:buNone/>
            </a:pPr>
            <a:endParaRPr lang="en-US" altLang="en-US" sz="2400">
              <a:solidFill>
                <a:srgbClr val="558ED5"/>
              </a:solidFill>
              <a:ea typeface="ＭＳ Ｐゴシック" panose="020B0600070205080204" pitchFamily="34" charset="-128"/>
            </a:endParaRPr>
          </a:p>
        </p:txBody>
      </p:sp>
      <p:pic>
        <p:nvPicPr>
          <p:cNvPr id="41987" name="Picture 2">
            <a:extLst>
              <a:ext uri="{FF2B5EF4-FFF2-40B4-BE49-F238E27FC236}">
                <a16:creationId xmlns:a16="http://schemas.microsoft.com/office/drawing/2014/main" id="{B865791C-D557-4725-E146-19A392A6FB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5010150"/>
            <a:ext cx="6324600"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8" name="Picture 3">
            <a:extLst>
              <a:ext uri="{FF2B5EF4-FFF2-40B4-BE49-F238E27FC236}">
                <a16:creationId xmlns:a16="http://schemas.microsoft.com/office/drawing/2014/main" id="{3797C215-FB76-837A-475E-D7FE40F61C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525" y="2840038"/>
            <a:ext cx="6518275"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9" name="Picture 2">
            <a:extLst>
              <a:ext uri="{FF2B5EF4-FFF2-40B4-BE49-F238E27FC236}">
                <a16:creationId xmlns:a16="http://schemas.microsoft.com/office/drawing/2014/main" id="{802EC8E7-06D5-32E4-1B78-4BBD5833E4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4173538"/>
            <a:ext cx="6019800"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0" name="Picture 3">
            <a:extLst>
              <a:ext uri="{FF2B5EF4-FFF2-40B4-BE49-F238E27FC236}">
                <a16:creationId xmlns:a16="http://schemas.microsoft.com/office/drawing/2014/main" id="{C9E1D5F3-BEBD-51F1-106F-89CFB65F60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2209800"/>
            <a:ext cx="8001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Slide Number Placeholder 7">
            <a:extLst>
              <a:ext uri="{FF2B5EF4-FFF2-40B4-BE49-F238E27FC236}">
                <a16:creationId xmlns:a16="http://schemas.microsoft.com/office/drawing/2014/main" id="{A47B5644-33AA-3216-8112-BCAE86BCC71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2EF02717-851A-45ED-926C-64473D5FA08F}" type="slidenum">
              <a:rPr lang="en-US" altLang="en-US">
                <a:solidFill>
                  <a:srgbClr val="898989"/>
                </a:solidFill>
              </a:rPr>
              <a:pPr eaLnBrk="1" hangingPunct="1"/>
              <a:t>40</a:t>
            </a:fld>
            <a:endParaRPr lang="en-US" altLang="en-US">
              <a:solidFill>
                <a:srgbClr val="898989"/>
              </a:solidFill>
            </a:endParaRPr>
          </a:p>
        </p:txBody>
      </p:sp>
      <p:sp>
        <p:nvSpPr>
          <p:cNvPr id="41992" name="Title 1">
            <a:extLst>
              <a:ext uri="{FF2B5EF4-FFF2-40B4-BE49-F238E27FC236}">
                <a16:creationId xmlns:a16="http://schemas.microsoft.com/office/drawing/2014/main" id="{DD36FAED-EEFE-9C50-1920-A061D8EB92A1}"/>
              </a:ext>
            </a:extLst>
          </p:cNvPr>
          <p:cNvSpPr>
            <a:spLocks noGrp="1"/>
          </p:cNvSpPr>
          <p:nvPr>
            <p:ph type="title"/>
          </p:nvPr>
        </p:nvSpPr>
        <p:spPr>
          <a:xfrm>
            <a:off x="228600" y="0"/>
            <a:ext cx="8610600" cy="868363"/>
          </a:xfrm>
        </p:spPr>
        <p:txBody>
          <a:bodyPr/>
          <a:lstStyle/>
          <a:p>
            <a:pPr eaLnBrk="1" hangingPunct="1"/>
            <a:r>
              <a:rPr lang="en-US" altLang="en-US" sz="3600" b="1">
                <a:cs typeface="Arial" panose="020B0604020202020204" pitchFamily="34" charset="0"/>
              </a:rPr>
              <a:t>Relational Encryption and Storage Model</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00A491B0-79C2-A980-35BD-1899187A31F8}"/>
              </a:ext>
            </a:extLst>
          </p:cNvPr>
          <p:cNvSpPr>
            <a:spLocks noGrp="1"/>
          </p:cNvSpPr>
          <p:nvPr>
            <p:ph idx="1"/>
          </p:nvPr>
        </p:nvSpPr>
        <p:spPr/>
        <p:txBody>
          <a:bodyPr/>
          <a:lstStyle/>
          <a:p>
            <a:pPr algn="just" eaLnBrk="1" hangingPunct="1"/>
            <a:r>
              <a:rPr lang="en-US" altLang="en-US" sz="2600"/>
              <a:t>The first column </a:t>
            </a:r>
            <a:r>
              <a:rPr lang="en-US" altLang="en-US" sz="2600" i="1"/>
              <a:t>etuple contains the string corresponding to the encrypted </a:t>
            </a:r>
            <a:r>
              <a:rPr lang="en-US" altLang="en-US" sz="2600"/>
              <a:t>tuples in </a:t>
            </a:r>
            <a:r>
              <a:rPr lang="en-US" altLang="en-US" sz="2600" i="1"/>
              <a:t>emp. For instance, the first tuple is encrypted to “1100110011110. . . ” </a:t>
            </a:r>
            <a:r>
              <a:rPr lang="en-US" altLang="en-US" sz="2600"/>
              <a:t>that is equal to </a:t>
            </a:r>
            <a:r>
              <a:rPr lang="en-US" altLang="en-US" sz="2600" i="1"/>
              <a:t>encrypt(23, Tom, 70K,Maple, 40).</a:t>
            </a:r>
            <a:endParaRPr lang="en-US" altLang="en-US" sz="2600"/>
          </a:p>
        </p:txBody>
      </p:sp>
      <p:pic>
        <p:nvPicPr>
          <p:cNvPr id="43011" name="Picture 2">
            <a:extLst>
              <a:ext uri="{FF2B5EF4-FFF2-40B4-BE49-F238E27FC236}">
                <a16:creationId xmlns:a16="http://schemas.microsoft.com/office/drawing/2014/main" id="{C75B4B0A-10E4-2DF4-DFAA-551378A993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657600"/>
            <a:ext cx="8164513"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a:extLst>
              <a:ext uri="{FF2B5EF4-FFF2-40B4-BE49-F238E27FC236}">
                <a16:creationId xmlns:a16="http://schemas.microsoft.com/office/drawing/2014/main" id="{FB292984-A050-D06A-6F22-14741AAAD06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3992E52-52E8-4CFE-A583-84653FEF6131}" type="slidenum">
              <a:rPr lang="en-US" altLang="en-US">
                <a:solidFill>
                  <a:srgbClr val="898989"/>
                </a:solidFill>
              </a:rPr>
              <a:pPr eaLnBrk="1" hangingPunct="1"/>
              <a:t>41</a:t>
            </a:fld>
            <a:endParaRPr lang="en-US" altLang="en-US">
              <a:solidFill>
                <a:srgbClr val="898989"/>
              </a:solidFill>
            </a:endParaRPr>
          </a:p>
        </p:txBody>
      </p:sp>
      <p:sp>
        <p:nvSpPr>
          <p:cNvPr id="43013" name="Title 1">
            <a:extLst>
              <a:ext uri="{FF2B5EF4-FFF2-40B4-BE49-F238E27FC236}">
                <a16:creationId xmlns:a16="http://schemas.microsoft.com/office/drawing/2014/main" id="{CC89BADB-A996-582C-694C-01B2A78337F9}"/>
              </a:ext>
            </a:extLst>
          </p:cNvPr>
          <p:cNvSpPr>
            <a:spLocks noGrp="1"/>
          </p:cNvSpPr>
          <p:nvPr>
            <p:ph type="title"/>
          </p:nvPr>
        </p:nvSpPr>
        <p:spPr>
          <a:xfrm>
            <a:off x="228600" y="274638"/>
            <a:ext cx="8610600" cy="1143000"/>
          </a:xfrm>
        </p:spPr>
        <p:txBody>
          <a:bodyPr/>
          <a:lstStyle/>
          <a:p>
            <a:pPr eaLnBrk="1" hangingPunct="1"/>
            <a:r>
              <a:rPr lang="en-US" altLang="en-US" sz="3600" b="1">
                <a:cs typeface="Arial" panose="020B0604020202020204" pitchFamily="34" charset="0"/>
              </a:rPr>
              <a:t>Relational Encryption and Storage Model</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Content Placeholder 2">
            <a:extLst>
              <a:ext uri="{FF2B5EF4-FFF2-40B4-BE49-F238E27FC236}">
                <a16:creationId xmlns:a16="http://schemas.microsoft.com/office/drawing/2014/main" id="{8C8605E7-4E96-4CD5-FBEB-1E5E578F0E06}"/>
              </a:ext>
            </a:extLst>
          </p:cNvPr>
          <p:cNvSpPr>
            <a:spLocks noGrp="1"/>
          </p:cNvSpPr>
          <p:nvPr>
            <p:ph idx="1"/>
          </p:nvPr>
        </p:nvSpPr>
        <p:spPr>
          <a:xfrm>
            <a:off x="457200" y="1600200"/>
            <a:ext cx="8305800" cy="4800600"/>
          </a:xfrm>
        </p:spPr>
        <p:txBody>
          <a:bodyPr/>
          <a:lstStyle/>
          <a:p>
            <a:pPr marL="114300" indent="0" algn="just" eaLnBrk="1" hangingPunct="1">
              <a:buFont typeface="Arial" charset="0"/>
              <a:buNone/>
              <a:defRPr/>
            </a:pPr>
            <a:r>
              <a:rPr lang="en-US" sz="2600" b="1" dirty="0">
                <a:latin typeface="+mj-lt"/>
                <a:ea typeface="ＭＳ Ｐゴシック" pitchFamily="34" charset="-128"/>
                <a:cs typeface="Arial" charset="0"/>
              </a:rPr>
              <a:t>Decryption functions:</a:t>
            </a:r>
          </a:p>
          <a:p>
            <a:pPr lvl="1" algn="just" eaLnBrk="1" hangingPunct="1">
              <a:spcBef>
                <a:spcPts val="600"/>
              </a:spcBef>
              <a:spcAft>
                <a:spcPts val="600"/>
              </a:spcAft>
              <a:buFont typeface="Arial" charset="0"/>
              <a:buChar char="–"/>
              <a:defRPr/>
            </a:pPr>
            <a:r>
              <a:rPr lang="en-US" sz="2600" dirty="0">
                <a:latin typeface="+mj-lt"/>
                <a:ea typeface="ＭＳ Ｐゴシック" pitchFamily="34" charset="-128"/>
                <a:cs typeface="Arial" charset="0"/>
              </a:rPr>
              <a:t>Given the operator E that maps a relation to its encrypted representation, its inverse operator D maps the encrypted representation to its corresponding decrypted representation i.e. D(R</a:t>
            </a:r>
            <a:r>
              <a:rPr lang="en-US" sz="2600" baseline="50000" dirty="0">
                <a:latin typeface="+mj-lt"/>
                <a:ea typeface="ＭＳ Ｐゴシック" pitchFamily="34" charset="-128"/>
                <a:cs typeface="Arial" charset="0"/>
              </a:rPr>
              <a:t>s</a:t>
            </a:r>
            <a:r>
              <a:rPr lang="en-US" sz="2600" dirty="0">
                <a:latin typeface="+mj-lt"/>
                <a:ea typeface="ＭＳ Ｐゴシック" pitchFamily="34" charset="-128"/>
                <a:cs typeface="Arial" charset="0"/>
              </a:rPr>
              <a:t>) =  R.</a:t>
            </a:r>
          </a:p>
          <a:p>
            <a:pPr lvl="1" algn="just" eaLnBrk="1" hangingPunct="1">
              <a:buFont typeface="Arial" charset="0"/>
              <a:buChar char="–"/>
              <a:defRPr/>
            </a:pPr>
            <a:r>
              <a:rPr lang="en-US" sz="2600" dirty="0">
                <a:latin typeface="+mj-lt"/>
                <a:ea typeface="ＭＳ Ｐゴシック" pitchFamily="34" charset="-128"/>
                <a:cs typeface="Arial" charset="0"/>
              </a:rPr>
              <a:t>D(</a:t>
            </a:r>
            <a:r>
              <a:rPr lang="en-US" sz="2600" dirty="0" err="1">
                <a:latin typeface="+mj-lt"/>
                <a:ea typeface="ＭＳ Ｐゴシック" pitchFamily="34" charset="-128"/>
                <a:cs typeface="Arial" charset="0"/>
              </a:rPr>
              <a:t>emp</a:t>
            </a:r>
            <a:r>
              <a:rPr lang="en-US" sz="2600" baseline="30000" dirty="0" err="1">
                <a:latin typeface="+mj-lt"/>
                <a:ea typeface="ＭＳ Ｐゴシック" pitchFamily="34" charset="-128"/>
                <a:cs typeface="Arial" charset="0"/>
              </a:rPr>
              <a:t>S</a:t>
            </a:r>
            <a:r>
              <a:rPr lang="en-US" sz="2600" dirty="0">
                <a:latin typeface="+mj-lt"/>
                <a:ea typeface="ＭＳ Ｐゴシック" pitchFamily="34" charset="-128"/>
                <a:cs typeface="Arial" charset="0"/>
              </a:rPr>
              <a:t>) = </a:t>
            </a:r>
            <a:r>
              <a:rPr lang="en-US" sz="2600" dirty="0" err="1">
                <a:latin typeface="+mj-lt"/>
                <a:ea typeface="ＭＳ Ｐゴシック" pitchFamily="34" charset="-128"/>
                <a:cs typeface="Arial" charset="0"/>
              </a:rPr>
              <a:t>emp</a:t>
            </a:r>
            <a:endParaRPr lang="en-US" sz="2600" dirty="0">
              <a:latin typeface="+mj-lt"/>
              <a:ea typeface="ＭＳ Ｐゴシック" pitchFamily="34" charset="-128"/>
              <a:cs typeface="Arial" charset="0"/>
            </a:endParaRPr>
          </a:p>
          <a:p>
            <a:pPr lvl="1" algn="just" eaLnBrk="1" hangingPunct="1">
              <a:buFont typeface="Arial" charset="0"/>
              <a:buChar char="–"/>
              <a:defRPr/>
            </a:pPr>
            <a:r>
              <a:rPr lang="en-US" sz="2600" dirty="0">
                <a:latin typeface="+mj-lt"/>
                <a:ea typeface="ＭＳ Ｐゴシック" pitchFamily="34" charset="-128"/>
                <a:cs typeface="Arial" charset="0"/>
              </a:rPr>
              <a:t>Decryption will regenerate the whole record.</a:t>
            </a:r>
          </a:p>
        </p:txBody>
      </p:sp>
      <p:sp>
        <p:nvSpPr>
          <p:cNvPr id="4" name="Slide Number Placeholder 3">
            <a:extLst>
              <a:ext uri="{FF2B5EF4-FFF2-40B4-BE49-F238E27FC236}">
                <a16:creationId xmlns:a16="http://schemas.microsoft.com/office/drawing/2014/main" id="{C8EF8FB3-5047-DF97-7321-8AD3F2D55E7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FD21902-B3A7-409D-BB5B-5603E82855D8}" type="slidenum">
              <a:rPr lang="en-US" altLang="en-US">
                <a:solidFill>
                  <a:srgbClr val="898989"/>
                </a:solidFill>
              </a:rPr>
              <a:pPr eaLnBrk="1" hangingPunct="1"/>
              <a:t>42</a:t>
            </a:fld>
            <a:endParaRPr lang="en-US" altLang="en-US">
              <a:solidFill>
                <a:srgbClr val="898989"/>
              </a:solidFill>
            </a:endParaRPr>
          </a:p>
        </p:txBody>
      </p:sp>
      <p:sp>
        <p:nvSpPr>
          <p:cNvPr id="44036" name="Title 1">
            <a:extLst>
              <a:ext uri="{FF2B5EF4-FFF2-40B4-BE49-F238E27FC236}">
                <a16:creationId xmlns:a16="http://schemas.microsoft.com/office/drawing/2014/main" id="{24175772-AB83-460F-7540-676E03382AC9}"/>
              </a:ext>
            </a:extLst>
          </p:cNvPr>
          <p:cNvSpPr>
            <a:spLocks noGrp="1"/>
          </p:cNvSpPr>
          <p:nvPr>
            <p:ph type="title"/>
          </p:nvPr>
        </p:nvSpPr>
        <p:spPr>
          <a:xfrm>
            <a:off x="228600" y="274638"/>
            <a:ext cx="8610600" cy="1143000"/>
          </a:xfrm>
        </p:spPr>
        <p:txBody>
          <a:bodyPr/>
          <a:lstStyle/>
          <a:p>
            <a:pPr eaLnBrk="1" hangingPunct="1"/>
            <a:r>
              <a:rPr lang="en-US" altLang="en-US" sz="3600" b="1">
                <a:cs typeface="Arial" panose="020B0604020202020204" pitchFamily="34" charset="0"/>
              </a:rPr>
              <a:t>Relational Encryption and Storage Model</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Content Placeholder 2">
            <a:extLst>
              <a:ext uri="{FF2B5EF4-FFF2-40B4-BE49-F238E27FC236}">
                <a16:creationId xmlns:a16="http://schemas.microsoft.com/office/drawing/2014/main" id="{85C37EAF-B405-22A5-61DC-0AC7C5749EB7}"/>
              </a:ext>
            </a:extLst>
          </p:cNvPr>
          <p:cNvSpPr>
            <a:spLocks noGrp="1"/>
          </p:cNvSpPr>
          <p:nvPr>
            <p:ph idx="1"/>
          </p:nvPr>
        </p:nvSpPr>
        <p:spPr>
          <a:xfrm>
            <a:off x="457200" y="1600200"/>
            <a:ext cx="8305800" cy="5105400"/>
          </a:xfrm>
        </p:spPr>
        <p:txBody>
          <a:bodyPr rtlCol="0">
            <a:noAutofit/>
          </a:bodyPr>
          <a:lstStyle/>
          <a:p>
            <a:pPr marL="114300" indent="0" algn="just" eaLnBrk="1" fontAlgn="auto" hangingPunct="1">
              <a:spcAft>
                <a:spcPts val="0"/>
              </a:spcAft>
              <a:buFont typeface="Arial" charset="0"/>
              <a:buNone/>
              <a:defRPr/>
            </a:pPr>
            <a:r>
              <a:rPr lang="en-US" sz="2600" b="1" dirty="0">
                <a:latin typeface="+mj-lt"/>
                <a:ea typeface="ＭＳ Ｐゴシック" pitchFamily="34" charset="-128"/>
                <a:cs typeface="Arial" pitchFamily="34" charset="0"/>
              </a:rPr>
              <a:t>Mapping condition:</a:t>
            </a:r>
          </a:p>
          <a:p>
            <a:pPr marL="114300" indent="0" algn="just" eaLnBrk="1" fontAlgn="auto" hangingPunct="1">
              <a:spcAft>
                <a:spcPts val="0"/>
              </a:spcAft>
              <a:buFont typeface="Arial" charset="0"/>
              <a:buNone/>
              <a:defRPr/>
            </a:pPr>
            <a:endParaRPr lang="en-US" sz="2600" b="1" dirty="0">
              <a:latin typeface="+mj-lt"/>
              <a:ea typeface="ＭＳ Ｐゴシック" pitchFamily="34" charset="-128"/>
              <a:cs typeface="Arial" pitchFamily="34" charset="0"/>
            </a:endParaRPr>
          </a:p>
          <a:p>
            <a:pPr marL="114300" indent="0" algn="just" eaLnBrk="1" fontAlgn="auto" hangingPunct="1">
              <a:spcAft>
                <a:spcPts val="0"/>
              </a:spcAft>
              <a:defRPr/>
            </a:pPr>
            <a:r>
              <a:rPr lang="en-US" sz="2600" dirty="0">
                <a:latin typeface="+mj-lt"/>
                <a:ea typeface="ＭＳ Ｐゴシック" pitchFamily="34" charset="-128"/>
                <a:cs typeface="Arial" pitchFamily="34" charset="0"/>
              </a:rPr>
              <a:t>To translate query conditions in operations (Selections, joins etc.) to corresponding conditions over the server-side,   Map (</a:t>
            </a:r>
            <a:r>
              <a:rPr lang="en-US" sz="2600" dirty="0" err="1">
                <a:latin typeface="+mj-lt"/>
                <a:ea typeface="ＭＳ Ｐゴシック" pitchFamily="34" charset="-128"/>
                <a:cs typeface="Arial" pitchFamily="34" charset="0"/>
              </a:rPr>
              <a:t>cond</a:t>
            </a:r>
            <a:r>
              <a:rPr lang="en-US" sz="2600" dirty="0">
                <a:latin typeface="+mj-lt"/>
                <a:ea typeface="ＭＳ Ｐゴシック" pitchFamily="34" charset="-128"/>
                <a:cs typeface="Arial" pitchFamily="34" charset="0"/>
              </a:rPr>
              <a:t>) is used.</a:t>
            </a:r>
          </a:p>
          <a:p>
            <a:pPr marL="114300" indent="0" algn="just" eaLnBrk="1" fontAlgn="auto" hangingPunct="1">
              <a:spcAft>
                <a:spcPts val="0"/>
              </a:spcAft>
              <a:defRPr/>
            </a:pPr>
            <a:endParaRPr lang="en-US" sz="2600" dirty="0">
              <a:latin typeface="+mj-lt"/>
              <a:ea typeface="ＭＳ Ｐゴシック" pitchFamily="34" charset="-128"/>
              <a:cs typeface="Arial" pitchFamily="34" charset="0"/>
            </a:endParaRPr>
          </a:p>
          <a:p>
            <a:pPr algn="just" eaLnBrk="1" fontAlgn="auto" hangingPunct="1">
              <a:spcAft>
                <a:spcPts val="0"/>
              </a:spcAft>
              <a:defRPr/>
            </a:pPr>
            <a:r>
              <a:rPr lang="en-US" sz="2600" dirty="0">
                <a:latin typeface="+mj-lt"/>
                <a:ea typeface="ＭＳ Ｐゴシック" pitchFamily="34" charset="-128"/>
                <a:cs typeface="Arial" pitchFamily="34" charset="0"/>
              </a:rPr>
              <a:t>It helps translate relational operators for server side implementations </a:t>
            </a:r>
            <a:r>
              <a:rPr lang="en-US" sz="2600" dirty="0">
                <a:latin typeface="+mj-lt"/>
                <a:cs typeface="Arial" pitchFamily="34" charset="0"/>
              </a:rPr>
              <a:t>and how query trees are translated.</a:t>
            </a:r>
          </a:p>
          <a:p>
            <a:pPr algn="just" eaLnBrk="1" fontAlgn="auto" hangingPunct="1">
              <a:spcAft>
                <a:spcPts val="0"/>
              </a:spcAft>
              <a:buFont typeface="Arial" panose="020B0604020202020204" pitchFamily="34" charset="0"/>
              <a:buNone/>
              <a:defRPr/>
            </a:pPr>
            <a:endParaRPr lang="en-US" sz="2600" dirty="0">
              <a:latin typeface="+mj-lt"/>
              <a:cs typeface="Arial" pitchFamily="34" charset="0"/>
            </a:endParaRPr>
          </a:p>
        </p:txBody>
      </p:sp>
      <p:sp>
        <p:nvSpPr>
          <p:cNvPr id="4" name="Slide Number Placeholder 3">
            <a:extLst>
              <a:ext uri="{FF2B5EF4-FFF2-40B4-BE49-F238E27FC236}">
                <a16:creationId xmlns:a16="http://schemas.microsoft.com/office/drawing/2014/main" id="{28BD1396-DA6A-EDA3-D753-69052952899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4EEB67E7-4693-4408-927F-F46355DB8A99}" type="slidenum">
              <a:rPr lang="en-US" altLang="en-US">
                <a:solidFill>
                  <a:srgbClr val="898989"/>
                </a:solidFill>
              </a:rPr>
              <a:pPr eaLnBrk="1" hangingPunct="1"/>
              <a:t>43</a:t>
            </a:fld>
            <a:endParaRPr lang="en-US" altLang="en-US">
              <a:solidFill>
                <a:srgbClr val="898989"/>
              </a:solidFill>
            </a:endParaRPr>
          </a:p>
        </p:txBody>
      </p:sp>
      <p:sp>
        <p:nvSpPr>
          <p:cNvPr id="45060" name="Title 1">
            <a:extLst>
              <a:ext uri="{FF2B5EF4-FFF2-40B4-BE49-F238E27FC236}">
                <a16:creationId xmlns:a16="http://schemas.microsoft.com/office/drawing/2014/main" id="{556AF2A7-6506-E300-6F6D-02A8B450EF96}"/>
              </a:ext>
            </a:extLst>
          </p:cNvPr>
          <p:cNvSpPr>
            <a:spLocks noGrp="1"/>
          </p:cNvSpPr>
          <p:nvPr>
            <p:ph type="title"/>
          </p:nvPr>
        </p:nvSpPr>
        <p:spPr>
          <a:xfrm>
            <a:off x="228600" y="274638"/>
            <a:ext cx="8610600" cy="1143000"/>
          </a:xfrm>
        </p:spPr>
        <p:txBody>
          <a:bodyPr/>
          <a:lstStyle/>
          <a:p>
            <a:pPr eaLnBrk="1" hangingPunct="1"/>
            <a:r>
              <a:rPr lang="en-US" altLang="en-US" sz="3600" b="1">
                <a:cs typeface="Arial" panose="020B0604020202020204" pitchFamily="34" charset="0"/>
              </a:rPr>
              <a:t>Relational Encryption and Storage Model</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2F6A55-E172-9940-76C1-F6578A2DCB8C}"/>
              </a:ext>
            </a:extLst>
          </p:cNvPr>
          <p:cNvSpPr>
            <a:spLocks noGrp="1"/>
          </p:cNvSpPr>
          <p:nvPr>
            <p:ph idx="1"/>
          </p:nvPr>
        </p:nvSpPr>
        <p:spPr/>
        <p:txBody>
          <a:bodyPr rtlCol="0">
            <a:normAutofit lnSpcReduction="10000"/>
          </a:bodyPr>
          <a:lstStyle/>
          <a:p>
            <a:pPr algn="just" eaLnBrk="1" fontAlgn="auto" hangingPunct="1">
              <a:spcAft>
                <a:spcPts val="0"/>
              </a:spcAft>
              <a:buFont typeface="Arial" panose="020B0604020202020204" pitchFamily="34" charset="0"/>
              <a:buNone/>
              <a:defRPr/>
            </a:pPr>
            <a:r>
              <a:rPr lang="en-US" sz="2600" b="1" dirty="0">
                <a:latin typeface="+mj-lt"/>
                <a:cs typeface="Arial" pitchFamily="34" charset="0"/>
              </a:rPr>
              <a:t>Mapping condition:</a:t>
            </a:r>
          </a:p>
          <a:p>
            <a:pPr algn="just" eaLnBrk="1" fontAlgn="auto" hangingPunct="1">
              <a:spcAft>
                <a:spcPts val="0"/>
              </a:spcAft>
              <a:defRPr/>
            </a:pPr>
            <a:r>
              <a:rPr lang="en-US" sz="2600" dirty="0">
                <a:latin typeface="+mj-lt"/>
                <a:cs typeface="Arial" pitchFamily="34" charset="0"/>
              </a:rPr>
              <a:t>For each relation, the server-side stores the encrypted </a:t>
            </a:r>
            <a:r>
              <a:rPr lang="en-US" sz="2600" dirty="0" err="1">
                <a:latin typeface="+mj-lt"/>
                <a:cs typeface="Arial" pitchFamily="34" charset="0"/>
              </a:rPr>
              <a:t>tuples</a:t>
            </a:r>
            <a:r>
              <a:rPr lang="en-US" sz="2600" dirty="0">
                <a:latin typeface="+mj-lt"/>
                <a:cs typeface="Arial" pitchFamily="34" charset="0"/>
              </a:rPr>
              <a:t>, along with the attribute indices determined by their mapping functions.</a:t>
            </a:r>
          </a:p>
          <a:p>
            <a:pPr algn="just" eaLnBrk="1" fontAlgn="auto" hangingPunct="1">
              <a:spcAft>
                <a:spcPts val="0"/>
              </a:spcAft>
              <a:defRPr/>
            </a:pPr>
            <a:endParaRPr lang="en-US" sz="2600" dirty="0">
              <a:latin typeface="+mj-lt"/>
              <a:cs typeface="Arial" pitchFamily="34" charset="0"/>
            </a:endParaRPr>
          </a:p>
          <a:p>
            <a:pPr algn="just" eaLnBrk="1" fontAlgn="auto" hangingPunct="1">
              <a:spcAft>
                <a:spcPts val="0"/>
              </a:spcAft>
              <a:defRPr/>
            </a:pPr>
            <a:r>
              <a:rPr lang="en-US" sz="2600" dirty="0">
                <a:latin typeface="+mj-lt"/>
                <a:cs typeface="Arial" pitchFamily="34" charset="0"/>
              </a:rPr>
              <a:t>The client stores the meta data about the specific indices, such as the information about the </a:t>
            </a:r>
            <a:r>
              <a:rPr lang="en-US" sz="2600" dirty="0">
                <a:latin typeface="+mj-lt"/>
              </a:rPr>
              <a:t>partitioning of attributes, the mapping functions, etc. The client utilizes this information to translate a given query </a:t>
            </a:r>
            <a:r>
              <a:rPr lang="en-US" sz="2600" i="1" dirty="0">
                <a:latin typeface="+mj-lt"/>
              </a:rPr>
              <a:t>Q to its server-side representation Q</a:t>
            </a:r>
            <a:r>
              <a:rPr lang="en-US" sz="2600" i="1" baseline="30000" dirty="0">
                <a:latin typeface="+mj-lt"/>
              </a:rPr>
              <a:t>S</a:t>
            </a:r>
            <a:r>
              <a:rPr lang="en-US" sz="2600" i="1" dirty="0">
                <a:latin typeface="+mj-lt"/>
              </a:rPr>
              <a:t>, </a:t>
            </a:r>
            <a:r>
              <a:rPr lang="en-US" sz="2600" dirty="0">
                <a:latin typeface="+mj-lt"/>
              </a:rPr>
              <a:t>which is then executed by the server.</a:t>
            </a:r>
            <a:endParaRPr lang="en-US" sz="2600" dirty="0">
              <a:latin typeface="+mj-lt"/>
              <a:ea typeface="ＭＳ Ｐゴシック" pitchFamily="34" charset="-128"/>
              <a:cs typeface="Arial" pitchFamily="34" charset="0"/>
            </a:endParaRPr>
          </a:p>
          <a:p>
            <a:pPr algn="just" eaLnBrk="1" fontAlgn="auto" hangingPunct="1">
              <a:spcAft>
                <a:spcPts val="0"/>
              </a:spcAft>
              <a:defRPr/>
            </a:pPr>
            <a:endParaRPr lang="en-US" sz="2600" dirty="0">
              <a:latin typeface="+mj-lt"/>
            </a:endParaRPr>
          </a:p>
        </p:txBody>
      </p:sp>
      <p:sp>
        <p:nvSpPr>
          <p:cNvPr id="4" name="Slide Number Placeholder 3">
            <a:extLst>
              <a:ext uri="{FF2B5EF4-FFF2-40B4-BE49-F238E27FC236}">
                <a16:creationId xmlns:a16="http://schemas.microsoft.com/office/drawing/2014/main" id="{F06C6B96-D62B-55C0-CFEB-BBF876F3880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55EBB15B-BF37-4F78-BE58-8B8D38A2B9E3}" type="slidenum">
              <a:rPr lang="en-US" altLang="en-US">
                <a:solidFill>
                  <a:srgbClr val="898989"/>
                </a:solidFill>
              </a:rPr>
              <a:pPr eaLnBrk="1" hangingPunct="1"/>
              <a:t>44</a:t>
            </a:fld>
            <a:endParaRPr lang="en-US" altLang="en-US">
              <a:solidFill>
                <a:srgbClr val="898989"/>
              </a:solidFill>
            </a:endParaRPr>
          </a:p>
        </p:txBody>
      </p:sp>
      <p:sp>
        <p:nvSpPr>
          <p:cNvPr id="46084" name="Title 1">
            <a:extLst>
              <a:ext uri="{FF2B5EF4-FFF2-40B4-BE49-F238E27FC236}">
                <a16:creationId xmlns:a16="http://schemas.microsoft.com/office/drawing/2014/main" id="{50630F06-D22C-C562-9372-AEF5DBEE0759}"/>
              </a:ext>
            </a:extLst>
          </p:cNvPr>
          <p:cNvSpPr>
            <a:spLocks noGrp="1"/>
          </p:cNvSpPr>
          <p:nvPr>
            <p:ph type="title"/>
          </p:nvPr>
        </p:nvSpPr>
        <p:spPr>
          <a:xfrm>
            <a:off x="228600" y="274638"/>
            <a:ext cx="8610600" cy="1143000"/>
          </a:xfrm>
        </p:spPr>
        <p:txBody>
          <a:bodyPr/>
          <a:lstStyle/>
          <a:p>
            <a:pPr eaLnBrk="1" hangingPunct="1"/>
            <a:r>
              <a:rPr lang="en-US" altLang="en-US" sz="3600" b="1">
                <a:cs typeface="Arial" panose="020B0604020202020204" pitchFamily="34" charset="0"/>
              </a:rPr>
              <a:t>Relational Encryption and Storage Model</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855BF018-96F2-BD5D-5B38-F61C70440F94}"/>
              </a:ext>
            </a:extLst>
          </p:cNvPr>
          <p:cNvSpPr>
            <a:spLocks noGrp="1"/>
          </p:cNvSpPr>
          <p:nvPr>
            <p:ph type="title"/>
          </p:nvPr>
        </p:nvSpPr>
        <p:spPr/>
        <p:txBody>
          <a:bodyPr/>
          <a:lstStyle/>
          <a:p>
            <a:pPr eaLnBrk="1" hangingPunct="1"/>
            <a:r>
              <a:rPr lang="en-US" altLang="en-US" sz="3600" b="1"/>
              <a:t>Translating Relational Operator</a:t>
            </a:r>
          </a:p>
        </p:txBody>
      </p:sp>
      <p:sp>
        <p:nvSpPr>
          <p:cNvPr id="47107" name="Content Placeholder 2">
            <a:extLst>
              <a:ext uri="{FF2B5EF4-FFF2-40B4-BE49-F238E27FC236}">
                <a16:creationId xmlns:a16="http://schemas.microsoft.com/office/drawing/2014/main" id="{F4FBA275-ADE6-78F6-5480-9FF1BA9C2FEE}"/>
              </a:ext>
            </a:extLst>
          </p:cNvPr>
          <p:cNvSpPr>
            <a:spLocks noGrp="1"/>
          </p:cNvSpPr>
          <p:nvPr>
            <p:ph idx="1"/>
          </p:nvPr>
        </p:nvSpPr>
        <p:spPr/>
        <p:txBody>
          <a:bodyPr/>
          <a:lstStyle/>
          <a:p>
            <a:pPr algn="just" eaLnBrk="1" hangingPunct="1">
              <a:buFont typeface="Arial" charset="0"/>
              <a:buChar char="•"/>
              <a:defRPr/>
            </a:pPr>
            <a:r>
              <a:rPr lang="en-US" sz="2600" b="1" dirty="0">
                <a:latin typeface="+mj-lt"/>
                <a:ea typeface="ＭＳ Ｐゴシック" pitchFamily="34" charset="-128"/>
                <a:cs typeface="Arial" charset="0"/>
              </a:rPr>
              <a:t>Strategy:</a:t>
            </a:r>
            <a:r>
              <a:rPr lang="en-US" sz="2600" dirty="0">
                <a:latin typeface="+mj-lt"/>
                <a:ea typeface="ＭＳ Ｐゴシック" pitchFamily="34" charset="-128"/>
                <a:cs typeface="Arial" charset="0"/>
              </a:rPr>
              <a:t> To partition the computation of the operators across the client and the server such that a superset of answers is generated by the operator using the attribute indices stored at the server.</a:t>
            </a:r>
          </a:p>
          <a:p>
            <a:pPr algn="just" eaLnBrk="1" hangingPunct="1">
              <a:buFont typeface="Arial" charset="0"/>
              <a:buChar char="•"/>
              <a:defRPr/>
            </a:pPr>
            <a:r>
              <a:rPr lang="en-US" sz="2600" dirty="0">
                <a:latin typeface="+mj-lt"/>
                <a:ea typeface="ＭＳ Ｐゴシック" pitchFamily="34" charset="-128"/>
                <a:cs typeface="Arial" charset="0"/>
              </a:rPr>
              <a:t>This set is then filtered at the client side after decryption to generate the true results.</a:t>
            </a:r>
          </a:p>
          <a:p>
            <a:pPr algn="just" eaLnBrk="1" hangingPunct="1">
              <a:buFont typeface="Arial" charset="0"/>
              <a:buChar char="•"/>
              <a:defRPr/>
            </a:pPr>
            <a:r>
              <a:rPr lang="en-US" sz="2600" dirty="0">
                <a:latin typeface="+mj-lt"/>
                <a:ea typeface="ＭＳ Ｐゴシック" pitchFamily="34" charset="-128"/>
                <a:cs typeface="Arial" charset="0"/>
              </a:rPr>
              <a:t>The goal is to minimize the work done at the client.</a:t>
            </a:r>
          </a:p>
          <a:p>
            <a:pPr lvl="1" algn="just" eaLnBrk="1" hangingPunct="1">
              <a:buFont typeface="Arial" charset="0"/>
              <a:buChar char="–"/>
              <a:defRPr/>
            </a:pPr>
            <a:endParaRPr lang="en-US" sz="2600" dirty="0">
              <a:latin typeface="+mj-lt"/>
              <a:ea typeface="ＭＳ Ｐゴシック" pitchFamily="34" charset="-128"/>
              <a:cs typeface="Arial" charset="0"/>
            </a:endParaRPr>
          </a:p>
        </p:txBody>
      </p:sp>
      <p:sp>
        <p:nvSpPr>
          <p:cNvPr id="4" name="Slide Number Placeholder 3">
            <a:extLst>
              <a:ext uri="{FF2B5EF4-FFF2-40B4-BE49-F238E27FC236}">
                <a16:creationId xmlns:a16="http://schemas.microsoft.com/office/drawing/2014/main" id="{4441135B-C699-3DFA-C74D-F75DE3AC59F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AB3228D1-1FB3-49B3-98F6-318EFE156E49}" type="slidenum">
              <a:rPr lang="en-US" altLang="en-US">
                <a:solidFill>
                  <a:srgbClr val="898989"/>
                </a:solidFill>
              </a:rPr>
              <a:pPr eaLnBrk="1" hangingPunct="1"/>
              <a:t>45</a:t>
            </a:fld>
            <a:endParaRPr lang="en-US" altLang="en-US">
              <a:solidFill>
                <a:srgbClr val="898989"/>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5A330C20-19AC-E728-CE7A-5C069B16C816}"/>
              </a:ext>
            </a:extLst>
          </p:cNvPr>
          <p:cNvSpPr>
            <a:spLocks noGrp="1"/>
          </p:cNvSpPr>
          <p:nvPr>
            <p:ph type="title"/>
          </p:nvPr>
        </p:nvSpPr>
        <p:spPr/>
        <p:txBody>
          <a:bodyPr/>
          <a:lstStyle/>
          <a:p>
            <a:pPr eaLnBrk="1" hangingPunct="1"/>
            <a:r>
              <a:rPr lang="en-US" altLang="en-US" sz="3600" b="1"/>
              <a:t>Translating Relational Operator</a:t>
            </a:r>
          </a:p>
        </p:txBody>
      </p:sp>
      <p:sp>
        <p:nvSpPr>
          <p:cNvPr id="52226" name="Content Placeholder 2">
            <a:extLst>
              <a:ext uri="{FF2B5EF4-FFF2-40B4-BE49-F238E27FC236}">
                <a16:creationId xmlns:a16="http://schemas.microsoft.com/office/drawing/2014/main" id="{FA98993A-15D8-FC02-3F47-3AD99C414B43}"/>
              </a:ext>
            </a:extLst>
          </p:cNvPr>
          <p:cNvSpPr>
            <a:spLocks noGrp="1"/>
          </p:cNvSpPr>
          <p:nvPr>
            <p:ph idx="1"/>
          </p:nvPr>
        </p:nvSpPr>
        <p:spPr>
          <a:xfrm>
            <a:off x="457200" y="1371600"/>
            <a:ext cx="7620000" cy="4800600"/>
          </a:xfrm>
        </p:spPr>
        <p:txBody>
          <a:bodyPr rtlCol="0">
            <a:noAutofit/>
          </a:bodyPr>
          <a:lstStyle/>
          <a:p>
            <a:pPr marL="0" indent="0" algn="just" eaLnBrk="1" fontAlgn="auto" hangingPunct="1">
              <a:spcAft>
                <a:spcPts val="0"/>
              </a:spcAft>
              <a:buFont typeface="Arial" charset="0"/>
              <a:buNone/>
              <a:defRPr/>
            </a:pPr>
            <a:r>
              <a:rPr lang="en-US" sz="2600" dirty="0">
                <a:latin typeface="+mj-lt"/>
                <a:cs typeface="Arial"/>
              </a:rPr>
              <a:t>The Selection Operator: </a:t>
            </a:r>
          </a:p>
          <a:p>
            <a:pPr algn="just" eaLnBrk="1" fontAlgn="auto" hangingPunct="1">
              <a:spcAft>
                <a:spcPts val="0"/>
              </a:spcAft>
              <a:defRPr/>
            </a:pPr>
            <a:r>
              <a:rPr lang="en-US" sz="2600" dirty="0">
                <a:latin typeface="+mj-lt"/>
                <a:cs typeface="Arial"/>
              </a:rPr>
              <a:t>Partially compute the selection operator at the server using the indices associated with the attributes in C and push the result to the client.</a:t>
            </a:r>
          </a:p>
          <a:p>
            <a:pPr algn="just" eaLnBrk="1" fontAlgn="auto" hangingPunct="1">
              <a:spcAft>
                <a:spcPts val="0"/>
              </a:spcAft>
              <a:defRPr/>
            </a:pPr>
            <a:r>
              <a:rPr lang="en-US" sz="2600" dirty="0">
                <a:latin typeface="+mj-lt"/>
                <a:cs typeface="Arial"/>
              </a:rPr>
              <a:t>The client decrypts the result and filters out tuples that do not satisfy C.</a:t>
            </a:r>
          </a:p>
          <a:p>
            <a:pPr marL="114300" indent="0" algn="just" eaLnBrk="1" fontAlgn="auto" hangingPunct="1">
              <a:spcAft>
                <a:spcPts val="0"/>
              </a:spcAft>
              <a:buFont typeface="Arial" charset="0"/>
              <a:buNone/>
              <a:defRPr/>
            </a:pPr>
            <a:endParaRPr lang="en-US" sz="2600" dirty="0">
              <a:latin typeface="+mj-lt"/>
            </a:endParaRPr>
          </a:p>
          <a:p>
            <a:pPr marL="114300" indent="0" algn="just" eaLnBrk="1" fontAlgn="auto" hangingPunct="1">
              <a:spcAft>
                <a:spcPts val="0"/>
              </a:spcAft>
              <a:buFont typeface="Arial" charset="0"/>
              <a:buNone/>
              <a:defRPr/>
            </a:pPr>
            <a:endParaRPr lang="en-US" sz="2600" dirty="0">
              <a:latin typeface="+mj-lt"/>
            </a:endParaRPr>
          </a:p>
          <a:p>
            <a:pPr marL="114300" indent="0" algn="just" eaLnBrk="1" fontAlgn="auto" hangingPunct="1">
              <a:spcAft>
                <a:spcPts val="0"/>
              </a:spcAft>
              <a:buFont typeface="Arial" charset="0"/>
              <a:buNone/>
              <a:defRPr/>
            </a:pPr>
            <a:r>
              <a:rPr lang="en-US" sz="2600" dirty="0">
                <a:latin typeface="+mj-lt"/>
                <a:cs typeface="Arial"/>
              </a:rPr>
              <a:t>The decryption operator D will only keep the attribute </a:t>
            </a:r>
            <a:r>
              <a:rPr lang="en-US" sz="2600" dirty="0" err="1">
                <a:latin typeface="+mj-lt"/>
                <a:cs typeface="Arial"/>
              </a:rPr>
              <a:t>etuple</a:t>
            </a:r>
            <a:r>
              <a:rPr lang="en-US" sz="2600" dirty="0">
                <a:latin typeface="+mj-lt"/>
                <a:cs typeface="Arial"/>
              </a:rPr>
              <a:t> of R</a:t>
            </a:r>
            <a:r>
              <a:rPr lang="en-US" sz="2600" baseline="50000" dirty="0">
                <a:latin typeface="+mj-lt"/>
                <a:cs typeface="Arial"/>
              </a:rPr>
              <a:t>S</a:t>
            </a:r>
            <a:r>
              <a:rPr lang="en-US" sz="2600" dirty="0">
                <a:latin typeface="+mj-lt"/>
                <a:cs typeface="Arial"/>
              </a:rPr>
              <a:t> and drop all other </a:t>
            </a:r>
            <a:r>
              <a:rPr lang="en-US" sz="2600" dirty="0" err="1">
                <a:latin typeface="+mj-lt"/>
                <a:cs typeface="Arial"/>
              </a:rPr>
              <a:t>A</a:t>
            </a:r>
            <a:r>
              <a:rPr lang="en-US" sz="2600" baseline="-25000" dirty="0" err="1">
                <a:latin typeface="+mj-lt"/>
                <a:cs typeface="Arial"/>
              </a:rPr>
              <a:t>i</a:t>
            </a:r>
            <a:r>
              <a:rPr lang="en-US" sz="2600" baseline="50000" dirty="0" err="1">
                <a:latin typeface="+mj-lt"/>
                <a:cs typeface="Arial"/>
              </a:rPr>
              <a:t>S</a:t>
            </a:r>
            <a:r>
              <a:rPr lang="en-US" sz="2600" baseline="50000" dirty="0">
                <a:latin typeface="+mj-lt"/>
                <a:cs typeface="Arial"/>
              </a:rPr>
              <a:t> </a:t>
            </a:r>
            <a:r>
              <a:rPr lang="en-US" sz="2600" dirty="0">
                <a:latin typeface="+mj-lt"/>
                <a:cs typeface="Arial"/>
              </a:rPr>
              <a:t>attributes.</a:t>
            </a:r>
          </a:p>
        </p:txBody>
      </p:sp>
      <p:pic>
        <p:nvPicPr>
          <p:cNvPr id="48132" name="Picture 2">
            <a:extLst>
              <a:ext uri="{FF2B5EF4-FFF2-40B4-BE49-F238E27FC236}">
                <a16:creationId xmlns:a16="http://schemas.microsoft.com/office/drawing/2014/main" id="{37E2180A-5C61-408D-BB14-F87EBC23A8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3979863"/>
            <a:ext cx="5334000" cy="97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a:extLst>
              <a:ext uri="{FF2B5EF4-FFF2-40B4-BE49-F238E27FC236}">
                <a16:creationId xmlns:a16="http://schemas.microsoft.com/office/drawing/2014/main" id="{D9598C8A-2F38-C6E9-FE14-26BAA2AE1B3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92FB83EE-1C63-4CA9-887C-1D56F6A20459}" type="slidenum">
              <a:rPr lang="en-US" altLang="en-US">
                <a:solidFill>
                  <a:srgbClr val="898989"/>
                </a:solidFill>
              </a:rPr>
              <a:pPr eaLnBrk="1" hangingPunct="1"/>
              <a:t>46</a:t>
            </a:fld>
            <a:endParaRPr lang="en-US" altLang="en-US">
              <a:solidFill>
                <a:srgbClr val="898989"/>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3CDACC0C-C872-4B08-83E2-2DD162DDCBB8}"/>
              </a:ext>
            </a:extLst>
          </p:cNvPr>
          <p:cNvSpPr>
            <a:spLocks noGrp="1"/>
          </p:cNvSpPr>
          <p:nvPr>
            <p:ph type="title"/>
          </p:nvPr>
        </p:nvSpPr>
        <p:spPr/>
        <p:txBody>
          <a:bodyPr/>
          <a:lstStyle/>
          <a:p>
            <a:pPr eaLnBrk="1" hangingPunct="1"/>
            <a:r>
              <a:rPr lang="en-US" altLang="en-US" sz="3600" b="1"/>
              <a:t>Translating Relational Operator</a:t>
            </a:r>
          </a:p>
        </p:txBody>
      </p:sp>
      <p:sp>
        <p:nvSpPr>
          <p:cNvPr id="52226" name="Content Placeholder 2">
            <a:extLst>
              <a:ext uri="{FF2B5EF4-FFF2-40B4-BE49-F238E27FC236}">
                <a16:creationId xmlns:a16="http://schemas.microsoft.com/office/drawing/2014/main" id="{B0F7C002-3A26-1FE8-FA7D-99B4469B5EE5}"/>
              </a:ext>
            </a:extLst>
          </p:cNvPr>
          <p:cNvSpPr>
            <a:spLocks noGrp="1"/>
          </p:cNvSpPr>
          <p:nvPr>
            <p:ph idx="1"/>
          </p:nvPr>
        </p:nvSpPr>
        <p:spPr>
          <a:xfrm>
            <a:off x="457200" y="1371600"/>
            <a:ext cx="7620000" cy="4800600"/>
          </a:xfrm>
        </p:spPr>
        <p:txBody>
          <a:bodyPr rtlCol="0">
            <a:normAutofit/>
          </a:bodyPr>
          <a:lstStyle/>
          <a:p>
            <a:pPr marL="0" indent="0" eaLnBrk="1" fontAlgn="auto" hangingPunct="1">
              <a:spcAft>
                <a:spcPts val="0"/>
              </a:spcAft>
              <a:buFont typeface="Arial" charset="0"/>
              <a:buNone/>
              <a:defRPr/>
            </a:pPr>
            <a:r>
              <a:rPr lang="en-US" sz="2600" dirty="0">
                <a:latin typeface="+mj-lt"/>
                <a:cs typeface="Arial"/>
              </a:rPr>
              <a:t>The Selection Operator: </a:t>
            </a:r>
          </a:p>
          <a:p>
            <a:pPr eaLnBrk="1" fontAlgn="auto" hangingPunct="1">
              <a:spcAft>
                <a:spcPts val="0"/>
              </a:spcAft>
              <a:defRPr/>
            </a:pPr>
            <a:r>
              <a:rPr lang="en-US" sz="2600" dirty="0">
                <a:latin typeface="+mj-lt"/>
                <a:cs typeface="Arial"/>
              </a:rPr>
              <a:t>E.g. :C = </a:t>
            </a:r>
            <a:r>
              <a:rPr lang="en-US" sz="2600" dirty="0" err="1">
                <a:latin typeface="+mj-lt"/>
                <a:cs typeface="Arial"/>
              </a:rPr>
              <a:t>eid</a:t>
            </a:r>
            <a:r>
              <a:rPr lang="en-US" sz="2600" dirty="0">
                <a:latin typeface="+mj-lt"/>
                <a:cs typeface="Arial"/>
              </a:rPr>
              <a:t> &lt; 395 &amp; did = 140 (</a:t>
            </a:r>
            <a:r>
              <a:rPr lang="en-US" sz="2600" dirty="0" err="1">
                <a:latin typeface="+mj-lt"/>
                <a:cs typeface="Arial"/>
              </a:rPr>
              <a:t>emp</a:t>
            </a:r>
            <a:r>
              <a:rPr lang="en-US" sz="2600" dirty="0">
                <a:latin typeface="+mj-lt"/>
                <a:cs typeface="Arial"/>
              </a:rPr>
              <a:t>)</a:t>
            </a:r>
          </a:p>
          <a:p>
            <a:pPr eaLnBrk="1" fontAlgn="auto" hangingPunct="1">
              <a:spcAft>
                <a:spcPts val="0"/>
              </a:spcAft>
              <a:defRPr/>
            </a:pPr>
            <a:r>
              <a:rPr lang="en-US" sz="2600" dirty="0">
                <a:latin typeface="+mj-lt"/>
                <a:cs typeface="Arial"/>
              </a:rPr>
              <a:t>The selection operation can be translated into:</a:t>
            </a:r>
          </a:p>
          <a:p>
            <a:pPr lvl="1" eaLnBrk="1" fontAlgn="auto" hangingPunct="1">
              <a:spcAft>
                <a:spcPts val="0"/>
              </a:spcAft>
              <a:defRPr/>
            </a:pPr>
            <a:endParaRPr lang="en-US" sz="2600" dirty="0">
              <a:latin typeface="+mj-lt"/>
            </a:endParaRPr>
          </a:p>
        </p:txBody>
      </p:sp>
      <p:pic>
        <p:nvPicPr>
          <p:cNvPr id="49156" name="Picture 2">
            <a:extLst>
              <a:ext uri="{FF2B5EF4-FFF2-40B4-BE49-F238E27FC236}">
                <a16:creationId xmlns:a16="http://schemas.microsoft.com/office/drawing/2014/main" id="{13A5B544-00E1-5176-9874-77D7DBA2683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3200400"/>
            <a:ext cx="6248400" cy="166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7" name="Picture 2">
            <a:extLst>
              <a:ext uri="{FF2B5EF4-FFF2-40B4-BE49-F238E27FC236}">
                <a16:creationId xmlns:a16="http://schemas.microsoft.com/office/drawing/2014/main" id="{2EFD3E3A-2160-E243-A388-843C77BAF1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4876800"/>
            <a:ext cx="7239000"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D5E48465-0AF2-9825-1EED-97766DDD4B3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A8BF1B1D-B56C-4282-81AC-0C4973B701D3}" type="slidenum">
              <a:rPr lang="en-US" altLang="en-US">
                <a:solidFill>
                  <a:srgbClr val="898989"/>
                </a:solidFill>
              </a:rPr>
              <a:pPr eaLnBrk="1" hangingPunct="1"/>
              <a:t>47</a:t>
            </a:fld>
            <a:endParaRPr lang="en-US" altLang="en-US">
              <a:solidFill>
                <a:srgbClr val="898989"/>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2">
            <a:extLst>
              <a:ext uri="{FF2B5EF4-FFF2-40B4-BE49-F238E27FC236}">
                <a16:creationId xmlns:a16="http://schemas.microsoft.com/office/drawing/2014/main" id="{0F886D8C-BEB2-AAD9-AE3B-D7B19B4F323D}"/>
              </a:ext>
            </a:extLst>
          </p:cNvPr>
          <p:cNvSpPr>
            <a:spLocks noGrp="1"/>
          </p:cNvSpPr>
          <p:nvPr>
            <p:ph idx="1"/>
          </p:nvPr>
        </p:nvSpPr>
        <p:spPr>
          <a:xfrm>
            <a:off x="457200" y="1371600"/>
            <a:ext cx="7620000" cy="762000"/>
          </a:xfrm>
        </p:spPr>
        <p:txBody>
          <a:bodyPr/>
          <a:lstStyle/>
          <a:p>
            <a:pPr marL="0" indent="0" eaLnBrk="1" hangingPunct="1">
              <a:buFont typeface="Arial" panose="020B0604020202020204" pitchFamily="34" charset="0"/>
              <a:buNone/>
            </a:pPr>
            <a:r>
              <a:rPr lang="en-US" altLang="en-US" sz="2600" b="1">
                <a:ea typeface="ＭＳ Ｐゴシック" panose="020B0600070205080204" pitchFamily="34" charset="-128"/>
              </a:rPr>
              <a:t>The Join Operator: </a:t>
            </a:r>
          </a:p>
        </p:txBody>
      </p:sp>
      <p:pic>
        <p:nvPicPr>
          <p:cNvPr id="50179" name="Picture 3">
            <a:extLst>
              <a:ext uri="{FF2B5EF4-FFF2-40B4-BE49-F238E27FC236}">
                <a16:creationId xmlns:a16="http://schemas.microsoft.com/office/drawing/2014/main" id="{16499FEC-F4E4-8B90-D9C5-43F4AF37FAE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905000"/>
            <a:ext cx="5664200"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0" name="Picture 4">
            <a:extLst>
              <a:ext uri="{FF2B5EF4-FFF2-40B4-BE49-F238E27FC236}">
                <a16:creationId xmlns:a16="http://schemas.microsoft.com/office/drawing/2014/main" id="{04EC2D17-DCE6-A103-9187-A9CBBE1EE29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5800" y="3810000"/>
            <a:ext cx="6457950" cy="197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1" name="TextBox 6">
            <a:extLst>
              <a:ext uri="{FF2B5EF4-FFF2-40B4-BE49-F238E27FC236}">
                <a16:creationId xmlns:a16="http://schemas.microsoft.com/office/drawing/2014/main" id="{B4BC001B-6E75-848D-1A78-DEACCCFDCC1C}"/>
              </a:ext>
            </a:extLst>
          </p:cNvPr>
          <p:cNvSpPr txBox="1">
            <a:spLocks noChangeArrowheads="1"/>
          </p:cNvSpPr>
          <p:nvPr/>
        </p:nvSpPr>
        <p:spPr bwMode="auto">
          <a:xfrm>
            <a:off x="609600" y="3429000"/>
            <a:ext cx="2362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b="1"/>
              <a:t>Example:</a:t>
            </a:r>
          </a:p>
        </p:txBody>
      </p:sp>
      <p:sp>
        <p:nvSpPr>
          <p:cNvPr id="7" name="Slide Number Placeholder 6">
            <a:extLst>
              <a:ext uri="{FF2B5EF4-FFF2-40B4-BE49-F238E27FC236}">
                <a16:creationId xmlns:a16="http://schemas.microsoft.com/office/drawing/2014/main" id="{7D414062-85C5-5D60-AC7A-82B3CB1C194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97195EC4-3D75-42C0-909E-6A7F41D9E002}" type="slidenum">
              <a:rPr lang="en-US" altLang="en-US">
                <a:solidFill>
                  <a:srgbClr val="898989"/>
                </a:solidFill>
              </a:rPr>
              <a:pPr eaLnBrk="1" hangingPunct="1"/>
              <a:t>48</a:t>
            </a:fld>
            <a:endParaRPr lang="en-US" altLang="en-US">
              <a:solidFill>
                <a:srgbClr val="898989"/>
              </a:solidFill>
            </a:endParaRPr>
          </a:p>
        </p:txBody>
      </p:sp>
      <p:sp>
        <p:nvSpPr>
          <p:cNvPr id="9" name="Title 1">
            <a:extLst>
              <a:ext uri="{FF2B5EF4-FFF2-40B4-BE49-F238E27FC236}">
                <a16:creationId xmlns:a16="http://schemas.microsoft.com/office/drawing/2014/main" id="{1D807067-BEB9-AD66-0253-1A47E5DB7869}"/>
              </a:ext>
            </a:extLst>
          </p:cNvPr>
          <p:cNvSpPr txBox="1">
            <a:spLocks/>
          </p:cNvSpPr>
          <p:nvPr/>
        </p:nvSpPr>
        <p:spPr bwMode="auto">
          <a:xfrm>
            <a:off x="609600" y="152400"/>
            <a:ext cx="8229600" cy="1143000"/>
          </a:xfrm>
          <a:prstGeom prst="rect">
            <a:avLst/>
          </a:prstGeom>
          <a:noFill/>
          <a:ln w="9525">
            <a:noFill/>
            <a:miter lim="800000"/>
            <a:headEnd/>
            <a:tailEnd/>
          </a:ln>
        </p:spPr>
        <p:txBody>
          <a:bodyPr anchor="ctr"/>
          <a:lstStyle/>
          <a:p>
            <a:pPr algn="ctr">
              <a:defRPr/>
            </a:pPr>
            <a:r>
              <a:rPr lang="en-US" sz="3600" b="1" dirty="0">
                <a:latin typeface="+mj-lt"/>
                <a:ea typeface="+mj-ea"/>
                <a:cs typeface="+mj-cs"/>
              </a:rPr>
              <a:t>Translating Relational Operator</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2ECFE59C-F85D-917A-231D-7C23CBE97744}"/>
              </a:ext>
            </a:extLst>
          </p:cNvPr>
          <p:cNvSpPr>
            <a:spLocks noGrp="1"/>
          </p:cNvSpPr>
          <p:nvPr>
            <p:ph type="title"/>
          </p:nvPr>
        </p:nvSpPr>
        <p:spPr/>
        <p:txBody>
          <a:bodyPr/>
          <a:lstStyle/>
          <a:p>
            <a:pPr eaLnBrk="1" hangingPunct="1"/>
            <a:r>
              <a:rPr lang="en-US" altLang="en-US" sz="3600" b="1"/>
              <a:t>Query Execution</a:t>
            </a:r>
          </a:p>
        </p:txBody>
      </p:sp>
      <p:sp>
        <p:nvSpPr>
          <p:cNvPr id="54274" name="Content Placeholder 2">
            <a:extLst>
              <a:ext uri="{FF2B5EF4-FFF2-40B4-BE49-F238E27FC236}">
                <a16:creationId xmlns:a16="http://schemas.microsoft.com/office/drawing/2014/main" id="{12A44762-02D8-0EE5-1768-E2C8C1186A9C}"/>
              </a:ext>
            </a:extLst>
          </p:cNvPr>
          <p:cNvSpPr>
            <a:spLocks noGrp="1"/>
          </p:cNvSpPr>
          <p:nvPr>
            <p:ph idx="1"/>
          </p:nvPr>
        </p:nvSpPr>
        <p:spPr>
          <a:xfrm>
            <a:off x="381000" y="1371600"/>
            <a:ext cx="8077200" cy="5257800"/>
          </a:xfrm>
        </p:spPr>
        <p:txBody>
          <a:bodyPr rtlCol="0">
            <a:normAutofit/>
          </a:bodyPr>
          <a:lstStyle/>
          <a:p>
            <a:pPr marL="0" indent="0" algn="just" eaLnBrk="1" fontAlgn="auto" hangingPunct="1">
              <a:spcBef>
                <a:spcPts val="600"/>
              </a:spcBef>
              <a:spcAft>
                <a:spcPts val="600"/>
              </a:spcAft>
              <a:buFont typeface="Arial" charset="0"/>
              <a:buNone/>
              <a:defRPr/>
            </a:pPr>
            <a:r>
              <a:rPr lang="en-US" sz="2600" b="1" dirty="0">
                <a:solidFill>
                  <a:srgbClr val="FF0000"/>
                </a:solidFill>
                <a:latin typeface="+mj-lt"/>
                <a:cs typeface="Arial"/>
              </a:rPr>
              <a:t>Objective: </a:t>
            </a:r>
          </a:p>
          <a:p>
            <a:pPr algn="just" eaLnBrk="1" fontAlgn="auto" hangingPunct="1">
              <a:spcAft>
                <a:spcPts val="0"/>
              </a:spcAft>
              <a:defRPr/>
            </a:pPr>
            <a:r>
              <a:rPr lang="en-US" sz="2600" dirty="0">
                <a:solidFill>
                  <a:srgbClr val="558ED5"/>
                </a:solidFill>
                <a:latin typeface="+mj-lt"/>
                <a:cs typeface="Arial"/>
              </a:rPr>
              <a:t>Come up with the </a:t>
            </a:r>
            <a:r>
              <a:rPr lang="en-US" sz="2600" dirty="0">
                <a:solidFill>
                  <a:srgbClr val="008000"/>
                </a:solidFill>
                <a:latin typeface="+mj-lt"/>
                <a:cs typeface="Arial"/>
              </a:rPr>
              <a:t>best query plan</a:t>
            </a:r>
            <a:r>
              <a:rPr lang="en-US" sz="2600" dirty="0">
                <a:solidFill>
                  <a:srgbClr val="558ED5"/>
                </a:solidFill>
                <a:latin typeface="+mj-lt"/>
                <a:cs typeface="Arial"/>
              </a:rPr>
              <a:t> that minimizes the amount of work to be done at the </a:t>
            </a:r>
            <a:r>
              <a:rPr lang="en-US" sz="2600" dirty="0">
                <a:solidFill>
                  <a:srgbClr val="008000"/>
                </a:solidFill>
                <a:latin typeface="+mj-lt"/>
                <a:cs typeface="Arial"/>
              </a:rPr>
              <a:t>client side</a:t>
            </a:r>
            <a:r>
              <a:rPr lang="en-US" sz="2600" dirty="0">
                <a:solidFill>
                  <a:srgbClr val="558ED5"/>
                </a:solidFill>
                <a:latin typeface="+mj-lt"/>
                <a:cs typeface="Arial"/>
              </a:rPr>
              <a:t>.</a:t>
            </a:r>
          </a:p>
          <a:p>
            <a:pPr algn="just" eaLnBrk="1" hangingPunct="1">
              <a:buFont typeface="Arial" charset="0"/>
              <a:buChar char="•"/>
              <a:defRPr/>
            </a:pPr>
            <a:r>
              <a:rPr lang="en-US" sz="2600" dirty="0">
                <a:latin typeface="+mj-lt"/>
              </a:rPr>
              <a:t>Given a query </a:t>
            </a:r>
            <a:r>
              <a:rPr lang="en-US" sz="2600" i="1" dirty="0">
                <a:latin typeface="+mj-lt"/>
              </a:rPr>
              <a:t>Q, the goal is to split the computation of Q across the server </a:t>
            </a:r>
            <a:r>
              <a:rPr lang="en-US" sz="2600" dirty="0">
                <a:latin typeface="+mj-lt"/>
              </a:rPr>
              <a:t>and the client.</a:t>
            </a:r>
            <a:endParaRPr lang="en-US" sz="2600" dirty="0">
              <a:solidFill>
                <a:srgbClr val="558ED5"/>
              </a:solidFill>
              <a:latin typeface="+mj-lt"/>
              <a:cs typeface="Arial"/>
            </a:endParaRPr>
          </a:p>
          <a:p>
            <a:pPr marL="0" indent="0" algn="just" eaLnBrk="1" fontAlgn="auto" hangingPunct="1">
              <a:spcBef>
                <a:spcPts val="2400"/>
              </a:spcBef>
              <a:spcAft>
                <a:spcPts val="0"/>
              </a:spcAft>
              <a:buFont typeface="Arial" charset="0"/>
              <a:buNone/>
              <a:defRPr/>
            </a:pPr>
            <a:r>
              <a:rPr lang="en-US" sz="2600" b="1" dirty="0">
                <a:latin typeface="+mj-lt"/>
                <a:cs typeface="Arial"/>
              </a:rPr>
              <a:t>Cost of a query:</a:t>
            </a:r>
          </a:p>
          <a:p>
            <a:pPr algn="just" eaLnBrk="1" fontAlgn="auto" hangingPunct="1">
              <a:spcAft>
                <a:spcPts val="0"/>
              </a:spcAft>
              <a:defRPr/>
            </a:pPr>
            <a:r>
              <a:rPr lang="en-US" sz="2600" dirty="0">
                <a:latin typeface="+mj-lt"/>
                <a:cs typeface="Arial"/>
              </a:rPr>
              <a:t>I/O &amp; CPU cost of evaluating the query at the server.</a:t>
            </a:r>
          </a:p>
          <a:p>
            <a:pPr algn="just" eaLnBrk="1" fontAlgn="auto" hangingPunct="1">
              <a:spcAft>
                <a:spcPts val="0"/>
              </a:spcAft>
              <a:defRPr/>
            </a:pPr>
            <a:r>
              <a:rPr lang="en-US" sz="2600" dirty="0">
                <a:latin typeface="+mj-lt"/>
                <a:cs typeface="Arial"/>
              </a:rPr>
              <a:t>Network transmission cost</a:t>
            </a:r>
          </a:p>
          <a:p>
            <a:pPr algn="just" eaLnBrk="1" fontAlgn="auto" hangingPunct="1">
              <a:spcAft>
                <a:spcPts val="0"/>
              </a:spcAft>
              <a:defRPr/>
            </a:pPr>
            <a:r>
              <a:rPr lang="en-US" sz="2600" dirty="0">
                <a:latin typeface="+mj-lt"/>
                <a:cs typeface="Arial"/>
              </a:rPr>
              <a:t>I/O &amp; CPU cost at the client.</a:t>
            </a:r>
          </a:p>
        </p:txBody>
      </p:sp>
      <p:sp>
        <p:nvSpPr>
          <p:cNvPr id="4" name="Slide Number Placeholder 3">
            <a:extLst>
              <a:ext uri="{FF2B5EF4-FFF2-40B4-BE49-F238E27FC236}">
                <a16:creationId xmlns:a16="http://schemas.microsoft.com/office/drawing/2014/main" id="{249B9DB1-E37D-A0AD-3DBE-22DFA14DB68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D551B748-432B-435B-B743-08CF3A1AF011}" type="slidenum">
              <a:rPr lang="en-US" altLang="en-US">
                <a:solidFill>
                  <a:srgbClr val="898989"/>
                </a:solidFill>
              </a:rPr>
              <a:pPr eaLnBrk="1" hangingPunct="1"/>
              <a:t>49</a:t>
            </a:fld>
            <a:endParaRPr lang="en-US" altLang="en-US">
              <a:solidFill>
                <a:srgbClr val="898989"/>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2">
            <a:extLst>
              <a:ext uri="{FF2B5EF4-FFF2-40B4-BE49-F238E27FC236}">
                <a16:creationId xmlns:a16="http://schemas.microsoft.com/office/drawing/2014/main" id="{E14D7442-0207-A4C9-E2B4-5676CA8A69A7}"/>
              </a:ext>
            </a:extLst>
          </p:cNvPr>
          <p:cNvSpPr>
            <a:spLocks noGrp="1"/>
          </p:cNvSpPr>
          <p:nvPr>
            <p:ph idx="1"/>
          </p:nvPr>
        </p:nvSpPr>
        <p:spPr/>
        <p:txBody>
          <a:bodyPr/>
          <a:lstStyle/>
          <a:p>
            <a:pPr algn="just" eaLnBrk="1" hangingPunct="1"/>
            <a:r>
              <a:rPr lang="en-US" altLang="en-US" sz="2600"/>
              <a:t>As an example, consider the following query over the </a:t>
            </a:r>
            <a:r>
              <a:rPr lang="en-US" altLang="en-US" sz="2600">
                <a:solidFill>
                  <a:srgbClr val="FF0000"/>
                </a:solidFill>
              </a:rPr>
              <a:t>emp</a:t>
            </a:r>
            <a:r>
              <a:rPr lang="en-US" altLang="en-US" sz="2600"/>
              <a:t> table than retrieves employees </a:t>
            </a:r>
            <a:r>
              <a:rPr lang="en-US" altLang="en-US" sz="2600">
                <a:solidFill>
                  <a:srgbClr val="0000CC"/>
                </a:solidFill>
              </a:rPr>
              <a:t>whose salary is greater that the average salary of employees </a:t>
            </a:r>
            <a:r>
              <a:rPr lang="en-US" altLang="en-US" sz="2600"/>
              <a:t>in the department identified by </a:t>
            </a:r>
            <a:r>
              <a:rPr lang="en-US" altLang="en-US" sz="2600">
                <a:solidFill>
                  <a:srgbClr val="FF0000"/>
                </a:solidFill>
              </a:rPr>
              <a:t>did = 1</a:t>
            </a:r>
            <a:r>
              <a:rPr lang="en-US" altLang="en-US" sz="2600"/>
              <a:t>.</a:t>
            </a:r>
          </a:p>
        </p:txBody>
      </p:sp>
      <p:pic>
        <p:nvPicPr>
          <p:cNvPr id="52227" name="Picture 2">
            <a:extLst>
              <a:ext uri="{FF2B5EF4-FFF2-40B4-BE49-F238E27FC236}">
                <a16:creationId xmlns:a16="http://schemas.microsoft.com/office/drawing/2014/main" id="{8310835C-ED00-6B59-597B-0D8A4E77AF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3810000"/>
            <a:ext cx="6400800" cy="126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Title 1">
            <a:extLst>
              <a:ext uri="{FF2B5EF4-FFF2-40B4-BE49-F238E27FC236}">
                <a16:creationId xmlns:a16="http://schemas.microsoft.com/office/drawing/2014/main" id="{98383B9D-ED8A-2055-B38A-AB3267667181}"/>
              </a:ext>
            </a:extLst>
          </p:cNvPr>
          <p:cNvSpPr>
            <a:spLocks noGrp="1"/>
          </p:cNvSpPr>
          <p:nvPr>
            <p:ph type="title"/>
          </p:nvPr>
        </p:nvSpPr>
        <p:spPr/>
        <p:txBody>
          <a:bodyPr/>
          <a:lstStyle/>
          <a:p>
            <a:pPr eaLnBrk="1" hangingPunct="1"/>
            <a:r>
              <a:rPr lang="en-US" altLang="en-US" sz="3600" b="1"/>
              <a:t>Query Execution</a:t>
            </a:r>
          </a:p>
        </p:txBody>
      </p:sp>
      <p:sp>
        <p:nvSpPr>
          <p:cNvPr id="5" name="Slide Number Placeholder 4">
            <a:extLst>
              <a:ext uri="{FF2B5EF4-FFF2-40B4-BE49-F238E27FC236}">
                <a16:creationId xmlns:a16="http://schemas.microsoft.com/office/drawing/2014/main" id="{13BFFC97-8F13-0CC8-F84A-60CD41B5D44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993128F7-9632-4B01-97E5-61390A69EDBF}" type="slidenum">
              <a:rPr lang="en-US" altLang="en-US">
                <a:solidFill>
                  <a:srgbClr val="898989"/>
                </a:solidFill>
              </a:rPr>
              <a:pPr eaLnBrk="1" hangingPunct="1"/>
              <a:t>50</a:t>
            </a:fld>
            <a:endParaRPr lang="en-US" altLang="en-US">
              <a:solidFill>
                <a:srgbClr val="898989"/>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a:extLst>
              <a:ext uri="{FF2B5EF4-FFF2-40B4-BE49-F238E27FC236}">
                <a16:creationId xmlns:a16="http://schemas.microsoft.com/office/drawing/2014/main" id="{C58922D8-B077-3310-BE7E-84A8D96F145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066800"/>
            <a:ext cx="50673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TextBox 3">
            <a:extLst>
              <a:ext uri="{FF2B5EF4-FFF2-40B4-BE49-F238E27FC236}">
                <a16:creationId xmlns:a16="http://schemas.microsoft.com/office/drawing/2014/main" id="{A290BBD1-8635-2988-5535-362EF9B4C192}"/>
              </a:ext>
            </a:extLst>
          </p:cNvPr>
          <p:cNvSpPr txBox="1">
            <a:spLocks noChangeArrowheads="1"/>
          </p:cNvSpPr>
          <p:nvPr/>
        </p:nvSpPr>
        <p:spPr bwMode="auto">
          <a:xfrm>
            <a:off x="381000" y="4267200"/>
            <a:ext cx="3200400" cy="769938"/>
          </a:xfrm>
          <a:prstGeom prst="rect">
            <a:avLst/>
          </a:prstGeom>
          <a:noFill/>
          <a:ln w="9525">
            <a:noFill/>
            <a:miter lim="800000"/>
            <a:headEnd/>
            <a:tailEnd/>
          </a:ln>
        </p:spPr>
        <p:txBody>
          <a:bodyPr>
            <a:spAutoFit/>
          </a:bodyPr>
          <a:lstStyle/>
          <a:p>
            <a:pPr>
              <a:defRPr/>
            </a:pPr>
            <a:r>
              <a:rPr lang="en-US" sz="2200" dirty="0">
                <a:latin typeface="+mj-lt"/>
              </a:rPr>
              <a:t>Server </a:t>
            </a:r>
            <a:r>
              <a:rPr lang="en-US" sz="2200" dirty="0">
                <a:solidFill>
                  <a:srgbClr val="FF0000"/>
                </a:solidFill>
                <a:latin typeface="+mj-lt"/>
              </a:rPr>
              <a:t>computes average salary &amp; passes it to client</a:t>
            </a:r>
            <a:r>
              <a:rPr lang="en-US" sz="2200" dirty="0">
                <a:latin typeface="+mj-lt"/>
              </a:rPr>
              <a:t>.</a:t>
            </a:r>
          </a:p>
        </p:txBody>
      </p:sp>
      <p:sp>
        <p:nvSpPr>
          <p:cNvPr id="53253" name="TextBox 4">
            <a:extLst>
              <a:ext uri="{FF2B5EF4-FFF2-40B4-BE49-F238E27FC236}">
                <a16:creationId xmlns:a16="http://schemas.microsoft.com/office/drawing/2014/main" id="{B7B174EC-F204-9768-54FE-F79D61D77B6B}"/>
              </a:ext>
            </a:extLst>
          </p:cNvPr>
          <p:cNvSpPr txBox="1">
            <a:spLocks noChangeArrowheads="1"/>
          </p:cNvSpPr>
          <p:nvPr/>
        </p:nvSpPr>
        <p:spPr bwMode="auto">
          <a:xfrm>
            <a:off x="457200" y="1524000"/>
            <a:ext cx="3352800" cy="1108075"/>
          </a:xfrm>
          <a:prstGeom prst="rect">
            <a:avLst/>
          </a:prstGeom>
          <a:noFill/>
          <a:ln w="9525">
            <a:noFill/>
            <a:miter lim="800000"/>
            <a:headEnd/>
            <a:tailEnd/>
          </a:ln>
        </p:spPr>
        <p:txBody>
          <a:bodyPr>
            <a:spAutoFit/>
          </a:bodyPr>
          <a:lstStyle/>
          <a:p>
            <a:pPr algn="just">
              <a:defRPr/>
            </a:pPr>
            <a:r>
              <a:rPr lang="en-US" sz="2200" dirty="0">
                <a:latin typeface="+mj-lt"/>
              </a:rPr>
              <a:t>Client fetches </a:t>
            </a:r>
            <a:r>
              <a:rPr lang="en-US" sz="2200" b="1" dirty="0" err="1">
                <a:latin typeface="+mj-lt"/>
              </a:rPr>
              <a:t>emp</a:t>
            </a:r>
            <a:r>
              <a:rPr lang="en-US" sz="2200" dirty="0">
                <a:latin typeface="+mj-lt"/>
              </a:rPr>
              <a:t> table &amp; filters the records that matches the average salary.</a:t>
            </a:r>
          </a:p>
        </p:txBody>
      </p:sp>
      <p:sp>
        <p:nvSpPr>
          <p:cNvPr id="6" name="Slide Number Placeholder 5">
            <a:extLst>
              <a:ext uri="{FF2B5EF4-FFF2-40B4-BE49-F238E27FC236}">
                <a16:creationId xmlns:a16="http://schemas.microsoft.com/office/drawing/2014/main" id="{3446CCEB-5963-E219-1106-91E335C24F1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6486B778-60EF-47E5-A673-C5CC5371F8E0}" type="slidenum">
              <a:rPr lang="en-US" altLang="en-US">
                <a:solidFill>
                  <a:srgbClr val="898989"/>
                </a:solidFill>
              </a:rPr>
              <a:pPr eaLnBrk="1" hangingPunct="1"/>
              <a:t>51</a:t>
            </a:fld>
            <a:endParaRPr lang="en-US" altLang="en-US">
              <a:solidFill>
                <a:srgbClr val="898989"/>
              </a:solidFill>
            </a:endParaRPr>
          </a:p>
        </p:txBody>
      </p:sp>
      <p:sp>
        <p:nvSpPr>
          <p:cNvPr id="53254" name="Title 1">
            <a:extLst>
              <a:ext uri="{FF2B5EF4-FFF2-40B4-BE49-F238E27FC236}">
                <a16:creationId xmlns:a16="http://schemas.microsoft.com/office/drawing/2014/main" id="{B4C9EF85-966C-78BC-B47A-C5F009F03289}"/>
              </a:ext>
            </a:extLst>
          </p:cNvPr>
          <p:cNvSpPr>
            <a:spLocks noGrp="1"/>
          </p:cNvSpPr>
          <p:nvPr>
            <p:ph type="title"/>
          </p:nvPr>
        </p:nvSpPr>
        <p:spPr>
          <a:xfrm>
            <a:off x="457200" y="76200"/>
            <a:ext cx="8229600" cy="1143000"/>
          </a:xfrm>
        </p:spPr>
        <p:txBody>
          <a:bodyPr/>
          <a:lstStyle/>
          <a:p>
            <a:pPr eaLnBrk="1" hangingPunct="1"/>
            <a:r>
              <a:rPr lang="en-US" altLang="en-US" sz="3600" b="1"/>
              <a:t>Query Execution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a:extLst>
              <a:ext uri="{FF2B5EF4-FFF2-40B4-BE49-F238E27FC236}">
                <a16:creationId xmlns:a16="http://schemas.microsoft.com/office/drawing/2014/main" id="{D9BB66FA-F752-AF64-EA24-BA530B9E8F9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500" y="587375"/>
            <a:ext cx="4737100" cy="596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TextBox 2">
            <a:extLst>
              <a:ext uri="{FF2B5EF4-FFF2-40B4-BE49-F238E27FC236}">
                <a16:creationId xmlns:a16="http://schemas.microsoft.com/office/drawing/2014/main" id="{B8AD74B6-1788-C7FB-9DFE-34BFBB443110}"/>
              </a:ext>
            </a:extLst>
          </p:cNvPr>
          <p:cNvSpPr txBox="1">
            <a:spLocks noChangeArrowheads="1"/>
          </p:cNvSpPr>
          <p:nvPr/>
        </p:nvSpPr>
        <p:spPr bwMode="auto">
          <a:xfrm>
            <a:off x="4800600" y="3524250"/>
            <a:ext cx="3962400" cy="1446213"/>
          </a:xfrm>
          <a:prstGeom prst="rect">
            <a:avLst/>
          </a:prstGeom>
          <a:noFill/>
          <a:ln w="9525">
            <a:noFill/>
            <a:miter lim="800000"/>
            <a:headEnd/>
            <a:tailEnd/>
          </a:ln>
        </p:spPr>
        <p:txBody>
          <a:bodyPr>
            <a:spAutoFit/>
          </a:bodyPr>
          <a:lstStyle/>
          <a:p>
            <a:pPr algn="just">
              <a:defRPr/>
            </a:pPr>
            <a:r>
              <a:rPr lang="en-US" sz="2200" dirty="0">
                <a:latin typeface="+mj-lt"/>
              </a:rPr>
              <a:t>Server does both </a:t>
            </a:r>
            <a:r>
              <a:rPr lang="en-US" sz="2200" dirty="0">
                <a:solidFill>
                  <a:srgbClr val="FF0000"/>
                </a:solidFill>
                <a:latin typeface="+mj-lt"/>
              </a:rPr>
              <a:t>average salary calculation as well as filtering the records</a:t>
            </a:r>
            <a:r>
              <a:rPr lang="en-US" sz="2200" dirty="0">
                <a:latin typeface="+mj-lt"/>
              </a:rPr>
              <a:t> </a:t>
            </a:r>
            <a:r>
              <a:rPr lang="en-US" sz="2200" dirty="0">
                <a:solidFill>
                  <a:srgbClr val="FF0000"/>
                </a:solidFill>
                <a:latin typeface="+mj-lt"/>
              </a:rPr>
              <a:t>that matches with the average salary</a:t>
            </a:r>
            <a:r>
              <a:rPr lang="en-US" sz="2200" dirty="0">
                <a:latin typeface="+mj-lt"/>
              </a:rPr>
              <a:t>.</a:t>
            </a:r>
          </a:p>
        </p:txBody>
      </p:sp>
      <p:sp>
        <p:nvSpPr>
          <p:cNvPr id="5" name="Slide Number Placeholder 4">
            <a:extLst>
              <a:ext uri="{FF2B5EF4-FFF2-40B4-BE49-F238E27FC236}">
                <a16:creationId xmlns:a16="http://schemas.microsoft.com/office/drawing/2014/main" id="{2BA05028-6674-5672-30CF-122CA8F9C3E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22351FA2-D89F-459D-9D89-DA9AC41A331A}" type="slidenum">
              <a:rPr lang="en-US" altLang="en-US">
                <a:solidFill>
                  <a:srgbClr val="898989"/>
                </a:solidFill>
              </a:rPr>
              <a:pPr eaLnBrk="1" hangingPunct="1"/>
              <a:t>52</a:t>
            </a:fld>
            <a:endParaRPr lang="en-US" altLang="en-US">
              <a:solidFill>
                <a:srgbClr val="898989"/>
              </a:solidFill>
            </a:endParaRPr>
          </a:p>
        </p:txBody>
      </p:sp>
      <p:sp>
        <p:nvSpPr>
          <p:cNvPr id="54277" name="Title 1">
            <a:extLst>
              <a:ext uri="{FF2B5EF4-FFF2-40B4-BE49-F238E27FC236}">
                <a16:creationId xmlns:a16="http://schemas.microsoft.com/office/drawing/2014/main" id="{B4EF0FEC-3CE1-22DA-6043-BD47B9518C01}"/>
              </a:ext>
            </a:extLst>
          </p:cNvPr>
          <p:cNvSpPr>
            <a:spLocks noGrp="1"/>
          </p:cNvSpPr>
          <p:nvPr>
            <p:ph type="title"/>
          </p:nvPr>
        </p:nvSpPr>
        <p:spPr>
          <a:xfrm>
            <a:off x="457200" y="0"/>
            <a:ext cx="8229600" cy="762000"/>
          </a:xfrm>
        </p:spPr>
        <p:txBody>
          <a:bodyPr/>
          <a:lstStyle/>
          <a:p>
            <a:pPr eaLnBrk="1" hangingPunct="1"/>
            <a:r>
              <a:rPr lang="en-US" altLang="en-US" sz="3600" b="1"/>
              <a:t>Query Execution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TextBox 2">
            <a:extLst>
              <a:ext uri="{FF2B5EF4-FFF2-40B4-BE49-F238E27FC236}">
                <a16:creationId xmlns:a16="http://schemas.microsoft.com/office/drawing/2014/main" id="{CB515DE0-68A1-E3AF-8720-D1C977E1F911}"/>
              </a:ext>
            </a:extLst>
          </p:cNvPr>
          <p:cNvSpPr txBox="1">
            <a:spLocks noChangeArrowheads="1"/>
          </p:cNvSpPr>
          <p:nvPr/>
        </p:nvSpPr>
        <p:spPr bwMode="auto">
          <a:xfrm>
            <a:off x="5334000" y="5029200"/>
            <a:ext cx="2971800" cy="769938"/>
          </a:xfrm>
          <a:prstGeom prst="rect">
            <a:avLst/>
          </a:prstGeom>
          <a:noFill/>
          <a:ln w="9525">
            <a:noFill/>
            <a:miter lim="800000"/>
            <a:headEnd/>
            <a:tailEnd/>
          </a:ln>
        </p:spPr>
        <p:txBody>
          <a:bodyPr>
            <a:spAutoFit/>
          </a:bodyPr>
          <a:lstStyle/>
          <a:p>
            <a:pPr algn="just">
              <a:defRPr/>
            </a:pPr>
            <a:r>
              <a:rPr lang="en-US" sz="2200" dirty="0">
                <a:latin typeface="+mj-lt"/>
              </a:rPr>
              <a:t>Compute </a:t>
            </a:r>
            <a:r>
              <a:rPr lang="en-US" sz="2200" dirty="0">
                <a:solidFill>
                  <a:srgbClr val="FF0000"/>
                </a:solidFill>
                <a:latin typeface="+mj-lt"/>
              </a:rPr>
              <a:t>inner query at server</a:t>
            </a:r>
          </a:p>
        </p:txBody>
      </p:sp>
      <p:sp>
        <p:nvSpPr>
          <p:cNvPr id="55300" name="TextBox 3">
            <a:extLst>
              <a:ext uri="{FF2B5EF4-FFF2-40B4-BE49-F238E27FC236}">
                <a16:creationId xmlns:a16="http://schemas.microsoft.com/office/drawing/2014/main" id="{8A02D777-C937-8D77-C5AC-84E7AA1E6513}"/>
              </a:ext>
            </a:extLst>
          </p:cNvPr>
          <p:cNvSpPr txBox="1">
            <a:spLocks noChangeArrowheads="1"/>
          </p:cNvSpPr>
          <p:nvPr/>
        </p:nvSpPr>
        <p:spPr bwMode="auto">
          <a:xfrm>
            <a:off x="5257800" y="3962400"/>
            <a:ext cx="3276600" cy="769938"/>
          </a:xfrm>
          <a:prstGeom prst="rect">
            <a:avLst/>
          </a:prstGeom>
          <a:noFill/>
          <a:ln w="9525">
            <a:noFill/>
            <a:miter lim="800000"/>
            <a:headEnd/>
            <a:tailEnd/>
          </a:ln>
        </p:spPr>
        <p:txBody>
          <a:bodyPr>
            <a:spAutoFit/>
          </a:bodyPr>
          <a:lstStyle/>
          <a:p>
            <a:pPr>
              <a:defRPr/>
            </a:pPr>
            <a:r>
              <a:rPr lang="en-US" sz="2200" dirty="0">
                <a:latin typeface="+mj-lt"/>
              </a:rPr>
              <a:t>Client </a:t>
            </a:r>
            <a:r>
              <a:rPr lang="en-US" sz="2200" dirty="0">
                <a:solidFill>
                  <a:srgbClr val="FF0000"/>
                </a:solidFill>
                <a:latin typeface="+mj-lt"/>
              </a:rPr>
              <a:t>decrypt the result &amp; computes average salary</a:t>
            </a:r>
          </a:p>
        </p:txBody>
      </p:sp>
      <p:sp>
        <p:nvSpPr>
          <p:cNvPr id="55301" name="TextBox 4">
            <a:extLst>
              <a:ext uri="{FF2B5EF4-FFF2-40B4-BE49-F238E27FC236}">
                <a16:creationId xmlns:a16="http://schemas.microsoft.com/office/drawing/2014/main" id="{B57C8710-3AD7-8056-8979-F6FB27E03A8F}"/>
              </a:ext>
            </a:extLst>
          </p:cNvPr>
          <p:cNvSpPr txBox="1">
            <a:spLocks noChangeArrowheads="1"/>
          </p:cNvSpPr>
          <p:nvPr/>
        </p:nvSpPr>
        <p:spPr bwMode="auto">
          <a:xfrm>
            <a:off x="5105400" y="990600"/>
            <a:ext cx="3124200" cy="1446213"/>
          </a:xfrm>
          <a:prstGeom prst="rect">
            <a:avLst/>
          </a:prstGeom>
          <a:noFill/>
          <a:ln w="9525">
            <a:noFill/>
            <a:miter lim="800000"/>
            <a:headEnd/>
            <a:tailEnd/>
          </a:ln>
        </p:spPr>
        <p:txBody>
          <a:bodyPr>
            <a:spAutoFit/>
          </a:bodyPr>
          <a:lstStyle/>
          <a:p>
            <a:pPr algn="just">
              <a:defRPr/>
            </a:pPr>
            <a:r>
              <a:rPr lang="en-US" sz="2200" dirty="0">
                <a:latin typeface="+mj-lt"/>
              </a:rPr>
              <a:t>Client imports encrypted table, decrypts it and runs the query filtered by average salary</a:t>
            </a:r>
          </a:p>
        </p:txBody>
      </p:sp>
      <p:pic>
        <p:nvPicPr>
          <p:cNvPr id="2" name="Picture 3">
            <a:extLst>
              <a:ext uri="{FF2B5EF4-FFF2-40B4-BE49-F238E27FC236}">
                <a16:creationId xmlns:a16="http://schemas.microsoft.com/office/drawing/2014/main" id="{13A0D653-37A2-3D01-7311-A0D41BFE866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65200"/>
            <a:ext cx="4533900" cy="528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Slide Number Placeholder 6">
            <a:extLst>
              <a:ext uri="{FF2B5EF4-FFF2-40B4-BE49-F238E27FC236}">
                <a16:creationId xmlns:a16="http://schemas.microsoft.com/office/drawing/2014/main" id="{47A16999-B51F-B0D2-BD34-CB28992DF44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36AC8604-F118-431A-AB05-E2A18BFC1E5A}" type="slidenum">
              <a:rPr lang="en-US" altLang="en-US">
                <a:solidFill>
                  <a:srgbClr val="898989"/>
                </a:solidFill>
              </a:rPr>
              <a:pPr eaLnBrk="1" hangingPunct="1"/>
              <a:t>53</a:t>
            </a:fld>
            <a:endParaRPr lang="en-US" altLang="en-US">
              <a:solidFill>
                <a:srgbClr val="898989"/>
              </a:solidFill>
            </a:endParaRPr>
          </a:p>
        </p:txBody>
      </p:sp>
      <p:sp>
        <p:nvSpPr>
          <p:cNvPr id="9" name="Title 1">
            <a:extLst>
              <a:ext uri="{FF2B5EF4-FFF2-40B4-BE49-F238E27FC236}">
                <a16:creationId xmlns:a16="http://schemas.microsoft.com/office/drawing/2014/main" id="{AF27D712-9C55-132D-BE6A-4671150CE8CB}"/>
              </a:ext>
            </a:extLst>
          </p:cNvPr>
          <p:cNvSpPr txBox="1">
            <a:spLocks/>
          </p:cNvSpPr>
          <p:nvPr/>
        </p:nvSpPr>
        <p:spPr bwMode="auto">
          <a:xfrm>
            <a:off x="609600" y="76200"/>
            <a:ext cx="8229600" cy="868363"/>
          </a:xfrm>
          <a:prstGeom prst="rect">
            <a:avLst/>
          </a:prstGeom>
          <a:noFill/>
          <a:ln w="9525">
            <a:noFill/>
            <a:miter lim="800000"/>
            <a:headEnd/>
            <a:tailEnd/>
          </a:ln>
        </p:spPr>
        <p:txBody>
          <a:bodyPr anchor="ctr"/>
          <a:lstStyle/>
          <a:p>
            <a:pPr algn="ctr">
              <a:defRPr/>
            </a:pPr>
            <a:r>
              <a:rPr lang="en-US" sz="3600" b="1" dirty="0">
                <a:latin typeface="+mj-lt"/>
                <a:ea typeface="+mj-ea"/>
                <a:cs typeface="+mj-cs"/>
              </a:rPr>
              <a:t>Query Execution</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3">
            <a:extLst>
              <a:ext uri="{FF2B5EF4-FFF2-40B4-BE49-F238E27FC236}">
                <a16:creationId xmlns:a16="http://schemas.microsoft.com/office/drawing/2014/main" id="{0C91ECC5-CF36-7162-B692-591B3656CDF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143000"/>
            <a:ext cx="708025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3" name="TextBox 2">
            <a:extLst>
              <a:ext uri="{FF2B5EF4-FFF2-40B4-BE49-F238E27FC236}">
                <a16:creationId xmlns:a16="http://schemas.microsoft.com/office/drawing/2014/main" id="{EEA1A889-3FBB-F398-5EC9-8151C879F12B}"/>
              </a:ext>
            </a:extLst>
          </p:cNvPr>
          <p:cNvSpPr txBox="1">
            <a:spLocks noChangeArrowheads="1"/>
          </p:cNvSpPr>
          <p:nvPr/>
        </p:nvSpPr>
        <p:spPr bwMode="auto">
          <a:xfrm>
            <a:off x="762000" y="5145088"/>
            <a:ext cx="31242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eaLnBrk="1" hangingPunct="1"/>
            <a:r>
              <a:rPr lang="en-US" altLang="en-US"/>
              <a:t>Evaluate the inner query at the server</a:t>
            </a:r>
          </a:p>
        </p:txBody>
      </p:sp>
      <p:sp>
        <p:nvSpPr>
          <p:cNvPr id="56324" name="TextBox 3">
            <a:extLst>
              <a:ext uri="{FF2B5EF4-FFF2-40B4-BE49-F238E27FC236}">
                <a16:creationId xmlns:a16="http://schemas.microsoft.com/office/drawing/2014/main" id="{43AA98BE-01F8-16BE-C66B-B204289C4060}"/>
              </a:ext>
            </a:extLst>
          </p:cNvPr>
          <p:cNvSpPr txBox="1">
            <a:spLocks noChangeArrowheads="1"/>
          </p:cNvSpPr>
          <p:nvPr/>
        </p:nvSpPr>
        <p:spPr bwMode="auto">
          <a:xfrm>
            <a:off x="685800" y="3600450"/>
            <a:ext cx="3352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eaLnBrk="1" hangingPunct="1"/>
            <a:r>
              <a:rPr lang="en-US" altLang="en-US"/>
              <a:t>Results are shipped to client which decrypts the tuples and computes average salary.</a:t>
            </a:r>
          </a:p>
        </p:txBody>
      </p:sp>
      <p:sp>
        <p:nvSpPr>
          <p:cNvPr id="56325" name="TextBox 4">
            <a:extLst>
              <a:ext uri="{FF2B5EF4-FFF2-40B4-BE49-F238E27FC236}">
                <a16:creationId xmlns:a16="http://schemas.microsoft.com/office/drawing/2014/main" id="{BC6AA8BC-750B-7FA2-3C11-CB10E7C6A1D9}"/>
              </a:ext>
            </a:extLst>
          </p:cNvPr>
          <p:cNvSpPr txBox="1">
            <a:spLocks noChangeArrowheads="1"/>
          </p:cNvSpPr>
          <p:nvPr/>
        </p:nvSpPr>
        <p:spPr bwMode="auto">
          <a:xfrm>
            <a:off x="5181600" y="1905000"/>
            <a:ext cx="3352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eaLnBrk="1" hangingPunct="1"/>
            <a:r>
              <a:rPr lang="en-US" altLang="en-US"/>
              <a:t>Average salary is encrypted by client &amp; shipped to server which computes the join at the server.</a:t>
            </a:r>
          </a:p>
        </p:txBody>
      </p:sp>
      <p:sp>
        <p:nvSpPr>
          <p:cNvPr id="56326" name="TextBox 5">
            <a:extLst>
              <a:ext uri="{FF2B5EF4-FFF2-40B4-BE49-F238E27FC236}">
                <a16:creationId xmlns:a16="http://schemas.microsoft.com/office/drawing/2014/main" id="{EA4C2BBD-4328-0871-A202-9FF9E6874F25}"/>
              </a:ext>
            </a:extLst>
          </p:cNvPr>
          <p:cNvSpPr txBox="1">
            <a:spLocks noChangeArrowheads="1"/>
          </p:cNvSpPr>
          <p:nvPr/>
        </p:nvSpPr>
        <p:spPr bwMode="auto">
          <a:xfrm>
            <a:off x="5181600" y="1219200"/>
            <a:ext cx="3276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eaLnBrk="1" hangingPunct="1"/>
            <a:r>
              <a:rPr lang="en-US" altLang="en-US"/>
              <a:t>Results are decrypted at the client</a:t>
            </a:r>
          </a:p>
        </p:txBody>
      </p:sp>
      <p:sp>
        <p:nvSpPr>
          <p:cNvPr id="8" name="Slide Number Placeholder 7">
            <a:extLst>
              <a:ext uri="{FF2B5EF4-FFF2-40B4-BE49-F238E27FC236}">
                <a16:creationId xmlns:a16="http://schemas.microsoft.com/office/drawing/2014/main" id="{2E7D694F-3075-AD17-3187-9DB2FDD6713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FB4AB78B-1B74-4AAC-853A-18B9BFFECD3B}" type="slidenum">
              <a:rPr lang="en-US" altLang="en-US">
                <a:solidFill>
                  <a:srgbClr val="898989"/>
                </a:solidFill>
              </a:rPr>
              <a:pPr eaLnBrk="1" hangingPunct="1"/>
              <a:t>54</a:t>
            </a:fld>
            <a:endParaRPr lang="en-US" altLang="en-US">
              <a:solidFill>
                <a:srgbClr val="898989"/>
              </a:solidFill>
            </a:endParaRPr>
          </a:p>
        </p:txBody>
      </p:sp>
      <p:sp>
        <p:nvSpPr>
          <p:cNvPr id="10" name="Title 1">
            <a:extLst>
              <a:ext uri="{FF2B5EF4-FFF2-40B4-BE49-F238E27FC236}">
                <a16:creationId xmlns:a16="http://schemas.microsoft.com/office/drawing/2014/main" id="{F1E6ACB6-F4F8-AF71-0498-1D577D426FB1}"/>
              </a:ext>
            </a:extLst>
          </p:cNvPr>
          <p:cNvSpPr txBox="1">
            <a:spLocks/>
          </p:cNvSpPr>
          <p:nvPr/>
        </p:nvSpPr>
        <p:spPr bwMode="auto">
          <a:xfrm>
            <a:off x="609600" y="152400"/>
            <a:ext cx="8229600" cy="868363"/>
          </a:xfrm>
          <a:prstGeom prst="rect">
            <a:avLst/>
          </a:prstGeom>
          <a:noFill/>
          <a:ln w="9525">
            <a:noFill/>
            <a:miter lim="800000"/>
            <a:headEnd/>
            <a:tailEnd/>
          </a:ln>
        </p:spPr>
        <p:txBody>
          <a:bodyPr anchor="ctr"/>
          <a:lstStyle/>
          <a:p>
            <a:pPr algn="ctr">
              <a:defRPr/>
            </a:pPr>
            <a:r>
              <a:rPr lang="en-US" sz="3600" b="1" dirty="0">
                <a:latin typeface="+mj-lt"/>
                <a:ea typeface="+mj-ea"/>
                <a:cs typeface="+mj-cs"/>
              </a:rPr>
              <a:t>Query Execution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59DF6D19-E7A8-14DF-5813-BD5B09BD9BE2}"/>
              </a:ext>
            </a:extLst>
          </p:cNvPr>
          <p:cNvSpPr>
            <a:spLocks noGrp="1"/>
          </p:cNvSpPr>
          <p:nvPr>
            <p:ph type="title"/>
          </p:nvPr>
        </p:nvSpPr>
        <p:spPr>
          <a:xfrm>
            <a:off x="457200" y="274638"/>
            <a:ext cx="7848600" cy="1325562"/>
          </a:xfrm>
        </p:spPr>
        <p:txBody>
          <a:bodyPr/>
          <a:lstStyle/>
          <a:p>
            <a:pPr eaLnBrk="1" hangingPunct="1"/>
            <a:r>
              <a:rPr lang="en-US" altLang="en-US" sz="3600" b="1"/>
              <a:t>Supporting Aggregation Operators in Queries</a:t>
            </a:r>
          </a:p>
        </p:txBody>
      </p:sp>
      <p:sp>
        <p:nvSpPr>
          <p:cNvPr id="57347" name="Content Placeholder 2">
            <a:extLst>
              <a:ext uri="{FF2B5EF4-FFF2-40B4-BE49-F238E27FC236}">
                <a16:creationId xmlns:a16="http://schemas.microsoft.com/office/drawing/2014/main" id="{45E755F2-39A1-C105-515F-F2F80BF396AE}"/>
              </a:ext>
            </a:extLst>
          </p:cNvPr>
          <p:cNvSpPr>
            <a:spLocks noGrp="1"/>
          </p:cNvSpPr>
          <p:nvPr>
            <p:ph idx="1"/>
          </p:nvPr>
        </p:nvSpPr>
        <p:spPr>
          <a:xfrm>
            <a:off x="304800" y="1828800"/>
            <a:ext cx="8229600" cy="4800600"/>
          </a:xfrm>
        </p:spPr>
        <p:txBody>
          <a:bodyPr/>
          <a:lstStyle/>
          <a:p>
            <a:pPr algn="just" eaLnBrk="1" hangingPunct="1">
              <a:spcBef>
                <a:spcPts val="1200"/>
              </a:spcBef>
              <a:spcAft>
                <a:spcPts val="1200"/>
              </a:spcAft>
              <a:buFont typeface="Arial" charset="0"/>
              <a:buChar char="•"/>
              <a:defRPr/>
            </a:pPr>
            <a:r>
              <a:rPr lang="en-US" sz="2600" dirty="0">
                <a:latin typeface="+mj-lt"/>
                <a:ea typeface="ＭＳ Ｐゴシック" pitchFamily="34" charset="-128"/>
                <a:cs typeface="Arial" charset="0"/>
              </a:rPr>
              <a:t>Information hiding techniques do not work for arithmetic operators (aggregation) but works well in comparison operators.</a:t>
            </a:r>
          </a:p>
          <a:p>
            <a:pPr algn="just" eaLnBrk="1" hangingPunct="1">
              <a:spcBef>
                <a:spcPts val="1200"/>
              </a:spcBef>
              <a:spcAft>
                <a:spcPts val="1200"/>
              </a:spcAft>
              <a:buFont typeface="Arial" charset="0"/>
              <a:buChar char="•"/>
              <a:defRPr/>
            </a:pPr>
            <a:r>
              <a:rPr lang="en-US" sz="2600" dirty="0">
                <a:latin typeface="+mj-lt"/>
                <a:ea typeface="ＭＳ Ｐゴシック" pitchFamily="34" charset="-128"/>
                <a:cs typeface="Arial" charset="0"/>
              </a:rPr>
              <a:t>Encryption based approached (PH) works well in arithmetic operation (aggregation) but can not handle comparison operation.</a:t>
            </a:r>
          </a:p>
          <a:p>
            <a:pPr algn="just" eaLnBrk="1" hangingPunct="1">
              <a:spcBef>
                <a:spcPts val="1200"/>
              </a:spcBef>
              <a:spcAft>
                <a:spcPts val="1200"/>
              </a:spcAft>
              <a:buFont typeface="Arial" charset="0"/>
              <a:buChar char="•"/>
              <a:defRPr/>
            </a:pPr>
            <a:r>
              <a:rPr lang="en-US" sz="2600" dirty="0">
                <a:latin typeface="+mj-lt"/>
                <a:ea typeface="ＭＳ Ｐゴシック" pitchFamily="34" charset="-128"/>
                <a:cs typeface="Arial" charset="0"/>
              </a:rPr>
              <a:t>If aggregation is to be performed at the server side, </a:t>
            </a:r>
            <a:r>
              <a:rPr lang="en-US" sz="2600" dirty="0">
                <a:solidFill>
                  <a:srgbClr val="008000"/>
                </a:solidFill>
                <a:latin typeface="+mj-lt"/>
                <a:ea typeface="ＭＳ Ｐゴシック" pitchFamily="34" charset="-128"/>
                <a:cs typeface="Arial" charset="0"/>
              </a:rPr>
              <a:t>information hiding approach has to be augmented with an </a:t>
            </a:r>
            <a:r>
              <a:rPr lang="en-US" sz="2600" b="1" dirty="0">
                <a:solidFill>
                  <a:srgbClr val="008000"/>
                </a:solidFill>
                <a:latin typeface="+mj-lt"/>
                <a:ea typeface="ＭＳ Ｐゴシック" pitchFamily="34" charset="-128"/>
                <a:cs typeface="Arial" charset="0"/>
              </a:rPr>
              <a:t>encryption</a:t>
            </a:r>
            <a:r>
              <a:rPr lang="en-US" sz="2600" dirty="0">
                <a:solidFill>
                  <a:srgbClr val="008000"/>
                </a:solidFill>
                <a:latin typeface="+mj-lt"/>
                <a:ea typeface="ＭＳ Ｐゴシック" pitchFamily="34" charset="-128"/>
                <a:cs typeface="Arial" charset="0"/>
              </a:rPr>
              <a:t> approach</a:t>
            </a:r>
            <a:r>
              <a:rPr lang="en-US" sz="2600" dirty="0">
                <a:latin typeface="+mj-lt"/>
                <a:ea typeface="ＭＳ Ｐゴシック" pitchFamily="34" charset="-128"/>
                <a:cs typeface="Arial" charset="0"/>
              </a:rPr>
              <a:t> that supports arithmetic operation on encrypted representation.</a:t>
            </a:r>
          </a:p>
        </p:txBody>
      </p:sp>
      <p:sp>
        <p:nvSpPr>
          <p:cNvPr id="4" name="Slide Number Placeholder 3">
            <a:extLst>
              <a:ext uri="{FF2B5EF4-FFF2-40B4-BE49-F238E27FC236}">
                <a16:creationId xmlns:a16="http://schemas.microsoft.com/office/drawing/2014/main" id="{17253B4C-69C8-82DD-8F80-9C649DC76E0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99EC6C72-270D-44E9-BFCC-E63A1E0BD979}" type="slidenum">
              <a:rPr lang="en-US" altLang="en-US">
                <a:solidFill>
                  <a:srgbClr val="898989"/>
                </a:solidFill>
              </a:rPr>
              <a:pPr eaLnBrk="1" hangingPunct="1"/>
              <a:t>55</a:t>
            </a:fld>
            <a:endParaRPr lang="en-US" altLang="en-US">
              <a:solidFill>
                <a:srgbClr val="898989"/>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Content Placeholder 2">
            <a:extLst>
              <a:ext uri="{FF2B5EF4-FFF2-40B4-BE49-F238E27FC236}">
                <a16:creationId xmlns:a16="http://schemas.microsoft.com/office/drawing/2014/main" id="{5AC9CAA2-4885-9F78-19D8-C4DE4F941CC9}"/>
              </a:ext>
            </a:extLst>
          </p:cNvPr>
          <p:cNvSpPr>
            <a:spLocks noGrp="1"/>
          </p:cNvSpPr>
          <p:nvPr>
            <p:ph idx="1"/>
          </p:nvPr>
        </p:nvSpPr>
        <p:spPr>
          <a:xfrm>
            <a:off x="457200" y="1752600"/>
            <a:ext cx="8229600" cy="4800600"/>
          </a:xfrm>
        </p:spPr>
        <p:txBody>
          <a:bodyPr/>
          <a:lstStyle/>
          <a:p>
            <a:pPr algn="just" eaLnBrk="1" hangingPunct="1">
              <a:spcBef>
                <a:spcPts val="600"/>
              </a:spcBef>
              <a:spcAft>
                <a:spcPts val="600"/>
              </a:spcAft>
              <a:buFont typeface="Arial" charset="0"/>
              <a:buChar char="•"/>
              <a:defRPr/>
            </a:pPr>
            <a:r>
              <a:rPr lang="en-US" sz="2600" dirty="0">
                <a:latin typeface="+mj-lt"/>
                <a:ea typeface="ＭＳ Ｐゴシック" pitchFamily="34" charset="-128"/>
                <a:cs typeface="Arial" charset="0"/>
              </a:rPr>
              <a:t>Again as information hiding approach can not exactly identify the aggregate target group to be aggregated, we may separate it into two subsets – one that qualifies the conditions specified in the query and another that may or may not satisfy the selection predicates of the query.</a:t>
            </a:r>
          </a:p>
          <a:p>
            <a:pPr algn="just" eaLnBrk="1" hangingPunct="1">
              <a:spcBef>
                <a:spcPts val="600"/>
              </a:spcBef>
              <a:spcAft>
                <a:spcPts val="600"/>
              </a:spcAft>
              <a:buFont typeface="Arial" charset="0"/>
              <a:buChar char="•"/>
              <a:defRPr/>
            </a:pPr>
            <a:r>
              <a:rPr lang="en-US" sz="2600" dirty="0">
                <a:latin typeface="+mj-lt"/>
                <a:ea typeface="ＭＳ Ｐゴシック" pitchFamily="34" charset="-128"/>
                <a:cs typeface="Arial" charset="0"/>
              </a:rPr>
              <a:t>The first may be directly aggregated at the server side using PH while the </a:t>
            </a:r>
            <a:r>
              <a:rPr lang="en-US" sz="2600" dirty="0" err="1">
                <a:latin typeface="+mj-lt"/>
                <a:ea typeface="ＭＳ Ｐゴシック" pitchFamily="34" charset="-128"/>
                <a:cs typeface="Arial" charset="0"/>
              </a:rPr>
              <a:t>tuples</a:t>
            </a:r>
            <a:r>
              <a:rPr lang="en-US" sz="2600" dirty="0">
                <a:latin typeface="+mj-lt"/>
                <a:ea typeface="ＭＳ Ｐゴシック" pitchFamily="34" charset="-128"/>
                <a:cs typeface="Arial" charset="0"/>
              </a:rPr>
              <a:t> belonging to the second category will need to be transmitted to the client side to determine if they need to satisfy the query condition.</a:t>
            </a:r>
          </a:p>
        </p:txBody>
      </p:sp>
      <p:sp>
        <p:nvSpPr>
          <p:cNvPr id="4" name="Slide Number Placeholder 3">
            <a:extLst>
              <a:ext uri="{FF2B5EF4-FFF2-40B4-BE49-F238E27FC236}">
                <a16:creationId xmlns:a16="http://schemas.microsoft.com/office/drawing/2014/main" id="{65BF63B1-604A-4150-F183-0146C64AF00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B6381DBC-E3BB-4AE7-B58E-9540D6F300AA}" type="slidenum">
              <a:rPr lang="en-US" altLang="en-US">
                <a:solidFill>
                  <a:srgbClr val="898989"/>
                </a:solidFill>
              </a:rPr>
              <a:pPr eaLnBrk="1" hangingPunct="1"/>
              <a:t>56</a:t>
            </a:fld>
            <a:endParaRPr lang="en-US" altLang="en-US">
              <a:solidFill>
                <a:srgbClr val="898989"/>
              </a:solidFill>
            </a:endParaRPr>
          </a:p>
        </p:txBody>
      </p:sp>
      <p:sp>
        <p:nvSpPr>
          <p:cNvPr id="58372" name="Title 1">
            <a:extLst>
              <a:ext uri="{FF2B5EF4-FFF2-40B4-BE49-F238E27FC236}">
                <a16:creationId xmlns:a16="http://schemas.microsoft.com/office/drawing/2014/main" id="{4B2086E0-FA26-56AB-F343-E6B9DBD0FC54}"/>
              </a:ext>
            </a:extLst>
          </p:cNvPr>
          <p:cNvSpPr>
            <a:spLocks noGrp="1"/>
          </p:cNvSpPr>
          <p:nvPr>
            <p:ph type="title"/>
          </p:nvPr>
        </p:nvSpPr>
        <p:spPr>
          <a:xfrm>
            <a:off x="457200" y="274638"/>
            <a:ext cx="7848600" cy="1325562"/>
          </a:xfrm>
        </p:spPr>
        <p:txBody>
          <a:bodyPr/>
          <a:lstStyle/>
          <a:p>
            <a:pPr eaLnBrk="1" hangingPunct="1"/>
            <a:r>
              <a:rPr lang="en-US" altLang="en-US" sz="3600" b="1"/>
              <a:t>Supporting Aggregation Operators in Queries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C473D2CB-7901-A1B1-24CD-59B4F98217F4}"/>
              </a:ext>
            </a:extLst>
          </p:cNvPr>
          <p:cNvSpPr>
            <a:spLocks noGrp="1"/>
          </p:cNvSpPr>
          <p:nvPr>
            <p:ph type="title"/>
          </p:nvPr>
        </p:nvSpPr>
        <p:spPr>
          <a:xfrm>
            <a:off x="457200" y="274638"/>
            <a:ext cx="7620000" cy="1325562"/>
          </a:xfrm>
        </p:spPr>
        <p:txBody>
          <a:bodyPr/>
          <a:lstStyle/>
          <a:p>
            <a:pPr eaLnBrk="1" hangingPunct="1"/>
            <a:r>
              <a:rPr lang="en-US" altLang="en-US" sz="3600" b="1"/>
              <a:t>Query Optimization in DAS</a:t>
            </a:r>
          </a:p>
        </p:txBody>
      </p:sp>
      <p:sp>
        <p:nvSpPr>
          <p:cNvPr id="99330" name="Content Placeholder 2">
            <a:extLst>
              <a:ext uri="{FF2B5EF4-FFF2-40B4-BE49-F238E27FC236}">
                <a16:creationId xmlns:a16="http://schemas.microsoft.com/office/drawing/2014/main" id="{B2DE5DAB-975D-8F00-EB22-0F5A1C72CB54}"/>
              </a:ext>
            </a:extLst>
          </p:cNvPr>
          <p:cNvSpPr>
            <a:spLocks noGrp="1"/>
          </p:cNvSpPr>
          <p:nvPr>
            <p:ph idx="1"/>
          </p:nvPr>
        </p:nvSpPr>
        <p:spPr>
          <a:xfrm>
            <a:off x="457200" y="1600200"/>
            <a:ext cx="8077200" cy="5105400"/>
          </a:xfrm>
        </p:spPr>
        <p:txBody>
          <a:bodyPr rtlCol="0">
            <a:normAutofit/>
          </a:bodyPr>
          <a:lstStyle/>
          <a:p>
            <a:pPr marL="114300" indent="0" algn="just" eaLnBrk="1" fontAlgn="auto" hangingPunct="1">
              <a:spcBef>
                <a:spcPts val="600"/>
              </a:spcBef>
              <a:spcAft>
                <a:spcPts val="600"/>
              </a:spcAft>
              <a:buFont typeface="Arial" charset="0"/>
              <a:buNone/>
              <a:defRPr/>
            </a:pPr>
            <a:r>
              <a:rPr lang="en-US" sz="2600" b="1" dirty="0">
                <a:latin typeface="+mj-lt"/>
                <a:cs typeface="Arial"/>
              </a:rPr>
              <a:t>Cost based optimization model.</a:t>
            </a:r>
          </a:p>
          <a:p>
            <a:pPr algn="just" eaLnBrk="1" fontAlgn="auto" hangingPunct="1">
              <a:spcBef>
                <a:spcPts val="600"/>
              </a:spcBef>
              <a:spcAft>
                <a:spcPts val="600"/>
              </a:spcAft>
              <a:defRPr/>
            </a:pPr>
            <a:r>
              <a:rPr lang="en-US" sz="2600" dirty="0">
                <a:latin typeface="+mj-lt"/>
                <a:cs typeface="Arial"/>
              </a:rPr>
              <a:t>New </a:t>
            </a:r>
            <a:r>
              <a:rPr lang="en-US" sz="2600" b="1" dirty="0">
                <a:solidFill>
                  <a:srgbClr val="008000"/>
                </a:solidFill>
                <a:latin typeface="+mj-lt"/>
                <a:cs typeface="Arial"/>
              </a:rPr>
              <a:t>query processing functions</a:t>
            </a:r>
            <a:r>
              <a:rPr lang="en-US" sz="2600" dirty="0">
                <a:latin typeface="+mj-lt"/>
                <a:cs typeface="Arial"/>
              </a:rPr>
              <a:t> and new </a:t>
            </a:r>
            <a:r>
              <a:rPr lang="en-US" sz="2600" b="1" dirty="0">
                <a:solidFill>
                  <a:srgbClr val="008000"/>
                </a:solidFill>
                <a:latin typeface="+mj-lt"/>
                <a:cs typeface="Arial"/>
              </a:rPr>
              <a:t>query translation rules</a:t>
            </a:r>
            <a:r>
              <a:rPr lang="en-US" sz="2600" dirty="0">
                <a:latin typeface="+mj-lt"/>
                <a:cs typeface="Arial"/>
              </a:rPr>
              <a:t> that defines transfer of tuples from server to client and decryption at the client as operators in the query tree.</a:t>
            </a:r>
          </a:p>
          <a:p>
            <a:pPr algn="just" eaLnBrk="1" fontAlgn="auto" hangingPunct="1">
              <a:spcBef>
                <a:spcPts val="600"/>
              </a:spcBef>
              <a:spcAft>
                <a:spcPts val="600"/>
              </a:spcAft>
              <a:defRPr/>
            </a:pPr>
            <a:r>
              <a:rPr lang="en-US" sz="2600" dirty="0">
                <a:latin typeface="+mj-lt"/>
                <a:cs typeface="Arial"/>
              </a:rPr>
              <a:t>Given different hardware constraint and software capabilities at the client and server, </a:t>
            </a:r>
            <a:r>
              <a:rPr lang="en-US" sz="2600" dirty="0">
                <a:solidFill>
                  <a:srgbClr val="008000"/>
                </a:solidFill>
                <a:latin typeface="+mj-lt"/>
                <a:cs typeface="Arial"/>
              </a:rPr>
              <a:t>different cost measures are applied to the client side and server side computations</a:t>
            </a:r>
            <a:r>
              <a:rPr lang="en-US" sz="2600" dirty="0">
                <a:latin typeface="+mj-lt"/>
                <a:cs typeface="Arial"/>
              </a:rPr>
              <a:t>.</a:t>
            </a:r>
          </a:p>
          <a:p>
            <a:pPr algn="just" eaLnBrk="1" fontAlgn="auto" hangingPunct="1">
              <a:spcBef>
                <a:spcPts val="600"/>
              </a:spcBef>
              <a:spcAft>
                <a:spcPts val="600"/>
              </a:spcAft>
              <a:defRPr/>
            </a:pPr>
            <a:r>
              <a:rPr lang="en-US" sz="2600" dirty="0">
                <a:latin typeface="+mj-lt"/>
                <a:cs typeface="Arial"/>
              </a:rPr>
              <a:t>A novel query plan enumeration algorithm is developed that identifies the </a:t>
            </a:r>
            <a:r>
              <a:rPr lang="en-US" sz="2600" b="1" dirty="0">
                <a:latin typeface="+mj-lt"/>
                <a:cs typeface="Arial"/>
              </a:rPr>
              <a:t>least cost plan</a:t>
            </a:r>
            <a:r>
              <a:rPr lang="en-US" sz="2600" dirty="0">
                <a:latin typeface="+mj-lt"/>
                <a:cs typeface="Arial"/>
              </a:rPr>
              <a:t>.</a:t>
            </a:r>
          </a:p>
        </p:txBody>
      </p:sp>
      <p:sp>
        <p:nvSpPr>
          <p:cNvPr id="4" name="Slide Number Placeholder 3">
            <a:extLst>
              <a:ext uri="{FF2B5EF4-FFF2-40B4-BE49-F238E27FC236}">
                <a16:creationId xmlns:a16="http://schemas.microsoft.com/office/drawing/2014/main" id="{EA6B6D9B-104B-2E38-3022-0B492428338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D9B92C9D-723B-451A-A3F5-CBA4DDF0CE82}" type="slidenum">
              <a:rPr lang="en-US" altLang="en-US">
                <a:solidFill>
                  <a:srgbClr val="898989"/>
                </a:solidFill>
              </a:rPr>
              <a:pPr eaLnBrk="1" hangingPunct="1"/>
              <a:t>57</a:t>
            </a:fld>
            <a:endParaRPr lang="en-US" altLang="en-US">
              <a:solidFill>
                <a:srgbClr val="898989"/>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5F8D0888-34BC-8BD8-322F-2BD5FB3EECB3}"/>
              </a:ext>
            </a:extLst>
          </p:cNvPr>
          <p:cNvSpPr>
            <a:spLocks noGrp="1"/>
          </p:cNvSpPr>
          <p:nvPr>
            <p:ph type="title"/>
          </p:nvPr>
        </p:nvSpPr>
        <p:spPr>
          <a:xfrm>
            <a:off x="762000" y="274638"/>
            <a:ext cx="7620000" cy="1325562"/>
          </a:xfrm>
        </p:spPr>
        <p:txBody>
          <a:bodyPr/>
          <a:lstStyle/>
          <a:p>
            <a:pPr eaLnBrk="1" hangingPunct="1"/>
            <a:r>
              <a:rPr lang="en-US" altLang="en-US" sz="3600" b="1"/>
              <a:t>Keyword search on encrypted text data</a:t>
            </a:r>
          </a:p>
        </p:txBody>
      </p:sp>
      <p:sp>
        <p:nvSpPr>
          <p:cNvPr id="102402" name="Content Placeholder 2">
            <a:extLst>
              <a:ext uri="{FF2B5EF4-FFF2-40B4-BE49-F238E27FC236}">
                <a16:creationId xmlns:a16="http://schemas.microsoft.com/office/drawing/2014/main" id="{444E80A7-1CAA-0EC9-88F3-C328E8026830}"/>
              </a:ext>
            </a:extLst>
          </p:cNvPr>
          <p:cNvSpPr>
            <a:spLocks noGrp="1"/>
          </p:cNvSpPr>
          <p:nvPr>
            <p:ph idx="1"/>
          </p:nvPr>
        </p:nvSpPr>
        <p:spPr>
          <a:xfrm>
            <a:off x="457200" y="1752600"/>
            <a:ext cx="8305800" cy="3352800"/>
          </a:xfrm>
        </p:spPr>
        <p:txBody>
          <a:bodyPr rtlCol="0">
            <a:noAutofit/>
          </a:bodyPr>
          <a:lstStyle/>
          <a:p>
            <a:pPr algn="just" eaLnBrk="1" fontAlgn="auto" hangingPunct="1">
              <a:spcBef>
                <a:spcPts val="600"/>
              </a:spcBef>
              <a:spcAft>
                <a:spcPts val="600"/>
              </a:spcAft>
              <a:defRPr/>
            </a:pPr>
            <a:r>
              <a:rPr lang="en-US" sz="2600" dirty="0">
                <a:latin typeface="+mj-lt"/>
                <a:cs typeface="Arial"/>
              </a:rPr>
              <a:t>Collection of text documents to be stored in the server:</a:t>
            </a:r>
          </a:p>
          <a:p>
            <a:pPr marL="943200" indent="0" algn="just" eaLnBrk="1" fontAlgn="auto" hangingPunct="1">
              <a:spcBef>
                <a:spcPts val="600"/>
              </a:spcBef>
              <a:spcAft>
                <a:spcPts val="600"/>
              </a:spcAft>
              <a:buFont typeface="Arial" charset="0"/>
              <a:buNone/>
              <a:defRPr/>
            </a:pPr>
            <a:r>
              <a:rPr lang="en-US" sz="2600" dirty="0">
                <a:latin typeface="+mj-lt"/>
                <a:cs typeface="Arial"/>
              </a:rPr>
              <a:t>D = {D</a:t>
            </a:r>
            <a:r>
              <a:rPr lang="en-US" sz="2600" baseline="-25000" dirty="0">
                <a:latin typeface="+mj-lt"/>
                <a:cs typeface="Arial"/>
              </a:rPr>
              <a:t>1</a:t>
            </a:r>
            <a:r>
              <a:rPr lang="en-US" sz="2600" dirty="0">
                <a:latin typeface="+mj-lt"/>
                <a:cs typeface="Arial"/>
              </a:rPr>
              <a:t>,D</a:t>
            </a:r>
            <a:r>
              <a:rPr lang="en-US" sz="2600" baseline="-25000" dirty="0">
                <a:latin typeface="+mj-lt"/>
                <a:cs typeface="Arial"/>
              </a:rPr>
              <a:t>2</a:t>
            </a:r>
            <a:r>
              <a:rPr lang="en-US" sz="2600" dirty="0">
                <a:latin typeface="+mj-lt"/>
                <a:cs typeface="Arial"/>
              </a:rPr>
              <a:t>,D</a:t>
            </a:r>
            <a:r>
              <a:rPr lang="en-US" sz="2600" baseline="-25000" dirty="0">
                <a:latin typeface="+mj-lt"/>
                <a:cs typeface="Arial"/>
              </a:rPr>
              <a:t>3</a:t>
            </a:r>
            <a:r>
              <a:rPr lang="en-US" sz="2600" dirty="0">
                <a:latin typeface="+mj-lt"/>
                <a:cs typeface="Arial"/>
              </a:rPr>
              <a:t> . . . , </a:t>
            </a:r>
            <a:r>
              <a:rPr lang="en-US" sz="2600" dirty="0" err="1">
                <a:latin typeface="+mj-lt"/>
                <a:cs typeface="Arial"/>
              </a:rPr>
              <a:t>D</a:t>
            </a:r>
            <a:r>
              <a:rPr lang="en-US" sz="2600" baseline="-25000" dirty="0" err="1">
                <a:latin typeface="+mj-lt"/>
                <a:cs typeface="Arial"/>
              </a:rPr>
              <a:t>n</a:t>
            </a:r>
            <a:r>
              <a:rPr lang="en-US" sz="2600" dirty="0">
                <a:latin typeface="+mj-lt"/>
                <a:cs typeface="Arial"/>
              </a:rPr>
              <a:t>} </a:t>
            </a:r>
          </a:p>
          <a:p>
            <a:pPr algn="just" eaLnBrk="1" fontAlgn="auto" hangingPunct="1">
              <a:spcBef>
                <a:spcPts val="600"/>
              </a:spcBef>
              <a:spcAft>
                <a:spcPts val="600"/>
              </a:spcAft>
              <a:defRPr/>
            </a:pPr>
            <a:r>
              <a:rPr lang="en-US" sz="2600" dirty="0">
                <a:latin typeface="+mj-lt"/>
                <a:cs typeface="Arial"/>
              </a:rPr>
              <a:t>Where a document is modeled as set of keywords </a:t>
            </a:r>
          </a:p>
          <a:p>
            <a:pPr marL="943200" indent="0" algn="just" eaLnBrk="1" fontAlgn="auto" hangingPunct="1">
              <a:spcBef>
                <a:spcPts val="600"/>
              </a:spcBef>
              <a:spcAft>
                <a:spcPts val="600"/>
              </a:spcAft>
              <a:buFont typeface="Arial" charset="0"/>
              <a:buNone/>
              <a:defRPr/>
            </a:pPr>
            <a:r>
              <a:rPr lang="en-US" sz="2600" dirty="0">
                <a:latin typeface="+mj-lt"/>
                <a:cs typeface="Arial"/>
              </a:rPr>
              <a:t>D</a:t>
            </a:r>
            <a:r>
              <a:rPr lang="en-US" sz="2600" baseline="-25000" dirty="0">
                <a:latin typeface="+mj-lt"/>
                <a:cs typeface="Arial"/>
              </a:rPr>
              <a:t>i</a:t>
            </a:r>
            <a:r>
              <a:rPr lang="en-US" sz="2600" dirty="0">
                <a:latin typeface="+mj-lt"/>
                <a:cs typeface="Arial"/>
              </a:rPr>
              <a:t> = {W</a:t>
            </a:r>
            <a:r>
              <a:rPr lang="en-US" sz="2600" baseline="30000" dirty="0">
                <a:latin typeface="+mj-lt"/>
                <a:cs typeface="Arial"/>
              </a:rPr>
              <a:t>D</a:t>
            </a:r>
            <a:r>
              <a:rPr lang="en-US" sz="2600" baseline="-25000" dirty="0">
                <a:latin typeface="+mj-lt"/>
                <a:cs typeface="Arial"/>
              </a:rPr>
              <a:t>1</a:t>
            </a:r>
            <a:r>
              <a:rPr lang="en-US" sz="2600" dirty="0">
                <a:latin typeface="+mj-lt"/>
                <a:cs typeface="Arial"/>
              </a:rPr>
              <a:t>, W</a:t>
            </a:r>
            <a:r>
              <a:rPr lang="en-US" sz="2600" baseline="30000" dirty="0">
                <a:latin typeface="+mj-lt"/>
                <a:cs typeface="Arial"/>
              </a:rPr>
              <a:t>D</a:t>
            </a:r>
            <a:r>
              <a:rPr lang="en-US" sz="2600" baseline="-25000" dirty="0">
                <a:latin typeface="+mj-lt"/>
                <a:cs typeface="Arial"/>
              </a:rPr>
              <a:t>2,</a:t>
            </a:r>
            <a:r>
              <a:rPr lang="en-US" sz="2600" dirty="0">
                <a:latin typeface="+mj-lt"/>
                <a:cs typeface="Arial"/>
              </a:rPr>
              <a:t> W</a:t>
            </a:r>
            <a:r>
              <a:rPr lang="en-US" sz="2600" baseline="30000" dirty="0">
                <a:latin typeface="+mj-lt"/>
                <a:cs typeface="Arial"/>
              </a:rPr>
              <a:t>D</a:t>
            </a:r>
            <a:r>
              <a:rPr lang="en-US" sz="2600" baseline="-25000" dirty="0">
                <a:latin typeface="+mj-lt"/>
                <a:cs typeface="Arial"/>
              </a:rPr>
              <a:t>3</a:t>
            </a:r>
            <a:r>
              <a:rPr lang="en-US" sz="2600" dirty="0">
                <a:latin typeface="+mj-lt"/>
                <a:cs typeface="Arial"/>
              </a:rPr>
              <a:t>...,</a:t>
            </a:r>
            <a:r>
              <a:rPr lang="en-US" sz="2600" dirty="0" err="1">
                <a:latin typeface="+mj-lt"/>
                <a:cs typeface="Arial"/>
              </a:rPr>
              <a:t>W</a:t>
            </a:r>
            <a:r>
              <a:rPr lang="en-US" sz="2600" baseline="30000" dirty="0" err="1">
                <a:latin typeface="+mj-lt"/>
                <a:cs typeface="Arial"/>
              </a:rPr>
              <a:t>D</a:t>
            </a:r>
            <a:r>
              <a:rPr lang="en-US" sz="2600" baseline="-25000" dirty="0" err="1">
                <a:latin typeface="+mj-lt"/>
                <a:cs typeface="Arial"/>
              </a:rPr>
              <a:t>n</a:t>
            </a:r>
            <a:r>
              <a:rPr lang="en-US" sz="2600" dirty="0">
                <a:latin typeface="+mj-lt"/>
                <a:cs typeface="Arial"/>
              </a:rPr>
              <a:t>}, </a:t>
            </a:r>
          </a:p>
          <a:p>
            <a:pPr algn="just" eaLnBrk="1" fontAlgn="auto" hangingPunct="1">
              <a:spcBef>
                <a:spcPts val="600"/>
              </a:spcBef>
              <a:spcAft>
                <a:spcPts val="600"/>
              </a:spcAft>
              <a:defRPr/>
            </a:pPr>
            <a:r>
              <a:rPr lang="en-US" sz="2600" dirty="0">
                <a:latin typeface="+mj-lt"/>
                <a:cs typeface="Arial"/>
              </a:rPr>
              <a:t>Each word </a:t>
            </a:r>
            <a:r>
              <a:rPr lang="pl-PL" sz="2600" dirty="0">
                <a:latin typeface="+mj-lt"/>
                <a:cs typeface="Arial"/>
              </a:rPr>
              <a:t>w ∈ W and W </a:t>
            </a:r>
            <a:r>
              <a:rPr lang="pl-PL" sz="2600" dirty="0" err="1">
                <a:latin typeface="+mj-lt"/>
                <a:cs typeface="Arial"/>
              </a:rPr>
              <a:t>is</a:t>
            </a:r>
            <a:r>
              <a:rPr lang="pl-PL" sz="2600" dirty="0">
                <a:latin typeface="+mj-lt"/>
                <a:cs typeface="Arial"/>
              </a:rPr>
              <a:t> a set of </a:t>
            </a:r>
            <a:r>
              <a:rPr lang="pl-PL" sz="2600" dirty="0" err="1">
                <a:latin typeface="+mj-lt"/>
                <a:cs typeface="Arial"/>
              </a:rPr>
              <a:t>all</a:t>
            </a:r>
            <a:r>
              <a:rPr lang="pl-PL" sz="2600" dirty="0">
                <a:latin typeface="+mj-lt"/>
                <a:cs typeface="Arial"/>
              </a:rPr>
              <a:t> </a:t>
            </a:r>
            <a:r>
              <a:rPr lang="pl-PL" sz="2600" dirty="0" err="1">
                <a:latin typeface="+mj-lt"/>
                <a:cs typeface="Arial"/>
              </a:rPr>
              <a:t>possible</a:t>
            </a:r>
            <a:r>
              <a:rPr lang="pl-PL" sz="2600" dirty="0">
                <a:latin typeface="+mj-lt"/>
                <a:cs typeface="Arial"/>
              </a:rPr>
              <a:t> </a:t>
            </a:r>
            <a:r>
              <a:rPr lang="pl-PL" sz="2600" dirty="0" err="1">
                <a:latin typeface="+mj-lt"/>
                <a:cs typeface="Arial"/>
              </a:rPr>
              <a:t>keywords</a:t>
            </a:r>
            <a:r>
              <a:rPr lang="pl-PL" sz="2600" dirty="0">
                <a:latin typeface="+mj-lt"/>
                <a:cs typeface="Arial"/>
              </a:rPr>
              <a:t>.</a:t>
            </a:r>
          </a:p>
          <a:p>
            <a:pPr algn="just" eaLnBrk="1" fontAlgn="auto" hangingPunct="1">
              <a:spcBef>
                <a:spcPts val="600"/>
              </a:spcBef>
              <a:spcAft>
                <a:spcPts val="600"/>
              </a:spcAft>
              <a:defRPr/>
            </a:pPr>
            <a:endParaRPr lang="en-US" sz="2600" dirty="0">
              <a:latin typeface="+mj-lt"/>
              <a:cs typeface="Arial"/>
            </a:endParaRPr>
          </a:p>
        </p:txBody>
      </p:sp>
      <p:sp>
        <p:nvSpPr>
          <p:cNvPr id="4" name="Slide Number Placeholder 3">
            <a:extLst>
              <a:ext uri="{FF2B5EF4-FFF2-40B4-BE49-F238E27FC236}">
                <a16:creationId xmlns:a16="http://schemas.microsoft.com/office/drawing/2014/main" id="{EEE2E0D2-0E52-472C-1705-78415EAF111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4C147CE8-48C3-4C2B-9C3B-377A2526CD05}" type="slidenum">
              <a:rPr lang="en-US" altLang="en-US">
                <a:solidFill>
                  <a:srgbClr val="898989"/>
                </a:solidFill>
              </a:rPr>
              <a:pPr eaLnBrk="1" hangingPunct="1"/>
              <a:t>58</a:t>
            </a:fld>
            <a:endParaRPr lang="en-US" altLang="en-US">
              <a:solidFill>
                <a:srgbClr val="898989"/>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Content Placeholder 2">
            <a:extLst>
              <a:ext uri="{FF2B5EF4-FFF2-40B4-BE49-F238E27FC236}">
                <a16:creationId xmlns:a16="http://schemas.microsoft.com/office/drawing/2014/main" id="{0917A2DF-2189-09A3-9C97-FCD92C60038C}"/>
              </a:ext>
            </a:extLst>
          </p:cNvPr>
          <p:cNvSpPr>
            <a:spLocks noGrp="1"/>
          </p:cNvSpPr>
          <p:nvPr>
            <p:ph idx="1"/>
          </p:nvPr>
        </p:nvSpPr>
        <p:spPr>
          <a:xfrm>
            <a:off x="457200" y="1752600"/>
            <a:ext cx="8077200" cy="4648200"/>
          </a:xfrm>
        </p:spPr>
        <p:txBody>
          <a:bodyPr rtlCol="0">
            <a:noAutofit/>
          </a:bodyPr>
          <a:lstStyle/>
          <a:p>
            <a:pPr marL="114300" indent="0" eaLnBrk="1" fontAlgn="auto" hangingPunct="1">
              <a:spcBef>
                <a:spcPts val="600"/>
              </a:spcBef>
              <a:spcAft>
                <a:spcPts val="600"/>
              </a:spcAft>
              <a:buFont typeface="Arial" charset="0"/>
              <a:buNone/>
              <a:defRPr/>
            </a:pPr>
            <a:r>
              <a:rPr lang="en-US" sz="2600" dirty="0">
                <a:latin typeface="+mj-lt"/>
                <a:cs typeface="Arial"/>
              </a:rPr>
              <a:t>Each document is encrypted at the word level as follows:</a:t>
            </a:r>
          </a:p>
          <a:p>
            <a:pPr eaLnBrk="1" fontAlgn="auto" hangingPunct="1">
              <a:spcBef>
                <a:spcPts val="600"/>
              </a:spcBef>
              <a:spcAft>
                <a:spcPts val="600"/>
              </a:spcAft>
              <a:defRPr/>
            </a:pPr>
            <a:r>
              <a:rPr lang="en-US" sz="2600" dirty="0">
                <a:latin typeface="+mj-lt"/>
                <a:cs typeface="Arial"/>
              </a:rPr>
              <a:t>Each document is divided into equal length words (W) with extra padding 0 or 1.</a:t>
            </a:r>
          </a:p>
          <a:p>
            <a:pPr eaLnBrk="1" fontAlgn="auto" hangingPunct="1">
              <a:spcBef>
                <a:spcPts val="600"/>
              </a:spcBef>
              <a:spcAft>
                <a:spcPts val="600"/>
              </a:spcAft>
              <a:defRPr/>
            </a:pPr>
            <a:r>
              <a:rPr lang="en-US" sz="2600" dirty="0">
                <a:latin typeface="+mj-lt"/>
                <a:cs typeface="Arial"/>
              </a:rPr>
              <a:t>If we submit a query to the server, following subset of documents are expected to come :</a:t>
            </a:r>
          </a:p>
          <a:p>
            <a:pPr marL="943200" indent="0" eaLnBrk="1" fontAlgn="auto" hangingPunct="1">
              <a:spcBef>
                <a:spcPts val="600"/>
              </a:spcBef>
              <a:spcAft>
                <a:spcPts val="600"/>
              </a:spcAft>
              <a:buFont typeface="Arial" charset="0"/>
              <a:buNone/>
              <a:defRPr/>
            </a:pPr>
            <a:r>
              <a:rPr lang="is-IS" sz="2600" dirty="0">
                <a:latin typeface="+mj-lt"/>
                <a:cs typeface="Arial"/>
              </a:rPr>
              <a:t>Ans(q) = {D</a:t>
            </a:r>
            <a:r>
              <a:rPr lang="is-IS" sz="2600" baseline="-25000" dirty="0">
                <a:latin typeface="+mj-lt"/>
                <a:cs typeface="Arial"/>
              </a:rPr>
              <a:t>i</a:t>
            </a:r>
            <a:r>
              <a:rPr lang="is-IS" sz="2600" dirty="0">
                <a:latin typeface="+mj-lt"/>
                <a:cs typeface="Arial"/>
              </a:rPr>
              <a:t> ∈ D|∀k</a:t>
            </a:r>
            <a:r>
              <a:rPr lang="is-IS" sz="2600" baseline="-25000" dirty="0">
                <a:latin typeface="+mj-lt"/>
                <a:cs typeface="Arial"/>
              </a:rPr>
              <a:t>j</a:t>
            </a:r>
            <a:r>
              <a:rPr lang="is-IS" sz="2600" dirty="0">
                <a:latin typeface="+mj-lt"/>
                <a:cs typeface="Arial"/>
              </a:rPr>
              <a:t> ∈ q,k</a:t>
            </a:r>
            <a:r>
              <a:rPr lang="is-IS" sz="2600" baseline="-25000" dirty="0">
                <a:latin typeface="+mj-lt"/>
                <a:cs typeface="Arial"/>
              </a:rPr>
              <a:t>j</a:t>
            </a:r>
            <a:r>
              <a:rPr lang="is-IS" sz="2600" dirty="0">
                <a:latin typeface="+mj-lt"/>
                <a:cs typeface="Arial"/>
              </a:rPr>
              <a:t> ∈ D</a:t>
            </a:r>
            <a:r>
              <a:rPr lang="is-IS" sz="2600" baseline="-25000" dirty="0">
                <a:latin typeface="+mj-lt"/>
                <a:cs typeface="Arial"/>
              </a:rPr>
              <a:t>i</a:t>
            </a:r>
            <a:r>
              <a:rPr lang="is-IS" sz="2600" dirty="0">
                <a:latin typeface="+mj-lt"/>
                <a:cs typeface="Arial"/>
              </a:rPr>
              <a:t>} </a:t>
            </a:r>
          </a:p>
          <a:p>
            <a:pPr marL="907200" indent="0" eaLnBrk="1" fontAlgn="auto" hangingPunct="1">
              <a:spcBef>
                <a:spcPts val="600"/>
              </a:spcBef>
              <a:spcAft>
                <a:spcPts val="600"/>
              </a:spcAft>
              <a:buFont typeface="Arial" charset="0"/>
              <a:buNone/>
              <a:defRPr/>
            </a:pPr>
            <a:r>
              <a:rPr lang="en-US" sz="2600" dirty="0">
                <a:latin typeface="+mj-lt"/>
                <a:cs typeface="Arial"/>
              </a:rPr>
              <a:t>W</a:t>
            </a:r>
            <a:r>
              <a:rPr lang="pl-PL" sz="2600" dirty="0" err="1">
                <a:latin typeface="+mj-lt"/>
                <a:cs typeface="Arial"/>
              </a:rPr>
              <a:t>here</a:t>
            </a:r>
            <a:r>
              <a:rPr lang="pl-PL" sz="2600" dirty="0">
                <a:latin typeface="+mj-lt"/>
                <a:cs typeface="Arial"/>
              </a:rPr>
              <a:t> </a:t>
            </a:r>
            <a:r>
              <a:rPr lang="is-IS" sz="2600" dirty="0">
                <a:latin typeface="+mj-lt"/>
                <a:cs typeface="Arial"/>
              </a:rPr>
              <a:t>k</a:t>
            </a:r>
            <a:r>
              <a:rPr lang="is-IS" sz="2600" baseline="-25000" dirty="0">
                <a:latin typeface="+mj-lt"/>
                <a:cs typeface="Arial"/>
              </a:rPr>
              <a:t>j</a:t>
            </a:r>
            <a:r>
              <a:rPr lang="is-IS" sz="2600" dirty="0">
                <a:latin typeface="+mj-lt"/>
                <a:cs typeface="Arial"/>
              </a:rPr>
              <a:t> is the keyword in the query</a:t>
            </a:r>
          </a:p>
          <a:p>
            <a:pPr marL="259200" indent="0" eaLnBrk="1" fontAlgn="auto" hangingPunct="1">
              <a:spcBef>
                <a:spcPts val="600"/>
              </a:spcBef>
              <a:spcAft>
                <a:spcPts val="600"/>
              </a:spcAft>
              <a:buFont typeface="Arial" charset="0"/>
              <a:buNone/>
              <a:defRPr/>
            </a:pPr>
            <a:r>
              <a:rPr lang="en-US" sz="2600" dirty="0">
                <a:latin typeface="+mj-lt"/>
                <a:cs typeface="Arial"/>
              </a:rPr>
              <a:t>P</a:t>
            </a:r>
            <a:r>
              <a:rPr lang="is-IS" sz="2600" dirty="0">
                <a:latin typeface="+mj-lt"/>
                <a:cs typeface="Arial"/>
              </a:rPr>
              <a:t>rivate key based encryption schemme is used to design a matching technique on encrypted data that can search for any word in the document.</a:t>
            </a:r>
            <a:endParaRPr lang="pl-PL" sz="2600" dirty="0">
              <a:latin typeface="+mj-lt"/>
              <a:cs typeface="Arial"/>
            </a:endParaRPr>
          </a:p>
          <a:p>
            <a:pPr eaLnBrk="1" fontAlgn="auto" hangingPunct="1">
              <a:spcBef>
                <a:spcPts val="600"/>
              </a:spcBef>
              <a:spcAft>
                <a:spcPts val="600"/>
              </a:spcAft>
              <a:defRPr/>
            </a:pPr>
            <a:endParaRPr lang="en-US" sz="2600" dirty="0">
              <a:latin typeface="+mj-lt"/>
            </a:endParaRPr>
          </a:p>
        </p:txBody>
      </p:sp>
      <p:sp>
        <p:nvSpPr>
          <p:cNvPr id="4" name="Slide Number Placeholder 3">
            <a:extLst>
              <a:ext uri="{FF2B5EF4-FFF2-40B4-BE49-F238E27FC236}">
                <a16:creationId xmlns:a16="http://schemas.microsoft.com/office/drawing/2014/main" id="{615349C5-BF92-7D3B-A883-537F3E7B0BA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5EC3B4C4-2BD6-48B6-8A2D-23EBF16BE796}" type="slidenum">
              <a:rPr lang="en-US" altLang="en-US">
                <a:solidFill>
                  <a:srgbClr val="898989"/>
                </a:solidFill>
              </a:rPr>
              <a:pPr eaLnBrk="1" hangingPunct="1"/>
              <a:t>59</a:t>
            </a:fld>
            <a:endParaRPr lang="en-US" altLang="en-US">
              <a:solidFill>
                <a:srgbClr val="898989"/>
              </a:solidFill>
            </a:endParaRPr>
          </a:p>
        </p:txBody>
      </p:sp>
      <p:sp>
        <p:nvSpPr>
          <p:cNvPr id="61444" name="Title 1">
            <a:extLst>
              <a:ext uri="{FF2B5EF4-FFF2-40B4-BE49-F238E27FC236}">
                <a16:creationId xmlns:a16="http://schemas.microsoft.com/office/drawing/2014/main" id="{2EE8F818-3F53-9482-6B0A-FD33C496FB47}"/>
              </a:ext>
            </a:extLst>
          </p:cNvPr>
          <p:cNvSpPr>
            <a:spLocks noGrp="1"/>
          </p:cNvSpPr>
          <p:nvPr>
            <p:ph type="title"/>
          </p:nvPr>
        </p:nvSpPr>
        <p:spPr>
          <a:xfrm>
            <a:off x="762000" y="274638"/>
            <a:ext cx="7620000" cy="1325562"/>
          </a:xfrm>
        </p:spPr>
        <p:txBody>
          <a:bodyPr/>
          <a:lstStyle/>
          <a:p>
            <a:pPr eaLnBrk="1" hangingPunct="1"/>
            <a:r>
              <a:rPr lang="en-US" altLang="en-US" sz="3600" b="1"/>
              <a:t>Keyword search on encrypted text data</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1517AC60-DE7F-43D9-5397-C861C119F6A7}"/>
              </a:ext>
            </a:extLst>
          </p:cNvPr>
          <p:cNvSpPr>
            <a:spLocks noGrp="1"/>
          </p:cNvSpPr>
          <p:nvPr>
            <p:ph type="title"/>
          </p:nvPr>
        </p:nvSpPr>
        <p:spPr>
          <a:xfrm>
            <a:off x="457200" y="274638"/>
            <a:ext cx="7620000" cy="1325562"/>
          </a:xfrm>
        </p:spPr>
        <p:txBody>
          <a:bodyPr/>
          <a:lstStyle/>
          <a:p>
            <a:pPr eaLnBrk="1" hangingPunct="1"/>
            <a:r>
              <a:rPr lang="en-US" altLang="en-US" sz="3600" b="1"/>
              <a:t>Private Key based search scheme on encrypted text data</a:t>
            </a:r>
          </a:p>
        </p:txBody>
      </p:sp>
      <p:pic>
        <p:nvPicPr>
          <p:cNvPr id="62467" name="Picture 3">
            <a:extLst>
              <a:ext uri="{FF2B5EF4-FFF2-40B4-BE49-F238E27FC236}">
                <a16:creationId xmlns:a16="http://schemas.microsoft.com/office/drawing/2014/main" id="{3DB44A57-3DB8-4B31-4029-8ED54BB0D68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0375" y="1752600"/>
            <a:ext cx="7997825"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4FAE0BD5-0B46-045E-9760-E970B5933E1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C647F85B-E72D-4914-B09B-CF2C95723A64}" type="slidenum">
              <a:rPr lang="en-US" altLang="en-US">
                <a:solidFill>
                  <a:srgbClr val="898989"/>
                </a:solidFill>
              </a:rPr>
              <a:pPr eaLnBrk="1" hangingPunct="1"/>
              <a:t>60</a:t>
            </a:fld>
            <a:endParaRPr lang="en-US" altLang="en-US">
              <a:solidFill>
                <a:srgbClr val="898989"/>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FCBABFD8-9244-FDCD-6FF0-3E77F3C798D5}"/>
              </a:ext>
            </a:extLst>
          </p:cNvPr>
          <p:cNvSpPr>
            <a:spLocks noGrp="1"/>
          </p:cNvSpPr>
          <p:nvPr>
            <p:ph type="title"/>
          </p:nvPr>
        </p:nvSpPr>
        <p:spPr>
          <a:xfrm>
            <a:off x="457200" y="274638"/>
            <a:ext cx="7620000" cy="1325562"/>
          </a:xfrm>
        </p:spPr>
        <p:txBody>
          <a:bodyPr/>
          <a:lstStyle/>
          <a:p>
            <a:pPr eaLnBrk="1" hangingPunct="1"/>
            <a:r>
              <a:rPr lang="en-US" altLang="en-US" sz="3600" b="1"/>
              <a:t>Private Key based search scheme on encrypted text data</a:t>
            </a:r>
          </a:p>
        </p:txBody>
      </p:sp>
      <p:pic>
        <p:nvPicPr>
          <p:cNvPr id="63491" name="Picture 4">
            <a:extLst>
              <a:ext uri="{FF2B5EF4-FFF2-40B4-BE49-F238E27FC236}">
                <a16:creationId xmlns:a16="http://schemas.microsoft.com/office/drawing/2014/main" id="{7623C4FD-21A0-18CF-A9F5-7138097F346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98500" y="1676400"/>
            <a:ext cx="77343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04BA9BCB-9E80-6952-1049-4DF4211D463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62ABD6D8-4216-4E55-B2D9-078B3CD9C8D3}" type="slidenum">
              <a:rPr lang="en-US" altLang="en-US">
                <a:solidFill>
                  <a:srgbClr val="898989"/>
                </a:solidFill>
              </a:rPr>
              <a:pPr eaLnBrk="1" hangingPunct="1"/>
              <a:t>61</a:t>
            </a:fld>
            <a:endParaRPr lang="en-US" altLang="en-US">
              <a:solidFill>
                <a:srgbClr val="898989"/>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427DD2DD-A450-AA2E-23D7-78FCF57C8E21}"/>
              </a:ext>
            </a:extLst>
          </p:cNvPr>
          <p:cNvSpPr>
            <a:spLocks noGrp="1"/>
          </p:cNvSpPr>
          <p:nvPr>
            <p:ph type="title"/>
          </p:nvPr>
        </p:nvSpPr>
        <p:spPr/>
        <p:txBody>
          <a:bodyPr/>
          <a:lstStyle/>
          <a:p>
            <a:pPr eaLnBrk="1" hangingPunct="1"/>
            <a:r>
              <a:rPr lang="en-US" altLang="en-US" sz="3600" b="1"/>
              <a:t>Trapdoor Function</a:t>
            </a:r>
          </a:p>
        </p:txBody>
      </p:sp>
      <p:sp>
        <p:nvSpPr>
          <p:cNvPr id="103426" name="Content Placeholder 2">
            <a:extLst>
              <a:ext uri="{FF2B5EF4-FFF2-40B4-BE49-F238E27FC236}">
                <a16:creationId xmlns:a16="http://schemas.microsoft.com/office/drawing/2014/main" id="{4FFE4BD4-5864-EBA8-46BC-AB3C23533991}"/>
              </a:ext>
            </a:extLst>
          </p:cNvPr>
          <p:cNvSpPr>
            <a:spLocks noGrp="1"/>
          </p:cNvSpPr>
          <p:nvPr>
            <p:ph idx="1"/>
          </p:nvPr>
        </p:nvSpPr>
        <p:spPr>
          <a:xfrm>
            <a:off x="457200" y="1447800"/>
            <a:ext cx="8001000" cy="4800600"/>
          </a:xfrm>
        </p:spPr>
        <p:txBody>
          <a:bodyPr rtlCol="0">
            <a:normAutofit/>
          </a:bodyPr>
          <a:lstStyle/>
          <a:p>
            <a:pPr algn="just" eaLnBrk="1" fontAlgn="auto" hangingPunct="1">
              <a:lnSpc>
                <a:spcPct val="110000"/>
              </a:lnSpc>
              <a:spcAft>
                <a:spcPts val="0"/>
              </a:spcAft>
              <a:defRPr/>
            </a:pPr>
            <a:r>
              <a:rPr lang="en-US" sz="2600" dirty="0">
                <a:latin typeface="+mj-lt"/>
                <a:cs typeface="Arial"/>
              </a:rPr>
              <a:t>A trapdoor function is a function that is easy to perform one way, but has a secret that is required to perform the inverse calculation efficiently. </a:t>
            </a:r>
          </a:p>
          <a:p>
            <a:pPr algn="just" eaLnBrk="1" fontAlgn="auto" hangingPunct="1">
              <a:lnSpc>
                <a:spcPct val="110000"/>
              </a:lnSpc>
              <a:spcAft>
                <a:spcPts val="0"/>
              </a:spcAft>
              <a:defRPr/>
            </a:pPr>
            <a:r>
              <a:rPr lang="en-US" sz="2600" dirty="0">
                <a:latin typeface="+mj-lt"/>
                <a:cs typeface="Arial"/>
              </a:rPr>
              <a:t>That is, if </a:t>
            </a:r>
            <a:r>
              <a:rPr lang="en-US" sz="2600" b="1" dirty="0">
                <a:latin typeface="+mj-lt"/>
                <a:cs typeface="Arial"/>
              </a:rPr>
              <a:t>f</a:t>
            </a:r>
            <a:r>
              <a:rPr lang="en-US" sz="2600" dirty="0">
                <a:latin typeface="+mj-lt"/>
                <a:cs typeface="Arial"/>
              </a:rPr>
              <a:t> is a trapdoor function, then y=f(x) is easy to compute, but x=f</a:t>
            </a:r>
            <a:r>
              <a:rPr lang="en-US" sz="2600" baseline="30000" dirty="0">
                <a:latin typeface="+mj-lt"/>
                <a:cs typeface="Arial"/>
              </a:rPr>
              <a:t>−1</a:t>
            </a:r>
            <a:r>
              <a:rPr lang="en-US" sz="2600" dirty="0">
                <a:latin typeface="+mj-lt"/>
                <a:cs typeface="Arial"/>
              </a:rPr>
              <a:t>(y) is hard to compute without some special knowledge k. </a:t>
            </a:r>
          </a:p>
          <a:p>
            <a:pPr algn="just" eaLnBrk="1" fontAlgn="auto" hangingPunct="1">
              <a:lnSpc>
                <a:spcPct val="110000"/>
              </a:lnSpc>
              <a:spcAft>
                <a:spcPts val="0"/>
              </a:spcAft>
              <a:defRPr/>
            </a:pPr>
            <a:r>
              <a:rPr lang="en-US" sz="2600" dirty="0">
                <a:latin typeface="+mj-lt"/>
                <a:cs typeface="Arial"/>
              </a:rPr>
              <a:t>Given k, then it is easy to compute y=f</a:t>
            </a:r>
            <a:r>
              <a:rPr lang="en-US" sz="2600" baseline="30000" dirty="0">
                <a:latin typeface="+mj-lt"/>
                <a:cs typeface="Arial"/>
              </a:rPr>
              <a:t>−1</a:t>
            </a:r>
            <a:r>
              <a:rPr lang="en-US" sz="2600" dirty="0">
                <a:latin typeface="+mj-lt"/>
                <a:cs typeface="Arial"/>
              </a:rPr>
              <a:t>(</a:t>
            </a:r>
            <a:r>
              <a:rPr lang="en-US" sz="2600" dirty="0" err="1">
                <a:latin typeface="+mj-lt"/>
                <a:cs typeface="Arial"/>
              </a:rPr>
              <a:t>x,k</a:t>
            </a:r>
            <a:r>
              <a:rPr lang="en-US" sz="2600" dirty="0">
                <a:latin typeface="+mj-lt"/>
                <a:cs typeface="Arial"/>
              </a:rPr>
              <a:t>). </a:t>
            </a:r>
          </a:p>
          <a:p>
            <a:pPr marL="114300" indent="0" algn="just" eaLnBrk="1" fontAlgn="auto" hangingPunct="1">
              <a:spcAft>
                <a:spcPts val="0"/>
              </a:spcAft>
              <a:buFont typeface="Arial" charset="0"/>
              <a:buNone/>
              <a:defRPr/>
            </a:pPr>
            <a:endParaRPr lang="en-US" sz="2600" dirty="0">
              <a:latin typeface="+mj-lt"/>
            </a:endParaRPr>
          </a:p>
        </p:txBody>
      </p:sp>
      <p:sp>
        <p:nvSpPr>
          <p:cNvPr id="4" name="Slide Number Placeholder 3">
            <a:extLst>
              <a:ext uri="{FF2B5EF4-FFF2-40B4-BE49-F238E27FC236}">
                <a16:creationId xmlns:a16="http://schemas.microsoft.com/office/drawing/2014/main" id="{D60C2750-817C-395F-0366-26109DB4549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F4A444A-A563-4838-9373-1020536DF913}" type="slidenum">
              <a:rPr lang="en-US" altLang="en-US">
                <a:solidFill>
                  <a:srgbClr val="898989"/>
                </a:solidFill>
              </a:rPr>
              <a:pPr eaLnBrk="1" hangingPunct="1"/>
              <a:t>62</a:t>
            </a:fld>
            <a:endParaRPr lang="en-US" altLang="en-US">
              <a:solidFill>
                <a:srgbClr val="898989"/>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26523701-49D0-A1A4-6F3D-A01749524118}"/>
              </a:ext>
            </a:extLst>
          </p:cNvPr>
          <p:cNvSpPr>
            <a:spLocks noGrp="1"/>
          </p:cNvSpPr>
          <p:nvPr>
            <p:ph type="title"/>
          </p:nvPr>
        </p:nvSpPr>
        <p:spPr/>
        <p:txBody>
          <a:bodyPr/>
          <a:lstStyle/>
          <a:p>
            <a:pPr eaLnBrk="1" hangingPunct="1"/>
            <a:r>
              <a:rPr lang="en-US" altLang="en-US" sz="3600" b="1"/>
              <a:t>Trapdoor Function</a:t>
            </a:r>
          </a:p>
        </p:txBody>
      </p:sp>
      <p:sp>
        <p:nvSpPr>
          <p:cNvPr id="65539" name="Content Placeholder 2">
            <a:extLst>
              <a:ext uri="{FF2B5EF4-FFF2-40B4-BE49-F238E27FC236}">
                <a16:creationId xmlns:a16="http://schemas.microsoft.com/office/drawing/2014/main" id="{386E397D-CFE9-83FB-7399-858EFBFE0991}"/>
              </a:ext>
            </a:extLst>
          </p:cNvPr>
          <p:cNvSpPr>
            <a:spLocks noGrp="1"/>
          </p:cNvSpPr>
          <p:nvPr>
            <p:ph idx="1"/>
          </p:nvPr>
        </p:nvSpPr>
        <p:spPr>
          <a:xfrm>
            <a:off x="457200" y="1447800"/>
            <a:ext cx="8001000" cy="5105400"/>
          </a:xfrm>
        </p:spPr>
        <p:txBody>
          <a:bodyPr/>
          <a:lstStyle/>
          <a:p>
            <a:pPr algn="just" eaLnBrk="1" hangingPunct="1">
              <a:lnSpc>
                <a:spcPct val="110000"/>
              </a:lnSpc>
              <a:spcBef>
                <a:spcPts val="600"/>
              </a:spcBef>
              <a:spcAft>
                <a:spcPts val="600"/>
              </a:spcAft>
              <a:buFont typeface="Arial" charset="0"/>
              <a:buChar char="•"/>
              <a:defRPr/>
            </a:pPr>
            <a:r>
              <a:rPr lang="en-US" sz="2600" dirty="0">
                <a:latin typeface="+mj-lt"/>
                <a:ea typeface="ＭＳ Ｐゴシック" pitchFamily="34" charset="-128"/>
                <a:cs typeface="Arial" charset="0"/>
              </a:rPr>
              <a:t>The analogy to a "trapdoor" is something like this: It's easy to fall through a trapdoor, but it's very hard to climb back out and get to where you started unless you have a ladder.</a:t>
            </a:r>
          </a:p>
          <a:p>
            <a:pPr algn="just" eaLnBrk="1" hangingPunct="1">
              <a:lnSpc>
                <a:spcPct val="110000"/>
              </a:lnSpc>
              <a:spcBef>
                <a:spcPts val="600"/>
              </a:spcBef>
              <a:spcAft>
                <a:spcPts val="600"/>
              </a:spcAft>
              <a:buFont typeface="Arial" charset="0"/>
              <a:buChar char="•"/>
              <a:defRPr/>
            </a:pPr>
            <a:r>
              <a:rPr lang="en-US" sz="2600" dirty="0">
                <a:latin typeface="+mj-lt"/>
                <a:ea typeface="ＭＳ Ｐゴシック" pitchFamily="34" charset="-128"/>
                <a:cs typeface="Arial" charset="0"/>
              </a:rPr>
              <a:t>A hash function is not a trapdoor function because it is not reversible. Instead, it's called a one-way function. A one-way function is similar to a trapdoor function in that it's easy to compute both and it's very hard to reverse both, but there is no special key that allows you to reverse the one-way function.</a:t>
            </a:r>
          </a:p>
          <a:p>
            <a:pPr algn="just" eaLnBrk="1" hangingPunct="1">
              <a:buFont typeface="Arial" charset="0"/>
              <a:buNone/>
              <a:defRPr/>
            </a:pPr>
            <a:endParaRPr lang="en-US" sz="2600" dirty="0">
              <a:latin typeface="+mj-lt"/>
              <a:ea typeface="ＭＳ Ｐゴシック" pitchFamily="34" charset="-128"/>
              <a:cs typeface="Arial" charset="0"/>
            </a:endParaRPr>
          </a:p>
        </p:txBody>
      </p:sp>
      <p:sp>
        <p:nvSpPr>
          <p:cNvPr id="4" name="Slide Number Placeholder 3">
            <a:extLst>
              <a:ext uri="{FF2B5EF4-FFF2-40B4-BE49-F238E27FC236}">
                <a16:creationId xmlns:a16="http://schemas.microsoft.com/office/drawing/2014/main" id="{44D39F4E-A6CC-B84F-6030-27439C1AB1F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4280DA9E-B992-4F6C-B0C5-EB3EB7B2095A}" type="slidenum">
              <a:rPr lang="en-US" altLang="en-US">
                <a:solidFill>
                  <a:srgbClr val="898989"/>
                </a:solidFill>
              </a:rPr>
              <a:pPr eaLnBrk="1" hangingPunct="1"/>
              <a:t>63</a:t>
            </a:fld>
            <a:endParaRPr lang="en-US" altLang="en-US">
              <a:solidFill>
                <a:srgbClr val="898989"/>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12A29AE3-337F-8246-A0AF-6F2E77CC0D19}"/>
              </a:ext>
            </a:extLst>
          </p:cNvPr>
          <p:cNvSpPr>
            <a:spLocks noGrp="1"/>
          </p:cNvSpPr>
          <p:nvPr>
            <p:ph type="title"/>
          </p:nvPr>
        </p:nvSpPr>
        <p:spPr>
          <a:xfrm>
            <a:off x="457200" y="2590800"/>
            <a:ext cx="8229600" cy="1143000"/>
          </a:xfrm>
        </p:spPr>
        <p:txBody>
          <a:bodyPr/>
          <a:lstStyle/>
          <a:p>
            <a:r>
              <a:rPr lang="en-US" altLang="en-US"/>
              <a:t>Thank you</a:t>
            </a:r>
          </a:p>
        </p:txBody>
      </p:sp>
      <p:sp>
        <p:nvSpPr>
          <p:cNvPr id="4" name="Slide Number Placeholder 3">
            <a:extLst>
              <a:ext uri="{FF2B5EF4-FFF2-40B4-BE49-F238E27FC236}">
                <a16:creationId xmlns:a16="http://schemas.microsoft.com/office/drawing/2014/main" id="{90691ECD-2209-AA83-F82B-6343DC89557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28450BB-12F1-4CC2-8AE5-41ABD72C3D82}" type="slidenum">
              <a:rPr lang="en-US" altLang="en-US">
                <a:solidFill>
                  <a:srgbClr val="898989"/>
                </a:solidFill>
              </a:rPr>
              <a:pPr eaLnBrk="1" hangingPunct="1"/>
              <a:t>64</a:t>
            </a:fld>
            <a:endParaRPr lang="en-US" altLang="en-US">
              <a:solidFill>
                <a:srgbClr val="898989"/>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2658</TotalTime>
  <Words>4527</Words>
  <Application>Microsoft Office PowerPoint</Application>
  <PresentationFormat>On-screen Show (4:3)</PresentationFormat>
  <Paragraphs>459</Paragraphs>
  <Slides>64</Slides>
  <Notes>33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64</vt:i4>
      </vt:variant>
    </vt:vector>
  </HeadingPairs>
  <TitlesOfParts>
    <vt:vector size="70" baseType="lpstr">
      <vt:lpstr>Arial</vt:lpstr>
      <vt:lpstr>ＭＳ Ｐゴシック</vt:lpstr>
      <vt:lpstr>Calibri</vt:lpstr>
      <vt:lpstr>Courier New</vt:lpstr>
      <vt:lpstr>Wingdings</vt:lpstr>
      <vt:lpstr>Office Theme</vt:lpstr>
      <vt:lpstr>Database &amp; Storage Security</vt:lpstr>
      <vt:lpstr>Managing and Querying Encrypted Data</vt:lpstr>
      <vt:lpstr>Introduction</vt:lpstr>
      <vt:lpstr>Introduction</vt:lpstr>
      <vt:lpstr>Introduction</vt:lpstr>
      <vt:lpstr>Introduction</vt:lpstr>
      <vt:lpstr>Introduction</vt:lpstr>
      <vt:lpstr>Introduction</vt:lpstr>
      <vt:lpstr>Introduction</vt:lpstr>
      <vt:lpstr>Introduction</vt:lpstr>
      <vt:lpstr>Introduction</vt:lpstr>
      <vt:lpstr>Encrypted Data Management</vt:lpstr>
      <vt:lpstr>Encrypted Data Management</vt:lpstr>
      <vt:lpstr>Architecture of a typical DAS system: DAS  -  Storing and querying encrypted data</vt:lpstr>
      <vt:lpstr>Architecture of a typical DAS system: DAS  -  Storing and querying encrypted data</vt:lpstr>
      <vt:lpstr>DAS setup and security model</vt:lpstr>
      <vt:lpstr>DAS setup and security model</vt:lpstr>
      <vt:lpstr>Querying Encrypted Relational Data </vt:lpstr>
      <vt:lpstr>PowerPoint Presentation</vt:lpstr>
      <vt:lpstr>Querying Encrypted Relational Data </vt:lpstr>
      <vt:lpstr>Querying Encrypted Relational Data </vt:lpstr>
      <vt:lpstr>Querying Encrypted Relational Data </vt:lpstr>
      <vt:lpstr>Mechanism to Support the Operators</vt:lpstr>
      <vt:lpstr>Approaches based on new encryption techniques</vt:lpstr>
      <vt:lpstr>Information-hiding based Approaches</vt:lpstr>
      <vt:lpstr>Information-hiding based Approaches</vt:lpstr>
      <vt:lpstr>Difference between Disclosure Control method and Cryptographic approach</vt:lpstr>
      <vt:lpstr>Difference between Disclosure Control method and Cryptographic approach</vt:lpstr>
      <vt:lpstr>Query Processing Architecture for DAS</vt:lpstr>
      <vt:lpstr>PowerPoint Presentation</vt:lpstr>
      <vt:lpstr>Query Processing Architecture for DAS</vt:lpstr>
      <vt:lpstr>Query Processing Architecture for DAS</vt:lpstr>
      <vt:lpstr>Relational Encryption and Storage Model</vt:lpstr>
      <vt:lpstr>Relational Encryption and Storage Model</vt:lpstr>
      <vt:lpstr>Relational Encryption and Storage Model</vt:lpstr>
      <vt:lpstr>Relational Encryption and Storage Model</vt:lpstr>
      <vt:lpstr>Relational Encryption and Storage Model</vt:lpstr>
      <vt:lpstr>Relational Encryption and Storage Model</vt:lpstr>
      <vt:lpstr>Relational Encryption and Storage Model</vt:lpstr>
      <vt:lpstr>Relational Encryption and Storage Model</vt:lpstr>
      <vt:lpstr>Relational Encryption and Storage Model</vt:lpstr>
      <vt:lpstr>Relational Encryption and Storage Model</vt:lpstr>
      <vt:lpstr>Relational Encryption and Storage Model</vt:lpstr>
      <vt:lpstr>Relational Encryption and Storage Model</vt:lpstr>
      <vt:lpstr>Translating Relational Operator</vt:lpstr>
      <vt:lpstr>Translating Relational Operator</vt:lpstr>
      <vt:lpstr>Translating Relational Operator</vt:lpstr>
      <vt:lpstr>PowerPoint Presentation</vt:lpstr>
      <vt:lpstr>Query Execution</vt:lpstr>
      <vt:lpstr>Query Execution</vt:lpstr>
      <vt:lpstr>Query Execution</vt:lpstr>
      <vt:lpstr>Query Execution</vt:lpstr>
      <vt:lpstr>PowerPoint Presentation</vt:lpstr>
      <vt:lpstr>PowerPoint Presentation</vt:lpstr>
      <vt:lpstr>Supporting Aggregation Operators in Queries</vt:lpstr>
      <vt:lpstr>Supporting Aggregation Operators in Queries</vt:lpstr>
      <vt:lpstr>Query Optimization in DAS</vt:lpstr>
      <vt:lpstr>Keyword search on encrypted text data</vt:lpstr>
      <vt:lpstr>Keyword search on encrypted text data</vt:lpstr>
      <vt:lpstr>Private Key based search scheme on encrypted text data</vt:lpstr>
      <vt:lpstr>Private Key based search scheme on encrypted text data</vt:lpstr>
      <vt:lpstr>Trapdoor Function</vt:lpstr>
      <vt:lpstr>Trapdoor Function</vt:lpstr>
      <vt:lpstr>Thank you</vt:lpstr>
    </vt:vector>
  </TitlesOfParts>
  <Company>http://www.itfriend.org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Managing and querying encrypted data</dc:title>
  <dc:creator>Trần Mỹ Giao</dc:creator>
  <cp:lastModifiedBy>User</cp:lastModifiedBy>
  <cp:revision>310</cp:revision>
  <dcterms:created xsi:type="dcterms:W3CDTF">2010-11-30T17:11:12Z</dcterms:created>
  <dcterms:modified xsi:type="dcterms:W3CDTF">2025-11-11T14:43:58Z</dcterms:modified>
</cp:coreProperties>
</file>